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1"/>
  </p:notesMasterIdLst>
  <p:sldIdLst>
    <p:sldId id="278" r:id="rId2"/>
    <p:sldId id="281" r:id="rId3"/>
    <p:sldId id="282" r:id="rId4"/>
    <p:sldId id="283" r:id="rId5"/>
    <p:sldId id="286" r:id="rId6"/>
    <p:sldId id="256" r:id="rId7"/>
    <p:sldId id="257" r:id="rId8"/>
    <p:sldId id="258" r:id="rId9"/>
    <p:sldId id="259" r:id="rId10"/>
    <p:sldId id="260" r:id="rId11"/>
    <p:sldId id="261" r:id="rId12"/>
    <p:sldId id="262" r:id="rId13"/>
    <p:sldId id="279" r:id="rId14"/>
    <p:sldId id="263" r:id="rId15"/>
    <p:sldId id="264" r:id="rId16"/>
    <p:sldId id="265" r:id="rId17"/>
    <p:sldId id="267" r:id="rId18"/>
    <p:sldId id="268" r:id="rId19"/>
    <p:sldId id="270" r:id="rId20"/>
    <p:sldId id="271" r:id="rId21"/>
    <p:sldId id="277" r:id="rId22"/>
    <p:sldId id="284" r:id="rId23"/>
    <p:sldId id="269" r:id="rId24"/>
    <p:sldId id="272" r:id="rId25"/>
    <p:sldId id="273" r:id="rId26"/>
    <p:sldId id="275" r:id="rId27"/>
    <p:sldId id="274" r:id="rId28"/>
    <p:sldId id="276" r:id="rId29"/>
    <p:sldId id="287" r:id="rId30"/>
  </p:sldIdLst>
  <p:sldSz cx="12192000" cy="6858000"/>
  <p:notesSz cx="6889750" cy="10018713"/>
  <p:defaultTextStyle>
    <a:defPPr>
      <a:defRPr lang="it-I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00" autoAdjust="0"/>
    <p:restoredTop sz="94660"/>
  </p:normalViewPr>
  <p:slideViewPr>
    <p:cSldViewPr snapToGrid="0">
      <p:cViewPr varScale="1">
        <p:scale>
          <a:sx n="73" d="100"/>
          <a:sy n="73" d="100"/>
        </p:scale>
        <p:origin x="618" y="66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ntestazion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86088" cy="50165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it-IT"/>
          </a:p>
        </p:txBody>
      </p:sp>
      <p:sp>
        <p:nvSpPr>
          <p:cNvPr id="3" name="Segnaposto data 2"/>
          <p:cNvSpPr>
            <a:spLocks noGrp="1"/>
          </p:cNvSpPr>
          <p:nvPr>
            <p:ph type="dt" idx="1"/>
          </p:nvPr>
        </p:nvSpPr>
        <p:spPr>
          <a:xfrm>
            <a:off x="3902075" y="0"/>
            <a:ext cx="2986088" cy="50165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0B29EA9-379B-4C43-8CBA-D7B43C51215C}" type="datetimeFigureOut">
              <a:rPr lang="it-IT" smtClean="0"/>
              <a:pPr/>
              <a:t>10/06/2020</a:t>
            </a:fld>
            <a:endParaRPr lang="it-IT"/>
          </a:p>
        </p:txBody>
      </p:sp>
      <p:sp>
        <p:nvSpPr>
          <p:cNvPr id="4" name="Segnaposto immagin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439738" y="1252538"/>
            <a:ext cx="6010275" cy="33813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it-IT"/>
          </a:p>
        </p:txBody>
      </p:sp>
      <p:sp>
        <p:nvSpPr>
          <p:cNvPr id="5" name="Segnaposto note 4"/>
          <p:cNvSpPr>
            <a:spLocks noGrp="1"/>
          </p:cNvSpPr>
          <p:nvPr>
            <p:ph type="body" sz="quarter" idx="3"/>
          </p:nvPr>
        </p:nvSpPr>
        <p:spPr>
          <a:xfrm>
            <a:off x="688975" y="4821238"/>
            <a:ext cx="5511800" cy="3944937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6" name="Segnaposto piè di pagina 5"/>
          <p:cNvSpPr>
            <a:spLocks noGrp="1"/>
          </p:cNvSpPr>
          <p:nvPr>
            <p:ph type="ftr" sz="quarter" idx="4"/>
          </p:nvPr>
        </p:nvSpPr>
        <p:spPr>
          <a:xfrm>
            <a:off x="0" y="9517063"/>
            <a:ext cx="2986088" cy="50165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it-IT"/>
          </a:p>
        </p:txBody>
      </p:sp>
      <p:sp>
        <p:nvSpPr>
          <p:cNvPr id="7" name="Segnaposto numero diapositiva 6"/>
          <p:cNvSpPr>
            <a:spLocks noGrp="1"/>
          </p:cNvSpPr>
          <p:nvPr>
            <p:ph type="sldNum" sz="quarter" idx="5"/>
          </p:nvPr>
        </p:nvSpPr>
        <p:spPr>
          <a:xfrm>
            <a:off x="3902075" y="9517063"/>
            <a:ext cx="2986088" cy="50165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C5B61DA-9A73-4587-A3D0-47A34CDF6F02}" type="slidenum">
              <a:rPr lang="it-IT" smtClean="0"/>
              <a:pPr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05182707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1EF704FF-1F93-4E55-B9BD-838BADED71B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ottotitolo 2">
            <a:extLst>
              <a:ext uri="{FF2B5EF4-FFF2-40B4-BE49-F238E27FC236}">
                <a16:creationId xmlns:a16="http://schemas.microsoft.com/office/drawing/2014/main" id="{3EC54A66-5D3A-41D2-99F0-436E01A6A0D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it-IT"/>
              <a:t>Fare clic per modificare lo stile del sottotitolo dello schema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46A84BA8-FD07-4AC2-8CA7-2092D52396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6B375A-766E-42BD-8FAB-99208F9702E8}" type="datetimeFigureOut">
              <a:rPr lang="it-IT" smtClean="0"/>
              <a:pPr/>
              <a:t>10/06/2020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18616E77-5CEF-4780-92ED-1FEFF0F0BF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9E1C55F8-460F-4A05-B87C-E3A8A6A508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0553B6-A7D6-4306-94C3-E05BECF1576E}" type="slidenum">
              <a:rPr lang="it-IT" smtClean="0"/>
              <a:pPr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28487050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olo e contenu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14FEBC6D-E880-4F51-91F2-9CEA31EFED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18EB9628-AA78-4DBC-B6F0-E1BF564F011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84F94673-44A3-4666-B6E5-395F7C3500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6B375A-766E-42BD-8FAB-99208F9702E8}" type="datetimeFigureOut">
              <a:rPr lang="it-IT" smtClean="0"/>
              <a:pPr/>
              <a:t>10/06/2020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34A889C3-AF82-4C42-A43D-DA8F3AF40B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4468FA47-915F-4977-ABDA-9447FFD0D3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0553B6-A7D6-4306-94C3-E05BECF1576E}" type="slidenum">
              <a:rPr lang="it-IT" smtClean="0"/>
              <a:pPr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0878043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Intestazione sezio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1D0188FE-D59E-4349-BA06-9862C017D0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31D31D04-FA3A-4A1E-AB22-20D3C1DB6C9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3A736E30-B24A-4510-9157-0A8774D012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6B375A-766E-42BD-8FAB-99208F9702E8}" type="datetimeFigureOut">
              <a:rPr lang="it-IT" smtClean="0"/>
              <a:pPr/>
              <a:t>10/06/2020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C1CB218F-F99B-45B1-925F-A947097354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42602D6A-7243-4B72-96D5-FB0F794082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0553B6-A7D6-4306-94C3-E05BECF1576E}" type="slidenum">
              <a:rPr lang="it-IT" smtClean="0"/>
              <a:pPr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54633310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e contenut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DDDEFA28-F52E-4AD1-B8BE-DD0C2DBE50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DC8CB78A-EF27-4C7F-99F8-14D971CAF6D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contenuto 3">
            <a:extLst>
              <a:ext uri="{FF2B5EF4-FFF2-40B4-BE49-F238E27FC236}">
                <a16:creationId xmlns:a16="http://schemas.microsoft.com/office/drawing/2014/main" id="{AF534EAD-FB7B-4FDF-80FD-4670AFA222E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502C0218-CA55-4A22-B876-018BB18345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6B375A-766E-42BD-8FAB-99208F9702E8}" type="datetimeFigureOut">
              <a:rPr lang="it-IT" smtClean="0"/>
              <a:pPr/>
              <a:t>10/06/2020</a:t>
            </a:fld>
            <a:endParaRPr lang="it-IT"/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8129E168-95F2-4688-ACD5-B0AD55171C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egnaposto numero diapositiva 6">
            <a:extLst>
              <a:ext uri="{FF2B5EF4-FFF2-40B4-BE49-F238E27FC236}">
                <a16:creationId xmlns:a16="http://schemas.microsoft.com/office/drawing/2014/main" id="{D6861D3E-A445-4767-A903-17C5D4E161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0553B6-A7D6-4306-94C3-E05BECF1576E}" type="slidenum">
              <a:rPr lang="it-IT" smtClean="0"/>
              <a:pPr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33137582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nfron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7F27C005-325C-406A-B2A9-F01D885B93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79AAC7A1-20A2-4F0B-8B44-A750D3E8A2F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4" name="Segnaposto contenuto 3">
            <a:extLst>
              <a:ext uri="{FF2B5EF4-FFF2-40B4-BE49-F238E27FC236}">
                <a16:creationId xmlns:a16="http://schemas.microsoft.com/office/drawing/2014/main" id="{BF21197B-7A90-4AD5-AF8F-4F1BDE8D167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5" name="Segnaposto testo 4">
            <a:extLst>
              <a:ext uri="{FF2B5EF4-FFF2-40B4-BE49-F238E27FC236}">
                <a16:creationId xmlns:a16="http://schemas.microsoft.com/office/drawing/2014/main" id="{92377D59-1F3C-484E-A20B-EE6C2F3A292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6" name="Segnaposto contenuto 5">
            <a:extLst>
              <a:ext uri="{FF2B5EF4-FFF2-40B4-BE49-F238E27FC236}">
                <a16:creationId xmlns:a16="http://schemas.microsoft.com/office/drawing/2014/main" id="{F3073C21-5489-4566-8FBF-D4ADB0AA511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7" name="Segnaposto data 6">
            <a:extLst>
              <a:ext uri="{FF2B5EF4-FFF2-40B4-BE49-F238E27FC236}">
                <a16:creationId xmlns:a16="http://schemas.microsoft.com/office/drawing/2014/main" id="{D47A8D3B-31A1-4F26-BB43-61ED8C68A7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6B375A-766E-42BD-8FAB-99208F9702E8}" type="datetimeFigureOut">
              <a:rPr lang="it-IT" smtClean="0"/>
              <a:pPr/>
              <a:t>10/06/2020</a:t>
            </a:fld>
            <a:endParaRPr lang="it-IT"/>
          </a:p>
        </p:txBody>
      </p:sp>
      <p:sp>
        <p:nvSpPr>
          <p:cNvPr id="8" name="Segnaposto piè di pagina 7">
            <a:extLst>
              <a:ext uri="{FF2B5EF4-FFF2-40B4-BE49-F238E27FC236}">
                <a16:creationId xmlns:a16="http://schemas.microsoft.com/office/drawing/2014/main" id="{9ACFE278-FDDA-424A-B183-1E076DC186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9" name="Segnaposto numero diapositiva 8">
            <a:extLst>
              <a:ext uri="{FF2B5EF4-FFF2-40B4-BE49-F238E27FC236}">
                <a16:creationId xmlns:a16="http://schemas.microsoft.com/office/drawing/2014/main" id="{30F99BB9-9D58-4494-AF0F-E7CAD45EC0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0553B6-A7D6-4306-94C3-E05BECF1576E}" type="slidenum">
              <a:rPr lang="it-IT" smtClean="0"/>
              <a:pPr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5733937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941F5D90-801C-42B1-8C08-DA5CC8ED63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data 2">
            <a:extLst>
              <a:ext uri="{FF2B5EF4-FFF2-40B4-BE49-F238E27FC236}">
                <a16:creationId xmlns:a16="http://schemas.microsoft.com/office/drawing/2014/main" id="{D4F2ED0D-2C78-4EB1-82C8-951ADD6A00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6B375A-766E-42BD-8FAB-99208F9702E8}" type="datetimeFigureOut">
              <a:rPr lang="it-IT" smtClean="0"/>
              <a:pPr/>
              <a:t>10/06/2020</a:t>
            </a:fld>
            <a:endParaRPr lang="it-IT"/>
          </a:p>
        </p:txBody>
      </p:sp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DBD9915D-CDEA-4078-B526-43AD019884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5" name="Segnaposto numero diapositiva 4">
            <a:extLst>
              <a:ext uri="{FF2B5EF4-FFF2-40B4-BE49-F238E27FC236}">
                <a16:creationId xmlns:a16="http://schemas.microsoft.com/office/drawing/2014/main" id="{1FF0F78F-DD36-47C6-ABD8-6463A93F37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0553B6-A7D6-4306-94C3-E05BECF1576E}" type="slidenum">
              <a:rPr lang="it-IT" smtClean="0"/>
              <a:pPr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46078698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uot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data 1">
            <a:extLst>
              <a:ext uri="{FF2B5EF4-FFF2-40B4-BE49-F238E27FC236}">
                <a16:creationId xmlns:a16="http://schemas.microsoft.com/office/drawing/2014/main" id="{69FBAB1A-721C-429B-A53A-834194D0A6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6B375A-766E-42BD-8FAB-99208F9702E8}" type="datetimeFigureOut">
              <a:rPr lang="it-IT" smtClean="0"/>
              <a:pPr/>
              <a:t>10/06/2020</a:t>
            </a:fld>
            <a:endParaRPr lang="it-IT"/>
          </a:p>
        </p:txBody>
      </p:sp>
      <p:sp>
        <p:nvSpPr>
          <p:cNvPr id="3" name="Segnaposto piè di pagina 2">
            <a:extLst>
              <a:ext uri="{FF2B5EF4-FFF2-40B4-BE49-F238E27FC236}">
                <a16:creationId xmlns:a16="http://schemas.microsoft.com/office/drawing/2014/main" id="{F2CC38F1-FB32-4074-8DCA-CDDD42D309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08AD811C-4523-4FA6-83FD-CEBC249A19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0553B6-A7D6-4306-94C3-E05BECF1576E}" type="slidenum">
              <a:rPr lang="it-IT" smtClean="0"/>
              <a:pPr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60332404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to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73784EFD-82A6-4D74-8BEC-EEFE7900C0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4627C4C5-91E7-4412-A948-46226EC3536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testo 3">
            <a:extLst>
              <a:ext uri="{FF2B5EF4-FFF2-40B4-BE49-F238E27FC236}">
                <a16:creationId xmlns:a16="http://schemas.microsoft.com/office/drawing/2014/main" id="{9C8B9B73-0551-490E-8E84-F6B2EF810A6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2D33EE0A-A4AF-47E7-A560-E1D430A947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6B375A-766E-42BD-8FAB-99208F9702E8}" type="datetimeFigureOut">
              <a:rPr lang="it-IT" smtClean="0"/>
              <a:pPr/>
              <a:t>10/06/2020</a:t>
            </a:fld>
            <a:endParaRPr lang="it-IT"/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F184CEA5-EC54-4F15-863A-05CD461E5B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egnaposto numero diapositiva 6">
            <a:extLst>
              <a:ext uri="{FF2B5EF4-FFF2-40B4-BE49-F238E27FC236}">
                <a16:creationId xmlns:a16="http://schemas.microsoft.com/office/drawing/2014/main" id="{DE906407-C72C-41FC-BEBB-8C41DAC26F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0553B6-A7D6-4306-94C3-E05BECF1576E}" type="slidenum">
              <a:rPr lang="it-IT" smtClean="0"/>
              <a:pPr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2349062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magine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D0D2A39C-B110-4F79-8C42-599CDEDAC2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immagine 2">
            <a:extLst>
              <a:ext uri="{FF2B5EF4-FFF2-40B4-BE49-F238E27FC236}">
                <a16:creationId xmlns:a16="http://schemas.microsoft.com/office/drawing/2014/main" id="{04DB287D-97D6-4762-B5EC-C41E766A0D6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it-IT"/>
          </a:p>
        </p:txBody>
      </p:sp>
      <p:sp>
        <p:nvSpPr>
          <p:cNvPr id="4" name="Segnaposto testo 3">
            <a:extLst>
              <a:ext uri="{FF2B5EF4-FFF2-40B4-BE49-F238E27FC236}">
                <a16:creationId xmlns:a16="http://schemas.microsoft.com/office/drawing/2014/main" id="{D72C3017-155E-472A-8D9D-602C37DE7A1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29CC02E0-B186-4ACE-93F7-DFD12C5A4A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6B375A-766E-42BD-8FAB-99208F9702E8}" type="datetimeFigureOut">
              <a:rPr lang="it-IT" smtClean="0"/>
              <a:pPr/>
              <a:t>10/06/2020</a:t>
            </a:fld>
            <a:endParaRPr lang="it-IT"/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ABB4AA57-4984-4EC9-9DBB-D1FFED324E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egnaposto numero diapositiva 6">
            <a:extLst>
              <a:ext uri="{FF2B5EF4-FFF2-40B4-BE49-F238E27FC236}">
                <a16:creationId xmlns:a16="http://schemas.microsoft.com/office/drawing/2014/main" id="{2AF38512-535C-48D8-8F03-888AB6B6FB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0553B6-A7D6-4306-94C3-E05BECF1576E}" type="slidenum">
              <a:rPr lang="it-IT" smtClean="0"/>
              <a:pPr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93769843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5508CC59-24A5-491C-886B-D39070C189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verticale 2">
            <a:extLst>
              <a:ext uri="{FF2B5EF4-FFF2-40B4-BE49-F238E27FC236}">
                <a16:creationId xmlns:a16="http://schemas.microsoft.com/office/drawing/2014/main" id="{34EBE0EA-66DD-4E41-A307-231A150FD13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5EF95790-0211-4362-947B-A00EE11110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6B375A-766E-42BD-8FAB-99208F9702E8}" type="datetimeFigureOut">
              <a:rPr lang="it-IT" smtClean="0"/>
              <a:pPr/>
              <a:t>10/06/2020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E8ABF115-DC80-4D51-831B-AB9E67A28B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6BDB8B2A-A2EF-457D-9E73-56B3FC5238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0553B6-A7D6-4306-94C3-E05BECF1576E}" type="slidenum">
              <a:rPr lang="it-IT" smtClean="0"/>
              <a:pPr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13532327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1_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verticale 1">
            <a:extLst>
              <a:ext uri="{FF2B5EF4-FFF2-40B4-BE49-F238E27FC236}">
                <a16:creationId xmlns:a16="http://schemas.microsoft.com/office/drawing/2014/main" id="{5E8194D9-F794-4FA9-BF26-FB8B54CB660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verticale 2">
            <a:extLst>
              <a:ext uri="{FF2B5EF4-FFF2-40B4-BE49-F238E27FC236}">
                <a16:creationId xmlns:a16="http://schemas.microsoft.com/office/drawing/2014/main" id="{3FDC5D64-D895-457C-AFBE-5F669813D6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B4A754F8-91E2-40D4-A6C0-B6D07E4C05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6B375A-766E-42BD-8FAB-99208F9702E8}" type="datetimeFigureOut">
              <a:rPr lang="it-IT" smtClean="0"/>
              <a:pPr/>
              <a:t>10/06/2020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5AB420E7-2411-4AD3-9233-17705D297E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ADB5C5F0-A15A-4F92-A65C-A2D91E8639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0553B6-A7D6-4306-94C3-E05BECF1576E}" type="slidenum">
              <a:rPr lang="it-IT" smtClean="0"/>
              <a:pPr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57492135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titolo 1">
            <a:extLst>
              <a:ext uri="{FF2B5EF4-FFF2-40B4-BE49-F238E27FC236}">
                <a16:creationId xmlns:a16="http://schemas.microsoft.com/office/drawing/2014/main" id="{F3407698-C2AD-41A5-B3AB-4C14458B2D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F5841550-8833-45B4-A1BC-D2CACD88F5C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05574AC5-4D1E-4D0B-AD34-320B29CE8D2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D6B375A-766E-42BD-8FAB-99208F9702E8}" type="datetimeFigureOut">
              <a:rPr lang="it-IT" smtClean="0"/>
              <a:pPr/>
              <a:t>10/06/2020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4017DCF2-CFFF-4019-8430-9B884724EC9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452DA484-AAE4-4540-A4E3-1A6F4C261D1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E0553B6-A7D6-4306-94C3-E05BECF1576E}" type="slidenum">
              <a:rPr lang="it-IT" smtClean="0"/>
              <a:pPr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99353295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it-I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hyperlink" Target="http://www.easycutnesting.it/" TargetMode="Externa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6.png"/><Relationship Id="rId4" Type="http://schemas.openxmlformats.org/officeDocument/2006/relationships/hyperlink" Target="http://www.easycutnesting.it/" TargetMode="Externa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5.png"/><Relationship Id="rId4" Type="http://schemas.openxmlformats.org/officeDocument/2006/relationships/image" Target="../media/image17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7" Type="http://schemas.openxmlformats.org/officeDocument/2006/relationships/image" Target="../media/image15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1.png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2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5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6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7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9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0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3.png"/><Relationship Id="rId4" Type="http://schemas.openxmlformats.org/officeDocument/2006/relationships/image" Target="../media/image32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6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7.png"/><Relationship Id="rId4" Type="http://schemas.openxmlformats.org/officeDocument/2006/relationships/image" Target="../media/image36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2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4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5.png"/><Relationship Id="rId4" Type="http://schemas.openxmlformats.org/officeDocument/2006/relationships/image" Target="../media/image44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6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0.png"/><Relationship Id="rId5" Type="http://schemas.openxmlformats.org/officeDocument/2006/relationships/image" Target="../media/image49.png"/><Relationship Id="rId4" Type="http://schemas.openxmlformats.org/officeDocument/2006/relationships/image" Target="../media/image48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bg1">
                <a:lumMod val="50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Elemento grafico 4">
            <a:extLst>
              <a:ext uri="{FF2B5EF4-FFF2-40B4-BE49-F238E27FC236}">
                <a16:creationId xmlns:a16="http://schemas.microsoft.com/office/drawing/2014/main" id="{B6B5F39B-DF68-444E-955D-D3E41CDD9462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2219718"/>
            <a:ext cx="12192000" cy="2418563"/>
          </a:xfrm>
          <a:prstGeom prst="rect">
            <a:avLst/>
          </a:prstGeom>
        </p:spPr>
      </p:pic>
      <p:sp>
        <p:nvSpPr>
          <p:cNvPr id="2" name="CasellaDiTesto 1">
            <a:extLst>
              <a:ext uri="{FF2B5EF4-FFF2-40B4-BE49-F238E27FC236}">
                <a16:creationId xmlns:a16="http://schemas.microsoft.com/office/drawing/2014/main" id="{E3E4AD97-A7F9-4E84-8C5A-16741B39101D}"/>
              </a:ext>
            </a:extLst>
          </p:cNvPr>
          <p:cNvSpPr txBox="1"/>
          <p:nvPr/>
        </p:nvSpPr>
        <p:spPr>
          <a:xfrm>
            <a:off x="4110445" y="4885509"/>
            <a:ext cx="372726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dirty="0"/>
              <a:t>SOFTWARE PER IL NESTING LAMIERE</a:t>
            </a:r>
          </a:p>
          <a:p>
            <a:pPr algn="ctr"/>
            <a:r>
              <a:rPr lang="it-IT" dirty="0">
                <a:hlinkClick r:id="rId4"/>
              </a:rPr>
              <a:t>www.easycutnesting.it</a:t>
            </a:r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39822103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bg1">
                <a:lumMod val="50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Elemento grafico 4">
            <a:extLst>
              <a:ext uri="{FF2B5EF4-FFF2-40B4-BE49-F238E27FC236}">
                <a16:creationId xmlns:a16="http://schemas.microsoft.com/office/drawing/2014/main" id="{B6B5F39B-DF68-444E-955D-D3E41CDD9462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4502" y="103535"/>
            <a:ext cx="3962400" cy="786033"/>
          </a:xfrm>
          <a:prstGeom prst="rect">
            <a:avLst/>
          </a:prstGeom>
        </p:spPr>
      </p:pic>
      <p:sp>
        <p:nvSpPr>
          <p:cNvPr id="2" name="CasellaDiTesto 1">
            <a:extLst>
              <a:ext uri="{FF2B5EF4-FFF2-40B4-BE49-F238E27FC236}">
                <a16:creationId xmlns:a16="http://schemas.microsoft.com/office/drawing/2014/main" id="{E3E4AD97-A7F9-4E84-8C5A-16741B39101D}"/>
              </a:ext>
            </a:extLst>
          </p:cNvPr>
          <p:cNvSpPr txBox="1"/>
          <p:nvPr/>
        </p:nvSpPr>
        <p:spPr>
          <a:xfrm>
            <a:off x="4066902" y="265718"/>
            <a:ext cx="659674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2400" b="1" dirty="0"/>
              <a:t>Programma per l’ottimizzazione di taglio lamiere</a:t>
            </a:r>
            <a:endParaRPr lang="it-IT" sz="2400" dirty="0"/>
          </a:p>
        </p:txBody>
      </p:sp>
      <p:sp>
        <p:nvSpPr>
          <p:cNvPr id="6" name="CasellaDiTesto 5">
            <a:extLst>
              <a:ext uri="{FF2B5EF4-FFF2-40B4-BE49-F238E27FC236}">
                <a16:creationId xmlns:a16="http://schemas.microsoft.com/office/drawing/2014/main" id="{73298F29-8084-4DA6-8CB9-C080AC3191EC}"/>
              </a:ext>
            </a:extLst>
          </p:cNvPr>
          <p:cNvSpPr txBox="1"/>
          <p:nvPr/>
        </p:nvSpPr>
        <p:spPr>
          <a:xfrm>
            <a:off x="452847" y="1715483"/>
            <a:ext cx="5072743" cy="42473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b="1" dirty="0"/>
              <a:t>Facilità</a:t>
            </a:r>
          </a:p>
          <a:p>
            <a:pPr algn="just"/>
            <a:r>
              <a:rPr lang="it-IT" dirty="0"/>
              <a:t>Il software </a:t>
            </a:r>
            <a:r>
              <a:rPr lang="it-IT" dirty="0" err="1"/>
              <a:t>EASYCut</a:t>
            </a:r>
            <a:r>
              <a:rPr lang="it-IT" dirty="0"/>
              <a:t> consente in maniera automatica e veloce l’utilizzo ottimale dei fogli di lamiera di grande o piccolo formato.</a:t>
            </a:r>
          </a:p>
          <a:p>
            <a:pPr algn="just"/>
            <a:r>
              <a:rPr lang="it-IT" dirty="0"/>
              <a:t>Il suo algoritmi permette un risparmio significativo del materiale usato. Dopo aver definito lo stock delle lamiere, le sagome da ottimizzare, la direzione del </a:t>
            </a:r>
            <a:r>
              <a:rPr lang="it-IT" dirty="0" err="1"/>
              <a:t>nesting</a:t>
            </a:r>
            <a:r>
              <a:rPr lang="it-IT" dirty="0"/>
              <a:t>, la distanza tra le sagome e l’angolo di rotazione ammesso, la funzione di </a:t>
            </a:r>
            <a:r>
              <a:rPr lang="it-IT" dirty="0" err="1"/>
              <a:t>Nesting</a:t>
            </a:r>
            <a:r>
              <a:rPr lang="it-IT" dirty="0"/>
              <a:t> ritorna il posizionamento ottimizzato delle sagome sulle lamiere scelte. La procedura al termine dell’esecuzione evidenzierà eventuali incongruenze o superamenti di limiti riscontrati durante il calcolo del </a:t>
            </a:r>
            <a:r>
              <a:rPr lang="it-IT" dirty="0" err="1"/>
              <a:t>nesting</a:t>
            </a:r>
            <a:r>
              <a:rPr lang="it-IT" dirty="0"/>
              <a:t>. Il formato del file di disegno può essere di tipo DWG, DXF.</a:t>
            </a:r>
          </a:p>
        </p:txBody>
      </p:sp>
      <p:sp>
        <p:nvSpPr>
          <p:cNvPr id="7" name="CasellaDiTesto 6">
            <a:extLst>
              <a:ext uri="{FF2B5EF4-FFF2-40B4-BE49-F238E27FC236}">
                <a16:creationId xmlns:a16="http://schemas.microsoft.com/office/drawing/2014/main" id="{E8CDBA35-7231-4A03-A410-B7B613AACD24}"/>
              </a:ext>
            </a:extLst>
          </p:cNvPr>
          <p:cNvSpPr txBox="1"/>
          <p:nvPr/>
        </p:nvSpPr>
        <p:spPr>
          <a:xfrm>
            <a:off x="6274527" y="1715483"/>
            <a:ext cx="5072743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b="1" dirty="0"/>
              <a:t>Libertà</a:t>
            </a:r>
          </a:p>
          <a:p>
            <a:r>
              <a:rPr lang="it-IT" dirty="0"/>
              <a:t>Al termine dell’elaborazione automatica è possibile comunque eseguire interventi manuali di modifica al risultato del </a:t>
            </a:r>
            <a:r>
              <a:rPr lang="it-IT" dirty="0" err="1"/>
              <a:t>nesting</a:t>
            </a:r>
            <a:r>
              <a:rPr lang="it-IT" dirty="0"/>
              <a:t> spostando, ruotando, ecc. una o più sagome con i comandi di Autocad.</a:t>
            </a:r>
          </a:p>
          <a:p>
            <a:r>
              <a:rPr lang="it-IT" dirty="0"/>
              <a:t>Le sagome di taglio possono essere caricate da file esterni (</a:t>
            </a:r>
            <a:r>
              <a:rPr lang="it-IT" dirty="0" err="1"/>
              <a:t>Dstv</a:t>
            </a:r>
            <a:r>
              <a:rPr lang="it-IT" dirty="0"/>
              <a:t>, </a:t>
            </a:r>
            <a:r>
              <a:rPr lang="it-IT" dirty="0" err="1"/>
              <a:t>Dxf</a:t>
            </a:r>
            <a:r>
              <a:rPr lang="it-IT" dirty="0"/>
              <a:t>, </a:t>
            </a:r>
            <a:r>
              <a:rPr lang="it-IT" dirty="0" err="1"/>
              <a:t>Dwg</a:t>
            </a:r>
            <a:r>
              <a:rPr lang="it-IT" dirty="0"/>
              <a:t>) o direttamente create in ambiente Autocad.</a:t>
            </a:r>
          </a:p>
        </p:txBody>
      </p:sp>
    </p:spTree>
    <p:extLst>
      <p:ext uri="{BB962C8B-B14F-4D97-AF65-F5344CB8AC3E}">
        <p14:creationId xmlns:p14="http://schemas.microsoft.com/office/powerpoint/2010/main" val="400229343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bg1">
                <a:lumMod val="50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Elemento grafico 4">
            <a:extLst>
              <a:ext uri="{FF2B5EF4-FFF2-40B4-BE49-F238E27FC236}">
                <a16:creationId xmlns:a16="http://schemas.microsoft.com/office/drawing/2014/main" id="{B6B5F39B-DF68-444E-955D-D3E41CDD9462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4502" y="103535"/>
            <a:ext cx="3962400" cy="786033"/>
          </a:xfrm>
          <a:prstGeom prst="rect">
            <a:avLst/>
          </a:prstGeom>
        </p:spPr>
      </p:pic>
      <p:sp>
        <p:nvSpPr>
          <p:cNvPr id="6" name="CasellaDiTesto 5">
            <a:extLst>
              <a:ext uri="{FF2B5EF4-FFF2-40B4-BE49-F238E27FC236}">
                <a16:creationId xmlns:a16="http://schemas.microsoft.com/office/drawing/2014/main" id="{73298F29-8084-4DA6-8CB9-C080AC3191EC}"/>
              </a:ext>
            </a:extLst>
          </p:cNvPr>
          <p:cNvSpPr txBox="1"/>
          <p:nvPr/>
        </p:nvSpPr>
        <p:spPr>
          <a:xfrm>
            <a:off x="413658" y="1715483"/>
            <a:ext cx="5072743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b="1" dirty="0"/>
              <a:t>Smart</a:t>
            </a:r>
          </a:p>
          <a:p>
            <a:r>
              <a:rPr lang="it-IT" dirty="0"/>
              <a:t>Per mezzo della procedura di riconoscimento del contorno, viene definito lo spessore, il senso di percorrenza e la compensazione di taglio, oltre alla commessa, fase e nome della sagoma.</a:t>
            </a:r>
          </a:p>
          <a:p>
            <a:r>
              <a:rPr lang="it-IT" dirty="0"/>
              <a:t>Il software dispone di un potente editing dinamico della sagoma, in qualsiasi momento possono essere modificati gli attributi le caratteristiche del contorno. Altra importante caratteristica è la verifica della sovrapposizione degli spigoli della sagoma. Il software dispone di un modulo di reportistica e schedulazione con codice a barre sviluppato in HTML adatto all’utilizzo a bordo macchina per il carico e scarico lavoro.</a:t>
            </a:r>
          </a:p>
        </p:txBody>
      </p:sp>
      <p:sp>
        <p:nvSpPr>
          <p:cNvPr id="8" name="CasellaDiTesto 7">
            <a:extLst>
              <a:ext uri="{FF2B5EF4-FFF2-40B4-BE49-F238E27FC236}">
                <a16:creationId xmlns:a16="http://schemas.microsoft.com/office/drawing/2014/main" id="{A816FCAF-7259-46D0-BBC3-D4CEC7386E53}"/>
              </a:ext>
            </a:extLst>
          </p:cNvPr>
          <p:cNvSpPr txBox="1"/>
          <p:nvPr/>
        </p:nvSpPr>
        <p:spPr>
          <a:xfrm>
            <a:off x="5994960" y="1723298"/>
            <a:ext cx="5072743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b="1" dirty="0"/>
              <a:t>Grafica</a:t>
            </a:r>
          </a:p>
          <a:p>
            <a:r>
              <a:rPr lang="it-IT" dirty="0"/>
              <a:t>Sviluppata sul motore grafico Autocad, produce </a:t>
            </a:r>
            <a:r>
              <a:rPr lang="it-IT" dirty="0" err="1"/>
              <a:t>Dwg</a:t>
            </a:r>
            <a:r>
              <a:rPr lang="it-IT" dirty="0"/>
              <a:t> nativi.</a:t>
            </a:r>
          </a:p>
          <a:p>
            <a:r>
              <a:rPr lang="it-IT" dirty="0"/>
              <a:t>Il software è stato testato su Autocad 2007 </a:t>
            </a:r>
            <a:r>
              <a:rPr lang="it-IT" dirty="0" err="1"/>
              <a:t>Eng</a:t>
            </a:r>
            <a:r>
              <a:rPr lang="it-IT" dirty="0"/>
              <a:t> (32/64bit) e 2019 </a:t>
            </a:r>
            <a:r>
              <a:rPr lang="it-IT" dirty="0" err="1"/>
              <a:t>Ita</a:t>
            </a:r>
            <a:r>
              <a:rPr lang="it-IT" dirty="0"/>
              <a:t>/</a:t>
            </a:r>
            <a:r>
              <a:rPr lang="it-IT" dirty="0" err="1"/>
              <a:t>Eng</a:t>
            </a:r>
            <a:r>
              <a:rPr lang="it-IT" dirty="0"/>
              <a:t> (64bit) su sistema operativo Windows 7 Professional e Windows 10, sviluppato in linguaggio </a:t>
            </a:r>
            <a:r>
              <a:rPr lang="it-IT" dirty="0" err="1"/>
              <a:t>Autolisp</a:t>
            </a:r>
            <a:r>
              <a:rPr lang="it-IT" dirty="0"/>
              <a:t> completamente sorgente (open source)</a:t>
            </a:r>
          </a:p>
        </p:txBody>
      </p:sp>
      <p:sp>
        <p:nvSpPr>
          <p:cNvPr id="9" name="CasellaDiTesto 8">
            <a:extLst>
              <a:ext uri="{FF2B5EF4-FFF2-40B4-BE49-F238E27FC236}">
                <a16:creationId xmlns:a16="http://schemas.microsoft.com/office/drawing/2014/main" id="{9B4AB90A-9E1A-4DE7-B25E-0B6F3E497FB9}"/>
              </a:ext>
            </a:extLst>
          </p:cNvPr>
          <p:cNvSpPr txBox="1"/>
          <p:nvPr/>
        </p:nvSpPr>
        <p:spPr>
          <a:xfrm>
            <a:off x="3359330" y="5657671"/>
            <a:ext cx="626922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b="1" dirty="0"/>
              <a:t>Completamente Gratuito</a:t>
            </a:r>
          </a:p>
          <a:p>
            <a:r>
              <a:rPr lang="it-IT" dirty="0"/>
              <a:t>Il programma nasce dalla passione e dall’esperienza di lavoro.</a:t>
            </a:r>
          </a:p>
          <a:p>
            <a:endParaRPr lang="it-IT" dirty="0"/>
          </a:p>
        </p:txBody>
      </p:sp>
      <p:sp>
        <p:nvSpPr>
          <p:cNvPr id="10" name="CasellaDiTesto 9">
            <a:extLst>
              <a:ext uri="{FF2B5EF4-FFF2-40B4-BE49-F238E27FC236}">
                <a16:creationId xmlns:a16="http://schemas.microsoft.com/office/drawing/2014/main" id="{24753C29-C6C8-42B2-92E2-F86A898DF688}"/>
              </a:ext>
            </a:extLst>
          </p:cNvPr>
          <p:cNvSpPr txBox="1"/>
          <p:nvPr/>
        </p:nvSpPr>
        <p:spPr>
          <a:xfrm>
            <a:off x="4066902" y="265718"/>
            <a:ext cx="659674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2400" b="1" dirty="0"/>
              <a:t>Programma per l’ottimizzazione di taglio lamiere</a:t>
            </a:r>
            <a:endParaRPr lang="it-IT" sz="2400" dirty="0"/>
          </a:p>
        </p:txBody>
      </p:sp>
    </p:spTree>
    <p:extLst>
      <p:ext uri="{BB962C8B-B14F-4D97-AF65-F5344CB8AC3E}">
        <p14:creationId xmlns:p14="http://schemas.microsoft.com/office/powerpoint/2010/main" val="303208182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bg1">
                <a:lumMod val="50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Elemento grafico 4">
            <a:extLst>
              <a:ext uri="{FF2B5EF4-FFF2-40B4-BE49-F238E27FC236}">
                <a16:creationId xmlns:a16="http://schemas.microsoft.com/office/drawing/2014/main" id="{B6B5F39B-DF68-444E-955D-D3E41CDD9462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4502" y="103535"/>
            <a:ext cx="3962400" cy="786033"/>
          </a:xfrm>
          <a:prstGeom prst="rect">
            <a:avLst/>
          </a:prstGeom>
        </p:spPr>
      </p:pic>
      <p:sp>
        <p:nvSpPr>
          <p:cNvPr id="10" name="CasellaDiTesto 9">
            <a:extLst>
              <a:ext uri="{FF2B5EF4-FFF2-40B4-BE49-F238E27FC236}">
                <a16:creationId xmlns:a16="http://schemas.microsoft.com/office/drawing/2014/main" id="{24753C29-C6C8-42B2-92E2-F86A898DF688}"/>
              </a:ext>
            </a:extLst>
          </p:cNvPr>
          <p:cNvSpPr txBox="1"/>
          <p:nvPr/>
        </p:nvSpPr>
        <p:spPr>
          <a:xfrm>
            <a:off x="4066902" y="265718"/>
            <a:ext cx="659674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2400" b="1" dirty="0"/>
              <a:t>Programma per l’ottimizzazione di taglio lamiere</a:t>
            </a:r>
            <a:endParaRPr lang="it-IT" sz="2400" dirty="0"/>
          </a:p>
        </p:txBody>
      </p:sp>
      <p:pic>
        <p:nvPicPr>
          <p:cNvPr id="2" name="Immagine 1">
            <a:extLst>
              <a:ext uri="{FF2B5EF4-FFF2-40B4-BE49-F238E27FC236}">
                <a16:creationId xmlns:a16="http://schemas.microsoft.com/office/drawing/2014/main" id="{659D402F-9866-4E1D-8634-A1906F1682B8}"/>
              </a:ext>
            </a:extLst>
          </p:cNvPr>
          <p:cNvPicPr>
            <a:picLocks noChangeAspect="1"/>
          </p:cNvPicPr>
          <p:nvPr/>
        </p:nvPicPr>
        <p:blipFill>
          <a:blip r:embed="rId4" cstate="print"/>
          <a:stretch>
            <a:fillRect/>
          </a:stretch>
        </p:blipFill>
        <p:spPr>
          <a:xfrm>
            <a:off x="229960" y="1001365"/>
            <a:ext cx="7029450" cy="5753100"/>
          </a:xfrm>
          <a:prstGeom prst="rect">
            <a:avLst/>
          </a:prstGeom>
        </p:spPr>
      </p:pic>
      <p:pic>
        <p:nvPicPr>
          <p:cNvPr id="3" name="Immagine 2">
            <a:extLst>
              <a:ext uri="{FF2B5EF4-FFF2-40B4-BE49-F238E27FC236}">
                <a16:creationId xmlns:a16="http://schemas.microsoft.com/office/drawing/2014/main" id="{A94443D1-04B3-4EEB-A47E-6CADE5E57348}"/>
              </a:ext>
            </a:extLst>
          </p:cNvPr>
          <p:cNvPicPr>
            <a:picLocks noChangeAspect="1"/>
          </p:cNvPicPr>
          <p:nvPr/>
        </p:nvPicPr>
        <p:blipFill>
          <a:blip r:embed="rId5" cstate="print"/>
          <a:stretch>
            <a:fillRect/>
          </a:stretch>
        </p:blipFill>
        <p:spPr>
          <a:xfrm>
            <a:off x="4858572" y="760802"/>
            <a:ext cx="7029450" cy="5753100"/>
          </a:xfrm>
          <a:prstGeom prst="rect">
            <a:avLst/>
          </a:prstGeom>
        </p:spPr>
      </p:pic>
      <p:sp>
        <p:nvSpPr>
          <p:cNvPr id="7" name="Rettangolo con angoli arrotondati 6">
            <a:extLst>
              <a:ext uri="{FF2B5EF4-FFF2-40B4-BE49-F238E27FC236}">
                <a16:creationId xmlns:a16="http://schemas.microsoft.com/office/drawing/2014/main" id="{5DFAD2DA-77B8-4D00-995E-0D5A2E0A4512}"/>
              </a:ext>
            </a:extLst>
          </p:cNvPr>
          <p:cNvSpPr/>
          <p:nvPr/>
        </p:nvSpPr>
        <p:spPr>
          <a:xfrm>
            <a:off x="303977" y="1001365"/>
            <a:ext cx="2373909" cy="579260"/>
          </a:xfrm>
          <a:prstGeom prst="round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dirty="0"/>
              <a:t>Codice «open source»</a:t>
            </a:r>
          </a:p>
        </p:txBody>
      </p:sp>
    </p:spTree>
    <p:extLst>
      <p:ext uri="{BB962C8B-B14F-4D97-AF65-F5344CB8AC3E}">
        <p14:creationId xmlns:p14="http://schemas.microsoft.com/office/powerpoint/2010/main" val="350814053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bg1">
                <a:lumMod val="50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Elemento grafico 4">
            <a:extLst>
              <a:ext uri="{FF2B5EF4-FFF2-40B4-BE49-F238E27FC236}">
                <a16:creationId xmlns:a16="http://schemas.microsoft.com/office/drawing/2014/main" id="{B6B5F39B-DF68-444E-955D-D3E41CDD9462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4502" y="103535"/>
            <a:ext cx="3962400" cy="786033"/>
          </a:xfrm>
          <a:prstGeom prst="rect">
            <a:avLst/>
          </a:prstGeom>
        </p:spPr>
      </p:pic>
      <p:sp>
        <p:nvSpPr>
          <p:cNvPr id="10" name="CasellaDiTesto 9">
            <a:extLst>
              <a:ext uri="{FF2B5EF4-FFF2-40B4-BE49-F238E27FC236}">
                <a16:creationId xmlns:a16="http://schemas.microsoft.com/office/drawing/2014/main" id="{24753C29-C6C8-42B2-92E2-F86A898DF688}"/>
              </a:ext>
            </a:extLst>
          </p:cNvPr>
          <p:cNvSpPr txBox="1"/>
          <p:nvPr/>
        </p:nvSpPr>
        <p:spPr>
          <a:xfrm>
            <a:off x="4066903" y="265718"/>
            <a:ext cx="532529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2400" b="1" dirty="0"/>
              <a:t>Note per l’installazione del prodotto</a:t>
            </a:r>
            <a:endParaRPr lang="it-IT" sz="2400" dirty="0"/>
          </a:p>
        </p:txBody>
      </p:sp>
      <p:sp>
        <p:nvSpPr>
          <p:cNvPr id="8" name="CasellaDiTesto 7">
            <a:extLst>
              <a:ext uri="{FF2B5EF4-FFF2-40B4-BE49-F238E27FC236}">
                <a16:creationId xmlns:a16="http://schemas.microsoft.com/office/drawing/2014/main" id="{84D9AD1C-5C8A-4C07-B25F-3B490B2C2AED}"/>
              </a:ext>
            </a:extLst>
          </p:cNvPr>
          <p:cNvSpPr txBox="1"/>
          <p:nvPr/>
        </p:nvSpPr>
        <p:spPr>
          <a:xfrm>
            <a:off x="261256" y="1053045"/>
            <a:ext cx="8660676" cy="184665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+mj-lt"/>
              <a:buAutoNum type="arabicPeriod"/>
            </a:pPr>
            <a:r>
              <a:rPr lang="it-IT" sz="1600" dirty="0"/>
              <a:t>Collegarsi al sito </a:t>
            </a:r>
            <a:r>
              <a:rPr lang="it-IT" sz="1600" dirty="0">
                <a:hlinkClick r:id="rId4"/>
              </a:rPr>
              <a:t>www.easycutnesting.it</a:t>
            </a:r>
            <a:endParaRPr lang="it-IT" sz="1600" dirty="0"/>
          </a:p>
          <a:p>
            <a:pPr marL="457200" indent="-457200">
              <a:buFont typeface="+mj-lt"/>
              <a:buAutoNum type="arabicPeriod"/>
            </a:pPr>
            <a:r>
              <a:rPr lang="it-IT" sz="1600" dirty="0"/>
              <a:t>Selezionare </a:t>
            </a:r>
            <a:r>
              <a:rPr lang="it-IT" sz="1600" dirty="0">
                <a:solidFill>
                  <a:srgbClr val="C00000"/>
                </a:solidFill>
              </a:rPr>
              <a:t>Download gratuito</a:t>
            </a:r>
          </a:p>
          <a:p>
            <a:pPr marL="457200" indent="-457200">
              <a:buFont typeface="+mj-lt"/>
              <a:buAutoNum type="arabicPeriod"/>
            </a:pPr>
            <a:r>
              <a:rPr lang="it-IT" sz="1600" dirty="0"/>
              <a:t>Nell’area Download verrà scaricato il file </a:t>
            </a:r>
            <a:r>
              <a:rPr lang="en-US" sz="1600" dirty="0" err="1">
                <a:solidFill>
                  <a:srgbClr val="C00000"/>
                </a:solidFill>
              </a:rPr>
              <a:t>EasyCutDownload</a:t>
            </a:r>
            <a:r>
              <a:rPr lang="en-US" sz="1600" dirty="0">
                <a:solidFill>
                  <a:srgbClr val="C00000"/>
                </a:solidFill>
              </a:rPr>
              <a:t> [</a:t>
            </a:r>
            <a:r>
              <a:rPr lang="en-US" sz="1600" dirty="0" err="1">
                <a:solidFill>
                  <a:srgbClr val="C00000"/>
                </a:solidFill>
              </a:rPr>
              <a:t>nome</a:t>
            </a:r>
            <a:r>
              <a:rPr lang="en-US" sz="1600" dirty="0">
                <a:solidFill>
                  <a:srgbClr val="C00000"/>
                </a:solidFill>
              </a:rPr>
              <a:t> </a:t>
            </a:r>
            <a:r>
              <a:rPr lang="en-US" sz="1600" dirty="0" err="1">
                <a:solidFill>
                  <a:srgbClr val="C00000"/>
                </a:solidFill>
              </a:rPr>
              <a:t>versione</a:t>
            </a:r>
            <a:r>
              <a:rPr lang="en-US" sz="1600" dirty="0">
                <a:solidFill>
                  <a:srgbClr val="C00000"/>
                </a:solidFill>
              </a:rPr>
              <a:t>].exe.7z</a:t>
            </a:r>
          </a:p>
          <a:p>
            <a:pPr marL="457200" indent="-457200">
              <a:buFont typeface="+mj-lt"/>
              <a:buAutoNum type="arabicPeriod"/>
            </a:pPr>
            <a:r>
              <a:rPr lang="it-IT" sz="1600" dirty="0"/>
              <a:t>Estrarre il file compresso </a:t>
            </a:r>
            <a:endParaRPr lang="en-US" sz="1600" dirty="0"/>
          </a:p>
          <a:p>
            <a:pPr marL="457200" indent="-457200">
              <a:buFont typeface="+mj-lt"/>
              <a:buAutoNum type="arabicPeriod"/>
            </a:pPr>
            <a:r>
              <a:rPr lang="it-IT" sz="1600" dirty="0"/>
              <a:t>Doppio click sul file </a:t>
            </a:r>
            <a:r>
              <a:rPr lang="en-US" sz="1600" dirty="0"/>
              <a:t> </a:t>
            </a:r>
            <a:r>
              <a:rPr lang="en-US" sz="1600" dirty="0" err="1">
                <a:solidFill>
                  <a:srgbClr val="C00000"/>
                </a:solidFill>
              </a:rPr>
              <a:t>EasyCutDownload</a:t>
            </a:r>
            <a:r>
              <a:rPr lang="en-US" sz="1600" dirty="0">
                <a:solidFill>
                  <a:srgbClr val="C00000"/>
                </a:solidFill>
              </a:rPr>
              <a:t> [</a:t>
            </a:r>
            <a:r>
              <a:rPr lang="en-US" sz="1600" dirty="0" err="1">
                <a:solidFill>
                  <a:srgbClr val="C00000"/>
                </a:solidFill>
              </a:rPr>
              <a:t>nome</a:t>
            </a:r>
            <a:r>
              <a:rPr lang="en-US" sz="1600" dirty="0">
                <a:solidFill>
                  <a:srgbClr val="C00000"/>
                </a:solidFill>
              </a:rPr>
              <a:t> versione].exe </a:t>
            </a:r>
            <a:r>
              <a:rPr lang="it-IT" sz="1600" dirty="0"/>
              <a:t>per eseguire l’installazione </a:t>
            </a:r>
            <a:endParaRPr lang="en-US" sz="1600" dirty="0"/>
          </a:p>
          <a:p>
            <a:pPr marL="457200" indent="-457200">
              <a:buFont typeface="+mj-lt"/>
              <a:buAutoNum type="arabicPeriod"/>
            </a:pPr>
            <a:r>
              <a:rPr lang="it-IT" sz="1600" dirty="0"/>
              <a:t>Al termine dell’installazione si aprirà il Form di verifica della presenza di Autocad, se tutto va a buon fine apparirà la seguente scritta </a:t>
            </a:r>
            <a:endParaRPr lang="en-US" b="1" dirty="0"/>
          </a:p>
        </p:txBody>
      </p:sp>
      <p:pic>
        <p:nvPicPr>
          <p:cNvPr id="11" name="Immagine 10">
            <a:extLst>
              <a:ext uri="{FF2B5EF4-FFF2-40B4-BE49-F238E27FC236}">
                <a16:creationId xmlns:a16="http://schemas.microsoft.com/office/drawing/2014/main" id="{0E5AE50F-FE46-43FC-BDF9-7B0F9EDD85D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61256" y="2906426"/>
            <a:ext cx="8329203" cy="3683359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12" name="Freccia circolare a sinistra 11">
            <a:extLst>
              <a:ext uri="{FF2B5EF4-FFF2-40B4-BE49-F238E27FC236}">
                <a16:creationId xmlns:a16="http://schemas.microsoft.com/office/drawing/2014/main" id="{936EC22F-156B-4EB7-88CE-6756CE2D81BC}"/>
              </a:ext>
            </a:extLst>
          </p:cNvPr>
          <p:cNvSpPr/>
          <p:nvPr/>
        </p:nvSpPr>
        <p:spPr>
          <a:xfrm>
            <a:off x="4983204" y="2756263"/>
            <a:ext cx="1001487" cy="3550715"/>
          </a:xfrm>
          <a:prstGeom prst="curvedLeftArrow">
            <a:avLst>
              <a:gd name="adj1" fmla="val 25000"/>
              <a:gd name="adj2" fmla="val 61833"/>
              <a:gd name="adj3" fmla="val 23696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>
              <a:solidFill>
                <a:schemeClr val="tx1"/>
              </a:solidFill>
            </a:endParaRPr>
          </a:p>
        </p:txBody>
      </p:sp>
      <p:sp>
        <p:nvSpPr>
          <p:cNvPr id="13" name="CasellaDiTesto 12">
            <a:extLst>
              <a:ext uri="{FF2B5EF4-FFF2-40B4-BE49-F238E27FC236}">
                <a16:creationId xmlns:a16="http://schemas.microsoft.com/office/drawing/2014/main" id="{36C2FE75-3C2F-4B4D-B918-D70D7F1223E3}"/>
              </a:ext>
            </a:extLst>
          </p:cNvPr>
          <p:cNvSpPr txBox="1"/>
          <p:nvPr/>
        </p:nvSpPr>
        <p:spPr>
          <a:xfrm>
            <a:off x="8830493" y="5020125"/>
            <a:ext cx="3178631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1600" dirty="0"/>
              <a:t>Potete scaricare questa guida informativa direttamente dal sito.</a:t>
            </a:r>
          </a:p>
          <a:p>
            <a:endParaRPr lang="it-IT" sz="1600" dirty="0"/>
          </a:p>
          <a:p>
            <a:r>
              <a:rPr lang="it-IT" sz="1600" dirty="0"/>
              <a:t>Se avete domande o suggerimenti potete lasciare un messaggio sul Form Mail del sito internet</a:t>
            </a:r>
          </a:p>
        </p:txBody>
      </p:sp>
      <p:sp>
        <p:nvSpPr>
          <p:cNvPr id="14" name="Rettangolo 13">
            <a:extLst>
              <a:ext uri="{FF2B5EF4-FFF2-40B4-BE49-F238E27FC236}">
                <a16:creationId xmlns:a16="http://schemas.microsoft.com/office/drawing/2014/main" id="{7BE8E1F0-C7C0-44F1-AD38-7FE52194A7FE}"/>
              </a:ext>
            </a:extLst>
          </p:cNvPr>
          <p:cNvSpPr/>
          <p:nvPr/>
        </p:nvSpPr>
        <p:spPr>
          <a:xfrm>
            <a:off x="393895" y="5804955"/>
            <a:ext cx="4589308" cy="399902"/>
          </a:xfrm>
          <a:prstGeom prst="rect">
            <a:avLst/>
          </a:prstGeom>
          <a:solidFill>
            <a:schemeClr val="accent1">
              <a:alpha val="37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19424498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Immagine 7">
            <a:extLst>
              <a:ext uri="{FF2B5EF4-FFF2-40B4-BE49-F238E27FC236}">
                <a16:creationId xmlns:a16="http://schemas.microsoft.com/office/drawing/2014/main" id="{BFFD86D7-0993-4ABC-A351-95218DCF91E1}"/>
              </a:ext>
            </a:extLst>
          </p:cNvPr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2192000" cy="6840133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13" name="Immagine 12">
            <a:extLst>
              <a:ext uri="{FF2B5EF4-FFF2-40B4-BE49-F238E27FC236}">
                <a16:creationId xmlns:a16="http://schemas.microsoft.com/office/drawing/2014/main" id="{41CBC9D1-4CA9-4278-B044-492AB0AABFCE}"/>
              </a:ext>
            </a:extLst>
          </p:cNvPr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3445862" y="2052387"/>
            <a:ext cx="4124325" cy="108585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21" name="Immagine 20">
            <a:extLst>
              <a:ext uri="{FF2B5EF4-FFF2-40B4-BE49-F238E27FC236}">
                <a16:creationId xmlns:a16="http://schemas.microsoft.com/office/drawing/2014/main" id="{169FF6BD-7E2E-407B-849C-04F003EE395A}"/>
              </a:ext>
            </a:extLst>
          </p:cNvPr>
          <p:cNvPicPr>
            <a:picLocks noChangeAspect="1"/>
          </p:cNvPicPr>
          <p:nvPr/>
        </p:nvPicPr>
        <p:blipFill>
          <a:blip r:embed="rId4" cstate="print"/>
          <a:stretch>
            <a:fillRect/>
          </a:stretch>
        </p:blipFill>
        <p:spPr>
          <a:xfrm>
            <a:off x="7570187" y="670832"/>
            <a:ext cx="4124325" cy="603885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15" name="Immagine 14">
            <a:extLst>
              <a:ext uri="{FF2B5EF4-FFF2-40B4-BE49-F238E27FC236}">
                <a16:creationId xmlns:a16="http://schemas.microsoft.com/office/drawing/2014/main" id="{017AF78A-4172-473C-A942-00228B3AEA51}"/>
              </a:ext>
            </a:extLst>
          </p:cNvPr>
          <p:cNvPicPr>
            <a:picLocks noChangeAspect="1"/>
          </p:cNvPicPr>
          <p:nvPr/>
        </p:nvPicPr>
        <p:blipFill>
          <a:blip r:embed="rId5" cstate="print"/>
          <a:stretch>
            <a:fillRect/>
          </a:stretch>
        </p:blipFill>
        <p:spPr>
          <a:xfrm>
            <a:off x="2733581" y="3286554"/>
            <a:ext cx="5715000" cy="175260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23" name="Fumetto: rettangolo con angoli arrotondati 22">
            <a:extLst>
              <a:ext uri="{FF2B5EF4-FFF2-40B4-BE49-F238E27FC236}">
                <a16:creationId xmlns:a16="http://schemas.microsoft.com/office/drawing/2014/main" id="{C8CDAA4C-BE8B-4DB9-815C-842D56E28375}"/>
              </a:ext>
            </a:extLst>
          </p:cNvPr>
          <p:cNvSpPr/>
          <p:nvPr/>
        </p:nvSpPr>
        <p:spPr>
          <a:xfrm>
            <a:off x="5695406" y="347297"/>
            <a:ext cx="2291693" cy="654661"/>
          </a:xfrm>
          <a:prstGeom prst="wedgeRoundRectCallout">
            <a:avLst>
              <a:gd name="adj1" fmla="val 62473"/>
              <a:gd name="adj2" fmla="val 88440"/>
              <a:gd name="adj3" fmla="val 16667"/>
            </a:avLst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600" dirty="0"/>
              <a:t>LOAD EASYCUT</a:t>
            </a:r>
          </a:p>
          <a:p>
            <a:pPr algn="ctr"/>
            <a:r>
              <a:rPr lang="it-IT" sz="1600" dirty="0" err="1"/>
              <a:t>Command</a:t>
            </a:r>
            <a:r>
              <a:rPr lang="it-IT" sz="1600" dirty="0"/>
              <a:t> : </a:t>
            </a:r>
            <a:r>
              <a:rPr lang="it-IT" sz="1600" b="1" dirty="0">
                <a:solidFill>
                  <a:srgbClr val="FF0000"/>
                </a:solidFill>
              </a:rPr>
              <a:t>LOADEC</a:t>
            </a:r>
          </a:p>
        </p:txBody>
      </p:sp>
      <p:sp>
        <p:nvSpPr>
          <p:cNvPr id="7" name="Rettangolo con angoli arrotondati 6">
            <a:extLst>
              <a:ext uri="{FF2B5EF4-FFF2-40B4-BE49-F238E27FC236}">
                <a16:creationId xmlns:a16="http://schemas.microsoft.com/office/drawing/2014/main" id="{0A8934B5-2A52-41B7-9F93-EA6F4DE9D547}"/>
              </a:ext>
            </a:extLst>
          </p:cNvPr>
          <p:cNvSpPr/>
          <p:nvPr/>
        </p:nvSpPr>
        <p:spPr>
          <a:xfrm>
            <a:off x="417544" y="462957"/>
            <a:ext cx="1777016" cy="612921"/>
          </a:xfrm>
          <a:prstGeom prst="round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600" dirty="0"/>
              <a:t>CARICAMENTO PROGRAMMA</a:t>
            </a:r>
          </a:p>
        </p:txBody>
      </p:sp>
    </p:spTree>
    <p:extLst>
      <p:ext uri="{BB962C8B-B14F-4D97-AF65-F5344CB8AC3E}">
        <p14:creationId xmlns:p14="http://schemas.microsoft.com/office/powerpoint/2010/main" val="17908524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Immagine 7">
            <a:extLst>
              <a:ext uri="{FF2B5EF4-FFF2-40B4-BE49-F238E27FC236}">
                <a16:creationId xmlns:a16="http://schemas.microsoft.com/office/drawing/2014/main" id="{91458AAD-0E50-4841-8B42-32573D3C46E7}"/>
              </a:ext>
            </a:extLst>
          </p:cNvPr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0" y="786"/>
            <a:ext cx="12192000" cy="6857214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5" name="Immagine 4">
            <a:extLst>
              <a:ext uri="{FF2B5EF4-FFF2-40B4-BE49-F238E27FC236}">
                <a16:creationId xmlns:a16="http://schemas.microsoft.com/office/drawing/2014/main" id="{81A1D5B6-1067-4B62-9C81-E22D8B1661C9}"/>
              </a:ext>
            </a:extLst>
          </p:cNvPr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2901965" y="47625"/>
            <a:ext cx="2190750" cy="676275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6" name="Fumetto: rettangolo con angoli arrotondati 5">
            <a:extLst>
              <a:ext uri="{FF2B5EF4-FFF2-40B4-BE49-F238E27FC236}">
                <a16:creationId xmlns:a16="http://schemas.microsoft.com/office/drawing/2014/main" id="{5EA9F6CD-5DE7-42D9-AEB7-C32A65216295}"/>
              </a:ext>
            </a:extLst>
          </p:cNvPr>
          <p:cNvSpPr/>
          <p:nvPr/>
        </p:nvSpPr>
        <p:spPr>
          <a:xfrm>
            <a:off x="409974" y="5133703"/>
            <a:ext cx="1797650" cy="815926"/>
          </a:xfrm>
          <a:prstGeom prst="wedgeRoundRectCallout">
            <a:avLst>
              <a:gd name="adj1" fmla="val -38401"/>
              <a:gd name="adj2" fmla="val 102717"/>
              <a:gd name="adj3" fmla="val 16667"/>
            </a:avLst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600" dirty="0"/>
              <a:t>START EASYCUT</a:t>
            </a:r>
          </a:p>
          <a:p>
            <a:pPr algn="ctr"/>
            <a:r>
              <a:rPr lang="it-IT" sz="1600" dirty="0" err="1"/>
              <a:t>Command</a:t>
            </a:r>
            <a:r>
              <a:rPr lang="it-IT" sz="1600" dirty="0"/>
              <a:t> :</a:t>
            </a:r>
            <a:r>
              <a:rPr lang="it-IT" sz="1600" b="1" dirty="0">
                <a:solidFill>
                  <a:srgbClr val="FF0000"/>
                </a:solidFill>
              </a:rPr>
              <a:t>EC</a:t>
            </a:r>
            <a:endParaRPr lang="it-IT" sz="1600" dirty="0">
              <a:solidFill>
                <a:srgbClr val="FF0000"/>
              </a:solidFill>
            </a:endParaRPr>
          </a:p>
        </p:txBody>
      </p:sp>
      <p:sp>
        <p:nvSpPr>
          <p:cNvPr id="7" name="Rettangolo con angoli arrotondati 6">
            <a:extLst>
              <a:ext uri="{FF2B5EF4-FFF2-40B4-BE49-F238E27FC236}">
                <a16:creationId xmlns:a16="http://schemas.microsoft.com/office/drawing/2014/main" id="{80FDF50C-7B93-4E88-A6AF-A89E3CFDBA37}"/>
              </a:ext>
            </a:extLst>
          </p:cNvPr>
          <p:cNvSpPr/>
          <p:nvPr/>
        </p:nvSpPr>
        <p:spPr>
          <a:xfrm>
            <a:off x="417544" y="462957"/>
            <a:ext cx="1777016" cy="612921"/>
          </a:xfrm>
          <a:prstGeom prst="round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600" dirty="0"/>
              <a:t>START PROGRAMMA</a:t>
            </a:r>
          </a:p>
        </p:txBody>
      </p:sp>
    </p:spTree>
    <p:extLst>
      <p:ext uri="{BB962C8B-B14F-4D97-AF65-F5344CB8AC3E}">
        <p14:creationId xmlns:p14="http://schemas.microsoft.com/office/powerpoint/2010/main" val="167385061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mmagine 5">
            <a:extLst>
              <a:ext uri="{FF2B5EF4-FFF2-40B4-BE49-F238E27FC236}">
                <a16:creationId xmlns:a16="http://schemas.microsoft.com/office/drawing/2014/main" id="{4CBA1225-841C-465A-A4DF-DC5EA372879C}"/>
              </a:ext>
            </a:extLst>
          </p:cNvPr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0" y="-47626"/>
            <a:ext cx="12192000" cy="6858000"/>
          </a:xfrm>
          <a:prstGeom prst="rect">
            <a:avLst/>
          </a:prstGeom>
        </p:spPr>
      </p:pic>
      <p:pic>
        <p:nvPicPr>
          <p:cNvPr id="5" name="Immagine 4">
            <a:extLst>
              <a:ext uri="{FF2B5EF4-FFF2-40B4-BE49-F238E27FC236}">
                <a16:creationId xmlns:a16="http://schemas.microsoft.com/office/drawing/2014/main" id="{BBFD9F9E-1CBA-4F59-9B1C-7BA056F86B91}"/>
              </a:ext>
            </a:extLst>
          </p:cNvPr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9733604" y="47626"/>
            <a:ext cx="2190750" cy="676275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11" name="Immagine 10">
            <a:extLst>
              <a:ext uri="{FF2B5EF4-FFF2-40B4-BE49-F238E27FC236}">
                <a16:creationId xmlns:a16="http://schemas.microsoft.com/office/drawing/2014/main" id="{B939C73C-D4DD-4962-8D14-318309139082}"/>
              </a:ext>
            </a:extLst>
          </p:cNvPr>
          <p:cNvPicPr>
            <a:picLocks noChangeAspect="1"/>
          </p:cNvPicPr>
          <p:nvPr/>
        </p:nvPicPr>
        <p:blipFill>
          <a:blip r:embed="rId4" cstate="print"/>
          <a:stretch>
            <a:fillRect/>
          </a:stretch>
        </p:blipFill>
        <p:spPr>
          <a:xfrm>
            <a:off x="661074" y="119062"/>
            <a:ext cx="6724650" cy="6619875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12" name="Rettangolo con angoli arrotondati 11">
            <a:extLst>
              <a:ext uri="{FF2B5EF4-FFF2-40B4-BE49-F238E27FC236}">
                <a16:creationId xmlns:a16="http://schemas.microsoft.com/office/drawing/2014/main" id="{01B3D0AF-ECC0-4FA5-9519-C417A07F1419}"/>
              </a:ext>
            </a:extLst>
          </p:cNvPr>
          <p:cNvSpPr/>
          <p:nvPr/>
        </p:nvSpPr>
        <p:spPr>
          <a:xfrm>
            <a:off x="9809314" y="516312"/>
            <a:ext cx="2044700" cy="559566"/>
          </a:xfrm>
          <a:prstGeom prst="roundRect">
            <a:avLst>
              <a:gd name="adj" fmla="val 6740"/>
            </a:avLst>
          </a:prstGeom>
          <a:solidFill>
            <a:schemeClr val="accent1">
              <a:alpha val="49000"/>
            </a:schemeClr>
          </a:solidFill>
          <a:ln>
            <a:solidFill>
              <a:srgbClr val="FF0000"/>
            </a:solidFill>
          </a:ln>
          <a:effectLst>
            <a:softEdge rad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dirty="0"/>
          </a:p>
        </p:txBody>
      </p:sp>
      <p:sp>
        <p:nvSpPr>
          <p:cNvPr id="2" name="Rettangolo 1">
            <a:extLst>
              <a:ext uri="{FF2B5EF4-FFF2-40B4-BE49-F238E27FC236}">
                <a16:creationId xmlns:a16="http://schemas.microsoft.com/office/drawing/2014/main" id="{0D60B8F4-FBF8-489A-BACA-D4F5060F08ED}"/>
              </a:ext>
            </a:extLst>
          </p:cNvPr>
          <p:cNvSpPr/>
          <p:nvPr/>
        </p:nvSpPr>
        <p:spPr>
          <a:xfrm>
            <a:off x="1069724" y="5361185"/>
            <a:ext cx="2792862" cy="1291922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600" b="1" dirty="0"/>
              <a:t>EASYCUT</a:t>
            </a:r>
            <a:r>
              <a:rPr lang="it-IT" sz="1600" dirty="0"/>
              <a:t> può essere configurato in maniera veloce ed intuitiva </a:t>
            </a:r>
            <a:r>
              <a:rPr lang="it-IT" sz="1600" dirty="0" err="1"/>
              <a:t>soddisfando</a:t>
            </a:r>
            <a:r>
              <a:rPr lang="it-IT" sz="1600" dirty="0"/>
              <a:t> le esigenze di produzione</a:t>
            </a:r>
          </a:p>
        </p:txBody>
      </p:sp>
      <p:pic>
        <p:nvPicPr>
          <p:cNvPr id="8" name="Immagine 7">
            <a:extLst>
              <a:ext uri="{FF2B5EF4-FFF2-40B4-BE49-F238E27FC236}">
                <a16:creationId xmlns:a16="http://schemas.microsoft.com/office/drawing/2014/main" id="{E55D1677-1C00-4B02-95FF-2E8F9DA160D4}"/>
              </a:ext>
            </a:extLst>
          </p:cNvPr>
          <p:cNvPicPr>
            <a:picLocks noChangeAspect="1"/>
          </p:cNvPicPr>
          <p:nvPr/>
        </p:nvPicPr>
        <p:blipFill>
          <a:blip r:embed="rId5" cstate="print"/>
          <a:stretch>
            <a:fillRect/>
          </a:stretch>
        </p:blipFill>
        <p:spPr>
          <a:xfrm>
            <a:off x="4641754" y="3027711"/>
            <a:ext cx="4448175" cy="2847975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10" name="Fumetto: rettangolo con angoli arrotondati 9">
            <a:extLst>
              <a:ext uri="{FF2B5EF4-FFF2-40B4-BE49-F238E27FC236}">
                <a16:creationId xmlns:a16="http://schemas.microsoft.com/office/drawing/2014/main" id="{048897E9-6958-4772-BD61-71F07C63DD0A}"/>
              </a:ext>
            </a:extLst>
          </p:cNvPr>
          <p:cNvSpPr/>
          <p:nvPr/>
        </p:nvSpPr>
        <p:spPr>
          <a:xfrm>
            <a:off x="7179744" y="2146942"/>
            <a:ext cx="1839925" cy="797425"/>
          </a:xfrm>
          <a:prstGeom prst="wedgeRoundRectCallout">
            <a:avLst>
              <a:gd name="adj1" fmla="val -22782"/>
              <a:gd name="adj2" fmla="val 96165"/>
              <a:gd name="adj3" fmla="val 16667"/>
            </a:avLst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600" dirty="0"/>
              <a:t>CONFIGURAZIONE ATTIVA</a:t>
            </a:r>
          </a:p>
        </p:txBody>
      </p:sp>
      <p:sp>
        <p:nvSpPr>
          <p:cNvPr id="9" name="Rettangolo con angoli arrotondati 8">
            <a:extLst>
              <a:ext uri="{FF2B5EF4-FFF2-40B4-BE49-F238E27FC236}">
                <a16:creationId xmlns:a16="http://schemas.microsoft.com/office/drawing/2014/main" id="{1FF149F8-43C1-4943-89AB-F09E47D117BF}"/>
              </a:ext>
            </a:extLst>
          </p:cNvPr>
          <p:cNvSpPr/>
          <p:nvPr/>
        </p:nvSpPr>
        <p:spPr>
          <a:xfrm>
            <a:off x="6975023" y="4916685"/>
            <a:ext cx="1745241" cy="444500"/>
          </a:xfrm>
          <a:prstGeom prst="round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600" dirty="0"/>
              <a:t>SETUP EASYCUT</a:t>
            </a:r>
          </a:p>
        </p:txBody>
      </p:sp>
      <p:sp>
        <p:nvSpPr>
          <p:cNvPr id="13" name="Rettangolo con angoli arrotondati 12">
            <a:extLst>
              <a:ext uri="{FF2B5EF4-FFF2-40B4-BE49-F238E27FC236}">
                <a16:creationId xmlns:a16="http://schemas.microsoft.com/office/drawing/2014/main" id="{4CBA9116-64C8-4B58-85C7-875BFF63FF3B}"/>
              </a:ext>
            </a:extLst>
          </p:cNvPr>
          <p:cNvSpPr/>
          <p:nvPr/>
        </p:nvSpPr>
        <p:spPr>
          <a:xfrm>
            <a:off x="417544" y="462957"/>
            <a:ext cx="1777016" cy="612921"/>
          </a:xfrm>
          <a:prstGeom prst="round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600" dirty="0"/>
              <a:t>SETUP</a:t>
            </a:r>
          </a:p>
        </p:txBody>
      </p:sp>
    </p:spTree>
    <p:extLst>
      <p:ext uri="{BB962C8B-B14F-4D97-AF65-F5344CB8AC3E}">
        <p14:creationId xmlns:p14="http://schemas.microsoft.com/office/powerpoint/2010/main" val="191667303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magine 3">
            <a:extLst>
              <a:ext uri="{FF2B5EF4-FFF2-40B4-BE49-F238E27FC236}">
                <a16:creationId xmlns:a16="http://schemas.microsoft.com/office/drawing/2014/main" id="{147FE3DD-A6F3-46AC-8913-03DFD14BED07}"/>
              </a:ext>
            </a:extLst>
          </p:cNvPr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0" y="3175"/>
            <a:ext cx="12192000" cy="685800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6" name="Rettangolo con angoli arrotondati 5">
            <a:extLst>
              <a:ext uri="{FF2B5EF4-FFF2-40B4-BE49-F238E27FC236}">
                <a16:creationId xmlns:a16="http://schemas.microsoft.com/office/drawing/2014/main" id="{5587B96A-D000-4D72-954A-5A31C540A6CB}"/>
              </a:ext>
            </a:extLst>
          </p:cNvPr>
          <p:cNvSpPr/>
          <p:nvPr/>
        </p:nvSpPr>
        <p:spPr>
          <a:xfrm>
            <a:off x="1638300" y="1379946"/>
            <a:ext cx="2021660" cy="444500"/>
          </a:xfrm>
          <a:prstGeom prst="round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it-IT" sz="1600" dirty="0"/>
              <a:t>SETUP ATTACCHI</a:t>
            </a:r>
          </a:p>
        </p:txBody>
      </p:sp>
      <p:pic>
        <p:nvPicPr>
          <p:cNvPr id="8" name="Immagine 7">
            <a:extLst>
              <a:ext uri="{FF2B5EF4-FFF2-40B4-BE49-F238E27FC236}">
                <a16:creationId xmlns:a16="http://schemas.microsoft.com/office/drawing/2014/main" id="{F8BEDD69-E549-4078-AD8D-D101EB950C49}"/>
              </a:ext>
            </a:extLst>
          </p:cNvPr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1638300" y="1856196"/>
            <a:ext cx="4457700" cy="419100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9" name="Immagine 8">
            <a:extLst>
              <a:ext uri="{FF2B5EF4-FFF2-40B4-BE49-F238E27FC236}">
                <a16:creationId xmlns:a16="http://schemas.microsoft.com/office/drawing/2014/main" id="{DFD06855-2A02-439E-86CB-223AAFD7493B}"/>
              </a:ext>
            </a:extLst>
          </p:cNvPr>
          <p:cNvPicPr>
            <a:picLocks noChangeAspect="1"/>
          </p:cNvPicPr>
          <p:nvPr/>
        </p:nvPicPr>
        <p:blipFill>
          <a:blip r:embed="rId4" cstate="print"/>
          <a:stretch>
            <a:fillRect/>
          </a:stretch>
        </p:blipFill>
        <p:spPr>
          <a:xfrm>
            <a:off x="6225787" y="1856196"/>
            <a:ext cx="4705350" cy="276225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10" name="Rettangolo con angoli arrotondati 9">
            <a:extLst>
              <a:ext uri="{FF2B5EF4-FFF2-40B4-BE49-F238E27FC236}">
                <a16:creationId xmlns:a16="http://schemas.microsoft.com/office/drawing/2014/main" id="{CB6BB277-357E-4E51-A903-425BB1D29DC7}"/>
              </a:ext>
            </a:extLst>
          </p:cNvPr>
          <p:cNvSpPr/>
          <p:nvPr/>
        </p:nvSpPr>
        <p:spPr>
          <a:xfrm>
            <a:off x="6225788" y="1379946"/>
            <a:ext cx="2021661" cy="444500"/>
          </a:xfrm>
          <a:prstGeom prst="round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600" dirty="0"/>
              <a:t>SETUP CONTORNI</a:t>
            </a:r>
          </a:p>
        </p:txBody>
      </p:sp>
      <p:pic>
        <p:nvPicPr>
          <p:cNvPr id="5" name="Immagine 4">
            <a:extLst>
              <a:ext uri="{FF2B5EF4-FFF2-40B4-BE49-F238E27FC236}">
                <a16:creationId xmlns:a16="http://schemas.microsoft.com/office/drawing/2014/main" id="{034FC979-7246-4B10-B7E6-815C46D0C680}"/>
              </a:ext>
            </a:extLst>
          </p:cNvPr>
          <p:cNvPicPr>
            <a:picLocks noChangeAspect="1"/>
          </p:cNvPicPr>
          <p:nvPr/>
        </p:nvPicPr>
        <p:blipFill>
          <a:blip r:embed="rId5" cstate="print"/>
          <a:stretch>
            <a:fillRect/>
          </a:stretch>
        </p:blipFill>
        <p:spPr>
          <a:xfrm>
            <a:off x="3936806" y="3677467"/>
            <a:ext cx="4448175" cy="2847975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11" name="Rettangolo con angoli arrotondati 10">
            <a:extLst>
              <a:ext uri="{FF2B5EF4-FFF2-40B4-BE49-F238E27FC236}">
                <a16:creationId xmlns:a16="http://schemas.microsoft.com/office/drawing/2014/main" id="{6CD88FE3-889C-4EB6-AE31-468C9F9BD993}"/>
              </a:ext>
            </a:extLst>
          </p:cNvPr>
          <p:cNvSpPr/>
          <p:nvPr/>
        </p:nvSpPr>
        <p:spPr>
          <a:xfrm>
            <a:off x="417544" y="462958"/>
            <a:ext cx="1777016" cy="579260"/>
          </a:xfrm>
          <a:prstGeom prst="round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600" dirty="0"/>
              <a:t>SETUP</a:t>
            </a:r>
          </a:p>
        </p:txBody>
      </p:sp>
    </p:spTree>
    <p:extLst>
      <p:ext uri="{BB962C8B-B14F-4D97-AF65-F5344CB8AC3E}">
        <p14:creationId xmlns:p14="http://schemas.microsoft.com/office/powerpoint/2010/main" val="201724315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magine 3">
            <a:extLst>
              <a:ext uri="{FF2B5EF4-FFF2-40B4-BE49-F238E27FC236}">
                <a16:creationId xmlns:a16="http://schemas.microsoft.com/office/drawing/2014/main" id="{1EE493DE-B5E9-4705-A8C7-8D32D94A0B28}"/>
              </a:ext>
            </a:extLst>
          </p:cNvPr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0" y="-9888"/>
            <a:ext cx="12192000" cy="685800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6" name="Rettangolo con angoli arrotondati 5">
            <a:extLst>
              <a:ext uri="{FF2B5EF4-FFF2-40B4-BE49-F238E27FC236}">
                <a16:creationId xmlns:a16="http://schemas.microsoft.com/office/drawing/2014/main" id="{E5DB5A0C-DE74-4284-80D0-048B3D1535DA}"/>
              </a:ext>
            </a:extLst>
          </p:cNvPr>
          <p:cNvSpPr/>
          <p:nvPr/>
        </p:nvSpPr>
        <p:spPr>
          <a:xfrm>
            <a:off x="2299061" y="127777"/>
            <a:ext cx="1881054" cy="444500"/>
          </a:xfrm>
          <a:prstGeom prst="round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it-IT" sz="1600" dirty="0"/>
              <a:t>SETUP VELOCITA</a:t>
            </a:r>
            <a:r>
              <a:rPr lang="it-IT" dirty="0"/>
              <a:t>’</a:t>
            </a:r>
          </a:p>
        </p:txBody>
      </p:sp>
      <p:pic>
        <p:nvPicPr>
          <p:cNvPr id="8" name="Immagine 7">
            <a:extLst>
              <a:ext uri="{FF2B5EF4-FFF2-40B4-BE49-F238E27FC236}">
                <a16:creationId xmlns:a16="http://schemas.microsoft.com/office/drawing/2014/main" id="{D9E0BDBF-E983-463C-B270-FD8AD0235751}"/>
              </a:ext>
            </a:extLst>
          </p:cNvPr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2243135" y="615393"/>
            <a:ext cx="4048125" cy="6105525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11" name="Rettangolo con angoli arrotondati 10">
            <a:extLst>
              <a:ext uri="{FF2B5EF4-FFF2-40B4-BE49-F238E27FC236}">
                <a16:creationId xmlns:a16="http://schemas.microsoft.com/office/drawing/2014/main" id="{1D111682-2421-43F5-97A4-4831B2D0EDA8}"/>
              </a:ext>
            </a:extLst>
          </p:cNvPr>
          <p:cNvSpPr/>
          <p:nvPr/>
        </p:nvSpPr>
        <p:spPr>
          <a:xfrm>
            <a:off x="6309361" y="100307"/>
            <a:ext cx="1696208" cy="444500"/>
          </a:xfrm>
          <a:prstGeom prst="round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it-IT" sz="1600" dirty="0"/>
              <a:t>SETUP CUT OFF</a:t>
            </a:r>
          </a:p>
        </p:txBody>
      </p:sp>
      <p:pic>
        <p:nvPicPr>
          <p:cNvPr id="12" name="Immagine 11">
            <a:extLst>
              <a:ext uri="{FF2B5EF4-FFF2-40B4-BE49-F238E27FC236}">
                <a16:creationId xmlns:a16="http://schemas.microsoft.com/office/drawing/2014/main" id="{DEB08AA3-2518-4A56-9040-177A49850E33}"/>
              </a:ext>
            </a:extLst>
          </p:cNvPr>
          <p:cNvPicPr>
            <a:picLocks noChangeAspect="1"/>
          </p:cNvPicPr>
          <p:nvPr/>
        </p:nvPicPr>
        <p:blipFill>
          <a:blip r:embed="rId4" cstate="print"/>
          <a:stretch>
            <a:fillRect/>
          </a:stretch>
        </p:blipFill>
        <p:spPr>
          <a:xfrm>
            <a:off x="8096346" y="1576328"/>
            <a:ext cx="4019550" cy="5191125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17" name="Rettangolo con angoli arrotondati 16">
            <a:extLst>
              <a:ext uri="{FF2B5EF4-FFF2-40B4-BE49-F238E27FC236}">
                <a16:creationId xmlns:a16="http://schemas.microsoft.com/office/drawing/2014/main" id="{892CFDF8-39BD-4E9E-A890-3D3384D2B422}"/>
              </a:ext>
            </a:extLst>
          </p:cNvPr>
          <p:cNvSpPr/>
          <p:nvPr/>
        </p:nvSpPr>
        <p:spPr>
          <a:xfrm>
            <a:off x="10293530" y="1096243"/>
            <a:ext cx="1778075" cy="444500"/>
          </a:xfrm>
          <a:prstGeom prst="round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it-IT" sz="1600" dirty="0"/>
              <a:t>SETUP BARCO</a:t>
            </a:r>
            <a:r>
              <a:rPr lang="it-IT" dirty="0"/>
              <a:t>DE</a:t>
            </a:r>
          </a:p>
        </p:txBody>
      </p:sp>
      <p:sp>
        <p:nvSpPr>
          <p:cNvPr id="19" name="Rettangolo con angoli arrotondati 18">
            <a:extLst>
              <a:ext uri="{FF2B5EF4-FFF2-40B4-BE49-F238E27FC236}">
                <a16:creationId xmlns:a16="http://schemas.microsoft.com/office/drawing/2014/main" id="{21665D58-2B89-4CA3-A082-54B58245D4BF}"/>
              </a:ext>
            </a:extLst>
          </p:cNvPr>
          <p:cNvSpPr/>
          <p:nvPr/>
        </p:nvSpPr>
        <p:spPr>
          <a:xfrm>
            <a:off x="275591" y="2184983"/>
            <a:ext cx="1997235" cy="444500"/>
          </a:xfrm>
          <a:prstGeom prst="round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600" dirty="0"/>
              <a:t>SETUP BROWSER</a:t>
            </a:r>
          </a:p>
        </p:txBody>
      </p:sp>
      <p:pic>
        <p:nvPicPr>
          <p:cNvPr id="9" name="Immagine 8">
            <a:extLst>
              <a:ext uri="{FF2B5EF4-FFF2-40B4-BE49-F238E27FC236}">
                <a16:creationId xmlns:a16="http://schemas.microsoft.com/office/drawing/2014/main" id="{B0A9185D-4820-499B-9C31-C3B938029ED9}"/>
              </a:ext>
            </a:extLst>
          </p:cNvPr>
          <p:cNvPicPr>
            <a:picLocks noChangeAspect="1"/>
          </p:cNvPicPr>
          <p:nvPr/>
        </p:nvPicPr>
        <p:blipFill>
          <a:blip r:embed="rId5" cstate="print"/>
          <a:stretch>
            <a:fillRect/>
          </a:stretch>
        </p:blipFill>
        <p:spPr>
          <a:xfrm>
            <a:off x="6311848" y="606306"/>
            <a:ext cx="3028950" cy="6067425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18" name="Immagine 17">
            <a:extLst>
              <a:ext uri="{FF2B5EF4-FFF2-40B4-BE49-F238E27FC236}">
                <a16:creationId xmlns:a16="http://schemas.microsoft.com/office/drawing/2014/main" id="{E0F95361-0627-4BF5-9A01-E143EC584602}"/>
              </a:ext>
            </a:extLst>
          </p:cNvPr>
          <p:cNvPicPr>
            <a:picLocks noChangeAspect="1"/>
          </p:cNvPicPr>
          <p:nvPr/>
        </p:nvPicPr>
        <p:blipFill>
          <a:blip r:embed="rId6" cstate="print"/>
          <a:stretch>
            <a:fillRect/>
          </a:stretch>
        </p:blipFill>
        <p:spPr>
          <a:xfrm>
            <a:off x="258319" y="2664368"/>
            <a:ext cx="8705850" cy="381000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5" name="Immagine 4">
            <a:extLst>
              <a:ext uri="{FF2B5EF4-FFF2-40B4-BE49-F238E27FC236}">
                <a16:creationId xmlns:a16="http://schemas.microsoft.com/office/drawing/2014/main" id="{4242CC82-DD03-4001-99D7-306655F81653}"/>
              </a:ext>
            </a:extLst>
          </p:cNvPr>
          <p:cNvPicPr>
            <a:picLocks noChangeAspect="1"/>
          </p:cNvPicPr>
          <p:nvPr/>
        </p:nvPicPr>
        <p:blipFill>
          <a:blip r:embed="rId7" cstate="print"/>
          <a:stretch>
            <a:fillRect/>
          </a:stretch>
        </p:blipFill>
        <p:spPr>
          <a:xfrm>
            <a:off x="4554046" y="2131023"/>
            <a:ext cx="4448175" cy="2847975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13" name="Rettangolo con angoli arrotondati 12">
            <a:extLst>
              <a:ext uri="{FF2B5EF4-FFF2-40B4-BE49-F238E27FC236}">
                <a16:creationId xmlns:a16="http://schemas.microsoft.com/office/drawing/2014/main" id="{4F1C9E63-8204-4E02-8BE7-BB0667C42DDE}"/>
              </a:ext>
            </a:extLst>
          </p:cNvPr>
          <p:cNvSpPr/>
          <p:nvPr/>
        </p:nvSpPr>
        <p:spPr>
          <a:xfrm>
            <a:off x="417544" y="462958"/>
            <a:ext cx="1777016" cy="633286"/>
          </a:xfrm>
          <a:prstGeom prst="round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600" dirty="0"/>
              <a:t>SETUP</a:t>
            </a:r>
          </a:p>
        </p:txBody>
      </p:sp>
    </p:spTree>
    <p:extLst>
      <p:ext uri="{BB962C8B-B14F-4D97-AF65-F5344CB8AC3E}">
        <p14:creationId xmlns:p14="http://schemas.microsoft.com/office/powerpoint/2010/main" val="231378055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magine 3">
            <a:extLst>
              <a:ext uri="{FF2B5EF4-FFF2-40B4-BE49-F238E27FC236}">
                <a16:creationId xmlns:a16="http://schemas.microsoft.com/office/drawing/2014/main" id="{A214A4AD-693C-4E29-B59C-401652DFF47B}"/>
              </a:ext>
            </a:extLst>
          </p:cNvPr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0" y="-4291"/>
            <a:ext cx="12192000" cy="685800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5" name="Immagine 4">
            <a:extLst>
              <a:ext uri="{FF2B5EF4-FFF2-40B4-BE49-F238E27FC236}">
                <a16:creationId xmlns:a16="http://schemas.microsoft.com/office/drawing/2014/main" id="{49CFCB09-BA37-4C77-84AB-F6618F3918BF}"/>
              </a:ext>
            </a:extLst>
          </p:cNvPr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9930351" y="95250"/>
            <a:ext cx="2190750" cy="676275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7" name="Rettangolo con angoli arrotondati 6">
            <a:extLst>
              <a:ext uri="{FF2B5EF4-FFF2-40B4-BE49-F238E27FC236}">
                <a16:creationId xmlns:a16="http://schemas.microsoft.com/office/drawing/2014/main" id="{926ED91D-CB13-4742-A8C3-A387191357A0}"/>
              </a:ext>
            </a:extLst>
          </p:cNvPr>
          <p:cNvSpPr/>
          <p:nvPr/>
        </p:nvSpPr>
        <p:spPr>
          <a:xfrm>
            <a:off x="9990676" y="1055216"/>
            <a:ext cx="2044700" cy="559566"/>
          </a:xfrm>
          <a:prstGeom prst="roundRect">
            <a:avLst>
              <a:gd name="adj" fmla="val 6740"/>
            </a:avLst>
          </a:prstGeom>
          <a:solidFill>
            <a:schemeClr val="accent1">
              <a:alpha val="49000"/>
            </a:schemeClr>
          </a:solidFill>
          <a:ln>
            <a:solidFill>
              <a:srgbClr val="FF0000"/>
            </a:solidFill>
          </a:ln>
          <a:effectLst>
            <a:softEdge rad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dirty="0"/>
          </a:p>
        </p:txBody>
      </p:sp>
      <p:pic>
        <p:nvPicPr>
          <p:cNvPr id="2" name="Immagine 1">
            <a:extLst>
              <a:ext uri="{FF2B5EF4-FFF2-40B4-BE49-F238E27FC236}">
                <a16:creationId xmlns:a16="http://schemas.microsoft.com/office/drawing/2014/main" id="{9396F5AB-1A14-4F7C-85AC-87F5FC00FFC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8299" y="1713500"/>
            <a:ext cx="10807427" cy="4732995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6" name="Rettangolo con angoli arrotondati 5">
            <a:extLst>
              <a:ext uri="{FF2B5EF4-FFF2-40B4-BE49-F238E27FC236}">
                <a16:creationId xmlns:a16="http://schemas.microsoft.com/office/drawing/2014/main" id="{6342637E-1343-4FB6-A221-E2910456E529}"/>
              </a:ext>
            </a:extLst>
          </p:cNvPr>
          <p:cNvSpPr/>
          <p:nvPr/>
        </p:nvSpPr>
        <p:spPr>
          <a:xfrm>
            <a:off x="762093" y="4820194"/>
            <a:ext cx="2320741" cy="1505921"/>
          </a:xfrm>
          <a:prstGeom prst="roundRect">
            <a:avLst>
              <a:gd name="adj" fmla="val 0"/>
            </a:avLst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600" b="1" dirty="0"/>
              <a:t>EASYCUT</a:t>
            </a:r>
            <a:r>
              <a:rPr lang="it-IT" sz="1600" dirty="0"/>
              <a:t> può importare i seguenti formati di file: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 sz="1600" dirty="0"/>
              <a:t>DSTV/NC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 sz="1600" dirty="0"/>
              <a:t>CAM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 dirty="0"/>
              <a:t>Sagome DXF</a:t>
            </a:r>
          </a:p>
        </p:txBody>
      </p:sp>
      <p:sp>
        <p:nvSpPr>
          <p:cNvPr id="13" name="Rettangolo con angoli arrotondati 12">
            <a:extLst>
              <a:ext uri="{FF2B5EF4-FFF2-40B4-BE49-F238E27FC236}">
                <a16:creationId xmlns:a16="http://schemas.microsoft.com/office/drawing/2014/main" id="{15689DAB-1DFF-4F39-AE47-D56EC38F7137}"/>
              </a:ext>
            </a:extLst>
          </p:cNvPr>
          <p:cNvSpPr/>
          <p:nvPr/>
        </p:nvSpPr>
        <p:spPr>
          <a:xfrm>
            <a:off x="448636" y="504852"/>
            <a:ext cx="2821577" cy="801434"/>
          </a:xfrm>
          <a:prstGeom prst="round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600" dirty="0"/>
              <a:t>IMPORT AUTOMATICO CONTORNI</a:t>
            </a:r>
          </a:p>
        </p:txBody>
      </p:sp>
    </p:spTree>
    <p:extLst>
      <p:ext uri="{BB962C8B-B14F-4D97-AF65-F5344CB8AC3E}">
        <p14:creationId xmlns:p14="http://schemas.microsoft.com/office/powerpoint/2010/main" val="165782983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magine 4">
            <a:extLst>
              <a:ext uri="{FF2B5EF4-FFF2-40B4-BE49-F238E27FC236}">
                <a16:creationId xmlns:a16="http://schemas.microsoft.com/office/drawing/2014/main" id="{B4D27CC5-F387-4102-9C9A-C4B89C798D36}"/>
              </a:ext>
            </a:extLst>
          </p:cNvPr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2192000" cy="7019778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7" name="Immagine 6">
            <a:extLst>
              <a:ext uri="{FF2B5EF4-FFF2-40B4-BE49-F238E27FC236}">
                <a16:creationId xmlns:a16="http://schemas.microsoft.com/office/drawing/2014/main" id="{AC2D0E76-5869-4D0F-A5A9-5C520C330741}"/>
              </a:ext>
            </a:extLst>
          </p:cNvPr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9870621" y="95250"/>
            <a:ext cx="2190750" cy="676275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9" name="Rettangolo con angoli arrotondati 8">
            <a:extLst>
              <a:ext uri="{FF2B5EF4-FFF2-40B4-BE49-F238E27FC236}">
                <a16:creationId xmlns:a16="http://schemas.microsoft.com/office/drawing/2014/main" id="{8807BC4C-BEFD-4103-B8FE-F1D3DAA402ED}"/>
              </a:ext>
            </a:extLst>
          </p:cNvPr>
          <p:cNvSpPr/>
          <p:nvPr/>
        </p:nvSpPr>
        <p:spPr>
          <a:xfrm>
            <a:off x="448636" y="504852"/>
            <a:ext cx="2821577" cy="840622"/>
          </a:xfrm>
          <a:prstGeom prst="round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600" dirty="0"/>
              <a:t>IMPORT AUTOMATICO CONTORNI</a:t>
            </a:r>
          </a:p>
        </p:txBody>
      </p:sp>
      <p:sp>
        <p:nvSpPr>
          <p:cNvPr id="6" name="Rettangolo con angoli arrotondati 5">
            <a:extLst>
              <a:ext uri="{FF2B5EF4-FFF2-40B4-BE49-F238E27FC236}">
                <a16:creationId xmlns:a16="http://schemas.microsoft.com/office/drawing/2014/main" id="{208EA68F-B6D9-4FF0-9997-FB303C008718}"/>
              </a:ext>
            </a:extLst>
          </p:cNvPr>
          <p:cNvSpPr/>
          <p:nvPr/>
        </p:nvSpPr>
        <p:spPr>
          <a:xfrm>
            <a:off x="9943646" y="1060844"/>
            <a:ext cx="2044700" cy="559566"/>
          </a:xfrm>
          <a:prstGeom prst="roundRect">
            <a:avLst>
              <a:gd name="adj" fmla="val 6740"/>
            </a:avLst>
          </a:prstGeom>
          <a:solidFill>
            <a:schemeClr val="accent1">
              <a:alpha val="49000"/>
            </a:schemeClr>
          </a:solidFill>
          <a:ln>
            <a:solidFill>
              <a:srgbClr val="FF0000"/>
            </a:solidFill>
          </a:ln>
          <a:effectLst>
            <a:softEdge rad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dirty="0"/>
          </a:p>
        </p:txBody>
      </p:sp>
      <p:sp>
        <p:nvSpPr>
          <p:cNvPr id="10" name="Rettangolo con angoli arrotondati 9">
            <a:extLst>
              <a:ext uri="{FF2B5EF4-FFF2-40B4-BE49-F238E27FC236}">
                <a16:creationId xmlns:a16="http://schemas.microsoft.com/office/drawing/2014/main" id="{61059D6C-65C0-4A24-97B2-36804360DAFC}"/>
              </a:ext>
            </a:extLst>
          </p:cNvPr>
          <p:cNvSpPr/>
          <p:nvPr/>
        </p:nvSpPr>
        <p:spPr>
          <a:xfrm>
            <a:off x="448636" y="5082359"/>
            <a:ext cx="2634198" cy="1270789"/>
          </a:xfrm>
          <a:prstGeom prst="roundRect">
            <a:avLst>
              <a:gd name="adj" fmla="val 0"/>
            </a:avLst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600" dirty="0"/>
              <a:t>Terminato l’import </a:t>
            </a:r>
            <a:r>
              <a:rPr lang="it-IT" sz="1600" b="1" dirty="0"/>
              <a:t>EASYCUT</a:t>
            </a:r>
            <a:r>
              <a:rPr lang="it-IT" sz="1600" dirty="0"/>
              <a:t> visualizza i contorni con le informazioni di commessa</a:t>
            </a:r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105244739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magine 3">
            <a:extLst>
              <a:ext uri="{FF2B5EF4-FFF2-40B4-BE49-F238E27FC236}">
                <a16:creationId xmlns:a16="http://schemas.microsoft.com/office/drawing/2014/main" id="{EE83D95A-BD07-4D13-97BA-37CECFF84C18}"/>
              </a:ext>
            </a:extLst>
          </p:cNvPr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0" y="-1"/>
            <a:ext cx="12192000" cy="685800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5" name="Immagine 4">
            <a:extLst>
              <a:ext uri="{FF2B5EF4-FFF2-40B4-BE49-F238E27FC236}">
                <a16:creationId xmlns:a16="http://schemas.microsoft.com/office/drawing/2014/main" id="{6222A234-136E-4152-A188-5B23649EA5A3}"/>
              </a:ext>
            </a:extLst>
          </p:cNvPr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9870621" y="95250"/>
            <a:ext cx="2190750" cy="676275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7" name="Rettangolo con angoli arrotondati 6">
            <a:extLst>
              <a:ext uri="{FF2B5EF4-FFF2-40B4-BE49-F238E27FC236}">
                <a16:creationId xmlns:a16="http://schemas.microsoft.com/office/drawing/2014/main" id="{B9C3F444-E67F-4EED-8C33-700B7B93E3D4}"/>
              </a:ext>
            </a:extLst>
          </p:cNvPr>
          <p:cNvSpPr/>
          <p:nvPr/>
        </p:nvSpPr>
        <p:spPr>
          <a:xfrm>
            <a:off x="448636" y="504852"/>
            <a:ext cx="2821577" cy="879811"/>
          </a:xfrm>
          <a:prstGeom prst="round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600" dirty="0"/>
              <a:t>QUOTATURA AUTOMATICA CONTORNI</a:t>
            </a:r>
          </a:p>
        </p:txBody>
      </p:sp>
      <p:pic>
        <p:nvPicPr>
          <p:cNvPr id="8" name="Immagine 7">
            <a:extLst>
              <a:ext uri="{FF2B5EF4-FFF2-40B4-BE49-F238E27FC236}">
                <a16:creationId xmlns:a16="http://schemas.microsoft.com/office/drawing/2014/main" id="{2030F5CF-EF08-4AB3-B8CD-789B05CD20B7}"/>
              </a:ext>
            </a:extLst>
          </p:cNvPr>
          <p:cNvPicPr>
            <a:picLocks noChangeAspect="1"/>
          </p:cNvPicPr>
          <p:nvPr/>
        </p:nvPicPr>
        <p:blipFill>
          <a:blip r:embed="rId4" cstate="print"/>
          <a:stretch>
            <a:fillRect/>
          </a:stretch>
        </p:blipFill>
        <p:spPr>
          <a:xfrm>
            <a:off x="7300459" y="71029"/>
            <a:ext cx="2533650" cy="6257925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10" name="Rettangolo con angoli arrotondati 9">
            <a:extLst>
              <a:ext uri="{FF2B5EF4-FFF2-40B4-BE49-F238E27FC236}">
                <a16:creationId xmlns:a16="http://schemas.microsoft.com/office/drawing/2014/main" id="{382DAFA3-3520-41C6-BFEF-F161A599CF99}"/>
              </a:ext>
            </a:extLst>
          </p:cNvPr>
          <p:cNvSpPr/>
          <p:nvPr/>
        </p:nvSpPr>
        <p:spPr>
          <a:xfrm>
            <a:off x="9927204" y="6049171"/>
            <a:ext cx="2044700" cy="559566"/>
          </a:xfrm>
          <a:prstGeom prst="roundRect">
            <a:avLst>
              <a:gd name="adj" fmla="val 6740"/>
            </a:avLst>
          </a:prstGeom>
          <a:solidFill>
            <a:schemeClr val="accent1">
              <a:alpha val="49000"/>
            </a:schemeClr>
          </a:solidFill>
          <a:ln>
            <a:solidFill>
              <a:srgbClr val="FF0000"/>
            </a:solidFill>
          </a:ln>
          <a:effectLst>
            <a:softEdge rad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dirty="0"/>
          </a:p>
        </p:txBody>
      </p:sp>
      <p:sp>
        <p:nvSpPr>
          <p:cNvPr id="12" name="Rettangolo con angoli arrotondati 11">
            <a:extLst>
              <a:ext uri="{FF2B5EF4-FFF2-40B4-BE49-F238E27FC236}">
                <a16:creationId xmlns:a16="http://schemas.microsoft.com/office/drawing/2014/main" id="{DA605079-85A1-4DAD-9081-44C22A3AAE36}"/>
              </a:ext>
            </a:extLst>
          </p:cNvPr>
          <p:cNvSpPr/>
          <p:nvPr/>
        </p:nvSpPr>
        <p:spPr>
          <a:xfrm>
            <a:off x="4706483" y="3108959"/>
            <a:ext cx="2463347" cy="1308395"/>
          </a:xfrm>
          <a:prstGeom prst="roundRect">
            <a:avLst>
              <a:gd name="adj" fmla="val 0"/>
            </a:avLst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600" dirty="0"/>
              <a:t>Con il modulo «DIMENSION» è possibile attivare la quotatura automatica del contorno e forature</a:t>
            </a:r>
          </a:p>
        </p:txBody>
      </p:sp>
    </p:spTree>
    <p:extLst>
      <p:ext uri="{BB962C8B-B14F-4D97-AF65-F5344CB8AC3E}">
        <p14:creationId xmlns:p14="http://schemas.microsoft.com/office/powerpoint/2010/main" val="400143458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magine 4">
            <a:extLst>
              <a:ext uri="{FF2B5EF4-FFF2-40B4-BE49-F238E27FC236}">
                <a16:creationId xmlns:a16="http://schemas.microsoft.com/office/drawing/2014/main" id="{B20D3DA2-AB14-4D03-865E-67282705DB35}"/>
              </a:ext>
            </a:extLst>
          </p:cNvPr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2192000" cy="7019778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6" name="Immagine 5">
            <a:extLst>
              <a:ext uri="{FF2B5EF4-FFF2-40B4-BE49-F238E27FC236}">
                <a16:creationId xmlns:a16="http://schemas.microsoft.com/office/drawing/2014/main" id="{D7016C06-FE90-4648-8E52-5BC35E7F7329}"/>
              </a:ext>
            </a:extLst>
          </p:cNvPr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9870621" y="95250"/>
            <a:ext cx="2190750" cy="676275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9" name="Rettangolo con angoli arrotondati 8">
            <a:extLst>
              <a:ext uri="{FF2B5EF4-FFF2-40B4-BE49-F238E27FC236}">
                <a16:creationId xmlns:a16="http://schemas.microsoft.com/office/drawing/2014/main" id="{51B5929B-09ED-49F3-9B00-382FB1D3484A}"/>
              </a:ext>
            </a:extLst>
          </p:cNvPr>
          <p:cNvSpPr/>
          <p:nvPr/>
        </p:nvSpPr>
        <p:spPr>
          <a:xfrm>
            <a:off x="448636" y="504852"/>
            <a:ext cx="2821577" cy="853685"/>
          </a:xfrm>
          <a:prstGeom prst="round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600" dirty="0"/>
              <a:t>RICERCA CONTORNI E LAMIERE</a:t>
            </a:r>
          </a:p>
        </p:txBody>
      </p:sp>
      <p:sp>
        <p:nvSpPr>
          <p:cNvPr id="8" name="Rettangolo con angoli arrotondati 7">
            <a:extLst>
              <a:ext uri="{FF2B5EF4-FFF2-40B4-BE49-F238E27FC236}">
                <a16:creationId xmlns:a16="http://schemas.microsoft.com/office/drawing/2014/main" id="{F9D16005-AAE9-461C-8916-CD6BEAEEC460}"/>
              </a:ext>
            </a:extLst>
          </p:cNvPr>
          <p:cNvSpPr/>
          <p:nvPr/>
        </p:nvSpPr>
        <p:spPr>
          <a:xfrm>
            <a:off x="9943646" y="1581884"/>
            <a:ext cx="2044700" cy="559566"/>
          </a:xfrm>
          <a:prstGeom prst="roundRect">
            <a:avLst>
              <a:gd name="adj" fmla="val 6740"/>
            </a:avLst>
          </a:prstGeom>
          <a:solidFill>
            <a:schemeClr val="accent1">
              <a:alpha val="49000"/>
            </a:schemeClr>
          </a:solidFill>
          <a:ln>
            <a:solidFill>
              <a:srgbClr val="FF0000"/>
            </a:solidFill>
          </a:ln>
          <a:effectLst>
            <a:softEdge rad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dirty="0"/>
          </a:p>
        </p:txBody>
      </p:sp>
      <p:pic>
        <p:nvPicPr>
          <p:cNvPr id="2" name="Immagine 1">
            <a:extLst>
              <a:ext uri="{FF2B5EF4-FFF2-40B4-BE49-F238E27FC236}">
                <a16:creationId xmlns:a16="http://schemas.microsoft.com/office/drawing/2014/main" id="{A6A398BC-ADCB-4D95-B1ED-C43A4FB4903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7121" y="1581884"/>
            <a:ext cx="8953500" cy="5343525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11" name="Rettangolo 10">
            <a:extLst>
              <a:ext uri="{FF2B5EF4-FFF2-40B4-BE49-F238E27FC236}">
                <a16:creationId xmlns:a16="http://schemas.microsoft.com/office/drawing/2014/main" id="{D871C85E-9698-43B6-8A3C-6FEB461B1C8D}"/>
              </a:ext>
            </a:extLst>
          </p:cNvPr>
          <p:cNvSpPr/>
          <p:nvPr/>
        </p:nvSpPr>
        <p:spPr>
          <a:xfrm>
            <a:off x="1246989" y="4650376"/>
            <a:ext cx="3729959" cy="1384663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600" dirty="0"/>
              <a:t>Per rendere agevole il lavoro </a:t>
            </a:r>
            <a:r>
              <a:rPr lang="it-IT" sz="1600" b="1" dirty="0"/>
              <a:t>EASYCUT</a:t>
            </a:r>
            <a:r>
              <a:rPr lang="it-IT" sz="1600" dirty="0"/>
              <a:t>  mette a disposizione un motore di ricerca con il quale, utilizzando i filtri, è possibile visualizzare i contorni e lamiere selezionati</a:t>
            </a:r>
          </a:p>
        </p:txBody>
      </p:sp>
    </p:spTree>
    <p:extLst>
      <p:ext uri="{BB962C8B-B14F-4D97-AF65-F5344CB8AC3E}">
        <p14:creationId xmlns:p14="http://schemas.microsoft.com/office/powerpoint/2010/main" val="358867760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magine 3">
            <a:extLst>
              <a:ext uri="{FF2B5EF4-FFF2-40B4-BE49-F238E27FC236}">
                <a16:creationId xmlns:a16="http://schemas.microsoft.com/office/drawing/2014/main" id="{631087FA-AD98-4CAC-A922-DDB8A5BAF985}"/>
              </a:ext>
            </a:extLst>
          </p:cNvPr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2192000" cy="7019778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2" name="Immagine 1">
            <a:extLst>
              <a:ext uri="{FF2B5EF4-FFF2-40B4-BE49-F238E27FC236}">
                <a16:creationId xmlns:a16="http://schemas.microsoft.com/office/drawing/2014/main" id="{DB90E9E9-94CE-45E1-ABC6-02C49E44454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8461" y="1294265"/>
            <a:ext cx="8953500" cy="5343525"/>
          </a:xfrm>
          <a:prstGeom prst="rect">
            <a:avLst/>
          </a:prstGeom>
        </p:spPr>
      </p:pic>
      <p:sp>
        <p:nvSpPr>
          <p:cNvPr id="9" name="Rettangolo con angoli arrotondati 8">
            <a:extLst>
              <a:ext uri="{FF2B5EF4-FFF2-40B4-BE49-F238E27FC236}">
                <a16:creationId xmlns:a16="http://schemas.microsoft.com/office/drawing/2014/main" id="{50D83906-885A-4D95-BD8A-53A60A2EF508}"/>
              </a:ext>
            </a:extLst>
          </p:cNvPr>
          <p:cNvSpPr/>
          <p:nvPr/>
        </p:nvSpPr>
        <p:spPr>
          <a:xfrm>
            <a:off x="448636" y="504852"/>
            <a:ext cx="2821577" cy="789413"/>
          </a:xfrm>
          <a:prstGeom prst="round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600" dirty="0"/>
              <a:t>RICERCA CONTORNI</a:t>
            </a:r>
          </a:p>
        </p:txBody>
      </p:sp>
      <p:pic>
        <p:nvPicPr>
          <p:cNvPr id="3" name="Immagine 2">
            <a:extLst>
              <a:ext uri="{FF2B5EF4-FFF2-40B4-BE49-F238E27FC236}">
                <a16:creationId xmlns:a16="http://schemas.microsoft.com/office/drawing/2014/main" id="{AD5F1FE5-5B9E-4B1F-8268-FF8F0DB263B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04314" y="48390"/>
            <a:ext cx="7639050" cy="603885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7" name="Freccia circolare in su 6">
            <a:extLst>
              <a:ext uri="{FF2B5EF4-FFF2-40B4-BE49-F238E27FC236}">
                <a16:creationId xmlns:a16="http://schemas.microsoft.com/office/drawing/2014/main" id="{3DA284AA-3975-4A4B-9C3E-8AA002DA93D9}"/>
              </a:ext>
            </a:extLst>
          </p:cNvPr>
          <p:cNvSpPr/>
          <p:nvPr/>
        </p:nvSpPr>
        <p:spPr>
          <a:xfrm rot="18666722">
            <a:off x="6187899" y="5757085"/>
            <a:ext cx="1891784" cy="757091"/>
          </a:xfrm>
          <a:prstGeom prst="curvedUpArrow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>
              <a:solidFill>
                <a:schemeClr val="tx1"/>
              </a:solidFill>
            </a:endParaRPr>
          </a:p>
        </p:txBody>
      </p:sp>
      <p:sp>
        <p:nvSpPr>
          <p:cNvPr id="10" name="Rettangolo 9">
            <a:extLst>
              <a:ext uri="{FF2B5EF4-FFF2-40B4-BE49-F238E27FC236}">
                <a16:creationId xmlns:a16="http://schemas.microsoft.com/office/drawing/2014/main" id="{66669683-0EA0-486D-BC87-7E78DCAE4066}"/>
              </a:ext>
            </a:extLst>
          </p:cNvPr>
          <p:cNvSpPr/>
          <p:nvPr/>
        </p:nvSpPr>
        <p:spPr>
          <a:xfrm>
            <a:off x="7867478" y="5563735"/>
            <a:ext cx="3005888" cy="104208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600" b="1" dirty="0"/>
              <a:t>EASYCUT</a:t>
            </a:r>
            <a:r>
              <a:rPr lang="it-IT" sz="1600" dirty="0"/>
              <a:t> offre la possibilità di esportare qualsiasi report in formato HTML</a:t>
            </a:r>
          </a:p>
        </p:txBody>
      </p:sp>
    </p:spTree>
    <p:extLst>
      <p:ext uri="{BB962C8B-B14F-4D97-AF65-F5344CB8AC3E}">
        <p14:creationId xmlns:p14="http://schemas.microsoft.com/office/powerpoint/2010/main" val="157231776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magine 3">
            <a:extLst>
              <a:ext uri="{FF2B5EF4-FFF2-40B4-BE49-F238E27FC236}">
                <a16:creationId xmlns:a16="http://schemas.microsoft.com/office/drawing/2014/main" id="{1E57CCB2-E263-409E-A12F-285CD0CCFBA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11" name="Rettangolo con angoli arrotondati 10">
            <a:extLst>
              <a:ext uri="{FF2B5EF4-FFF2-40B4-BE49-F238E27FC236}">
                <a16:creationId xmlns:a16="http://schemas.microsoft.com/office/drawing/2014/main" id="{F1EE3776-E092-43A5-839D-D8D41E5F9E22}"/>
              </a:ext>
            </a:extLst>
          </p:cNvPr>
          <p:cNvSpPr/>
          <p:nvPr/>
        </p:nvSpPr>
        <p:spPr>
          <a:xfrm>
            <a:off x="418012" y="503124"/>
            <a:ext cx="2821577" cy="1042080"/>
          </a:xfrm>
          <a:prstGeom prst="round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600" dirty="0"/>
              <a:t>DEFINIZIONE AUTOMATICA DEI CONTORNI DISEGNATI MANUALMENTE</a:t>
            </a:r>
          </a:p>
        </p:txBody>
      </p:sp>
      <p:pic>
        <p:nvPicPr>
          <p:cNvPr id="7" name="Immagine 6">
            <a:extLst>
              <a:ext uri="{FF2B5EF4-FFF2-40B4-BE49-F238E27FC236}">
                <a16:creationId xmlns:a16="http://schemas.microsoft.com/office/drawing/2014/main" id="{C1D45827-3B8B-4BBC-A221-4E9031D737E0}"/>
              </a:ext>
            </a:extLst>
          </p:cNvPr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9771924" y="95250"/>
            <a:ext cx="2190750" cy="676275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9" name="Rettangolo con angoli arrotondati 8">
            <a:extLst>
              <a:ext uri="{FF2B5EF4-FFF2-40B4-BE49-F238E27FC236}">
                <a16:creationId xmlns:a16="http://schemas.microsoft.com/office/drawing/2014/main" id="{E037502D-C91E-467F-ADC1-6E9773B7B284}"/>
              </a:ext>
            </a:extLst>
          </p:cNvPr>
          <p:cNvSpPr/>
          <p:nvPr/>
        </p:nvSpPr>
        <p:spPr>
          <a:xfrm>
            <a:off x="9844949" y="2108200"/>
            <a:ext cx="2044700" cy="1028700"/>
          </a:xfrm>
          <a:prstGeom prst="roundRect">
            <a:avLst>
              <a:gd name="adj" fmla="val 6740"/>
            </a:avLst>
          </a:prstGeom>
          <a:solidFill>
            <a:schemeClr val="accent1">
              <a:alpha val="49000"/>
            </a:schemeClr>
          </a:solidFill>
          <a:ln>
            <a:solidFill>
              <a:srgbClr val="FF0000"/>
            </a:solidFill>
          </a:ln>
          <a:effectLst>
            <a:softEdge rad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dirty="0"/>
          </a:p>
        </p:txBody>
      </p:sp>
      <p:pic>
        <p:nvPicPr>
          <p:cNvPr id="5" name="Immagine 4">
            <a:extLst>
              <a:ext uri="{FF2B5EF4-FFF2-40B4-BE49-F238E27FC236}">
                <a16:creationId xmlns:a16="http://schemas.microsoft.com/office/drawing/2014/main" id="{B53B4349-4BF3-4C0F-8A7F-E16FC989780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39612" y="503124"/>
            <a:ext cx="4457700" cy="558165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12" name="Rettangolo 11">
            <a:extLst>
              <a:ext uri="{FF2B5EF4-FFF2-40B4-BE49-F238E27FC236}">
                <a16:creationId xmlns:a16="http://schemas.microsoft.com/office/drawing/2014/main" id="{76C6A75E-7CAB-4B5C-8957-2D478922B6A5}"/>
              </a:ext>
            </a:extLst>
          </p:cNvPr>
          <p:cNvSpPr/>
          <p:nvPr/>
        </p:nvSpPr>
        <p:spPr>
          <a:xfrm>
            <a:off x="2343422" y="4426677"/>
            <a:ext cx="2821578" cy="1928199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600" dirty="0"/>
              <a:t>Per mezzo della procedura di riconoscimento del contorno, viene definito lo spessore, il senso di percorrenza e la compensazione di taglio, oltre alla commessa, fase e nome del contorno.</a:t>
            </a:r>
          </a:p>
        </p:txBody>
      </p:sp>
    </p:spTree>
    <p:extLst>
      <p:ext uri="{BB962C8B-B14F-4D97-AF65-F5344CB8AC3E}">
        <p14:creationId xmlns:p14="http://schemas.microsoft.com/office/powerpoint/2010/main" val="326558982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Immagine 9">
            <a:extLst>
              <a:ext uri="{FF2B5EF4-FFF2-40B4-BE49-F238E27FC236}">
                <a16:creationId xmlns:a16="http://schemas.microsoft.com/office/drawing/2014/main" id="{87BA4FFC-7E49-41E4-B4DA-E539724DEFB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11" name="Rettangolo con angoli arrotondati 10">
            <a:extLst>
              <a:ext uri="{FF2B5EF4-FFF2-40B4-BE49-F238E27FC236}">
                <a16:creationId xmlns:a16="http://schemas.microsoft.com/office/drawing/2014/main" id="{D4557541-E3FA-47CE-94A7-0F6FC0DFBE29}"/>
              </a:ext>
            </a:extLst>
          </p:cNvPr>
          <p:cNvSpPr/>
          <p:nvPr/>
        </p:nvSpPr>
        <p:spPr>
          <a:xfrm>
            <a:off x="418012" y="503124"/>
            <a:ext cx="2821577" cy="829287"/>
          </a:xfrm>
          <a:prstGeom prst="round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600" dirty="0"/>
              <a:t>INFORMAZIONI DINAMICHE DEI CONTORNI</a:t>
            </a:r>
          </a:p>
        </p:txBody>
      </p:sp>
      <p:pic>
        <p:nvPicPr>
          <p:cNvPr id="12" name="Immagine 11">
            <a:extLst>
              <a:ext uri="{FF2B5EF4-FFF2-40B4-BE49-F238E27FC236}">
                <a16:creationId xmlns:a16="http://schemas.microsoft.com/office/drawing/2014/main" id="{A5EB1847-986C-4B2B-9AE5-43EA7500504F}"/>
              </a:ext>
            </a:extLst>
          </p:cNvPr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9771924" y="95250"/>
            <a:ext cx="2190750" cy="676275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13" name="Rettangolo con angoli arrotondati 12">
            <a:extLst>
              <a:ext uri="{FF2B5EF4-FFF2-40B4-BE49-F238E27FC236}">
                <a16:creationId xmlns:a16="http://schemas.microsoft.com/office/drawing/2014/main" id="{F5AFEEEB-CD8A-46F3-9720-4537E293CD5C}"/>
              </a:ext>
            </a:extLst>
          </p:cNvPr>
          <p:cNvSpPr/>
          <p:nvPr/>
        </p:nvSpPr>
        <p:spPr>
          <a:xfrm>
            <a:off x="9844949" y="2108200"/>
            <a:ext cx="2044700" cy="1028700"/>
          </a:xfrm>
          <a:prstGeom prst="roundRect">
            <a:avLst>
              <a:gd name="adj" fmla="val 6740"/>
            </a:avLst>
          </a:prstGeom>
          <a:solidFill>
            <a:schemeClr val="accent1">
              <a:alpha val="49000"/>
            </a:schemeClr>
          </a:solidFill>
          <a:ln>
            <a:solidFill>
              <a:srgbClr val="FF0000"/>
            </a:solidFill>
          </a:ln>
          <a:effectLst>
            <a:softEdge rad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dirty="0"/>
          </a:p>
        </p:txBody>
      </p:sp>
      <p:pic>
        <p:nvPicPr>
          <p:cNvPr id="2" name="Immagine 1">
            <a:extLst>
              <a:ext uri="{FF2B5EF4-FFF2-40B4-BE49-F238E27FC236}">
                <a16:creationId xmlns:a16="http://schemas.microsoft.com/office/drawing/2014/main" id="{5F331D5D-7ED6-4897-9739-635EA1B45D36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29881" t="27836" r="40833" b="14482"/>
          <a:stretch/>
        </p:blipFill>
        <p:spPr>
          <a:xfrm>
            <a:off x="4720500" y="1718031"/>
            <a:ext cx="3570514" cy="3789112"/>
          </a:xfrm>
          <a:prstGeom prst="rect">
            <a:avLst/>
          </a:prstGeom>
        </p:spPr>
      </p:pic>
      <p:sp>
        <p:nvSpPr>
          <p:cNvPr id="14" name="Rettangolo 13">
            <a:extLst>
              <a:ext uri="{FF2B5EF4-FFF2-40B4-BE49-F238E27FC236}">
                <a16:creationId xmlns:a16="http://schemas.microsoft.com/office/drawing/2014/main" id="{3B2E8C26-C47D-4890-82CE-3AAEC0936062}"/>
              </a:ext>
            </a:extLst>
          </p:cNvPr>
          <p:cNvSpPr/>
          <p:nvPr/>
        </p:nvSpPr>
        <p:spPr>
          <a:xfrm>
            <a:off x="229326" y="5108460"/>
            <a:ext cx="3225388" cy="1084749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it-IT" sz="1600" dirty="0"/>
              <a:t>Con un semplice «click» è possibile interrogare o modificare gli attributi del contorno</a:t>
            </a:r>
          </a:p>
        </p:txBody>
      </p:sp>
    </p:spTree>
    <p:extLst>
      <p:ext uri="{BB962C8B-B14F-4D97-AF65-F5344CB8AC3E}">
        <p14:creationId xmlns:p14="http://schemas.microsoft.com/office/powerpoint/2010/main" val="311489919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magine 3">
            <a:extLst>
              <a:ext uri="{FF2B5EF4-FFF2-40B4-BE49-F238E27FC236}">
                <a16:creationId xmlns:a16="http://schemas.microsoft.com/office/drawing/2014/main" id="{AAA85A80-D920-4265-9876-6C6069E9394B}"/>
              </a:ext>
            </a:extLst>
          </p:cNvPr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0" y="3798"/>
            <a:ext cx="12192000" cy="6854201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5" name="Immagine 4">
            <a:extLst>
              <a:ext uri="{FF2B5EF4-FFF2-40B4-BE49-F238E27FC236}">
                <a16:creationId xmlns:a16="http://schemas.microsoft.com/office/drawing/2014/main" id="{4F8141AA-47EA-4CA0-9D89-509A871D07C4}"/>
              </a:ext>
            </a:extLst>
          </p:cNvPr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9845346" y="0"/>
            <a:ext cx="2190750" cy="676275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8" name="Immagine 7">
            <a:extLst>
              <a:ext uri="{FF2B5EF4-FFF2-40B4-BE49-F238E27FC236}">
                <a16:creationId xmlns:a16="http://schemas.microsoft.com/office/drawing/2014/main" id="{E7112DFB-7F23-4394-B379-5C65FC591FD3}"/>
              </a:ext>
            </a:extLst>
          </p:cNvPr>
          <p:cNvPicPr>
            <a:picLocks noChangeAspect="1"/>
          </p:cNvPicPr>
          <p:nvPr/>
        </p:nvPicPr>
        <p:blipFill>
          <a:blip r:embed="rId4" cstate="print"/>
          <a:stretch>
            <a:fillRect/>
          </a:stretch>
        </p:blipFill>
        <p:spPr>
          <a:xfrm>
            <a:off x="8488883" y="3251031"/>
            <a:ext cx="3048000" cy="337185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9" name="Immagine 8">
            <a:extLst>
              <a:ext uri="{FF2B5EF4-FFF2-40B4-BE49-F238E27FC236}">
                <a16:creationId xmlns:a16="http://schemas.microsoft.com/office/drawing/2014/main" id="{E2DDF80A-9F5B-4EFC-96B7-79EE078BEF78}"/>
              </a:ext>
            </a:extLst>
          </p:cNvPr>
          <p:cNvPicPr>
            <a:picLocks noChangeAspect="1"/>
          </p:cNvPicPr>
          <p:nvPr/>
        </p:nvPicPr>
        <p:blipFill>
          <a:blip r:embed="rId5" cstate="print"/>
          <a:stretch>
            <a:fillRect/>
          </a:stretch>
        </p:blipFill>
        <p:spPr>
          <a:xfrm>
            <a:off x="2714838" y="34589"/>
            <a:ext cx="7067550" cy="2981325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7" name="Rettangolo con angoli arrotondati 6">
            <a:extLst>
              <a:ext uri="{FF2B5EF4-FFF2-40B4-BE49-F238E27FC236}">
                <a16:creationId xmlns:a16="http://schemas.microsoft.com/office/drawing/2014/main" id="{B01E10A3-FA24-4596-977E-F1672CF9B812}"/>
              </a:ext>
            </a:extLst>
          </p:cNvPr>
          <p:cNvSpPr/>
          <p:nvPr/>
        </p:nvSpPr>
        <p:spPr>
          <a:xfrm>
            <a:off x="448636" y="504852"/>
            <a:ext cx="2821577" cy="814497"/>
          </a:xfrm>
          <a:prstGeom prst="round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600" dirty="0"/>
              <a:t>DEFINIZIONE UTILIZZO LAMIERE</a:t>
            </a:r>
          </a:p>
        </p:txBody>
      </p:sp>
      <p:sp>
        <p:nvSpPr>
          <p:cNvPr id="10" name="Rettangolo con angoli arrotondati 9">
            <a:extLst>
              <a:ext uri="{FF2B5EF4-FFF2-40B4-BE49-F238E27FC236}">
                <a16:creationId xmlns:a16="http://schemas.microsoft.com/office/drawing/2014/main" id="{CAC2709B-A0AE-4819-928D-49CC6CBB3BD0}"/>
              </a:ext>
            </a:extLst>
          </p:cNvPr>
          <p:cNvSpPr/>
          <p:nvPr/>
        </p:nvSpPr>
        <p:spPr>
          <a:xfrm>
            <a:off x="7617882" y="235484"/>
            <a:ext cx="1809291" cy="407921"/>
          </a:xfrm>
          <a:prstGeom prst="round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600" dirty="0"/>
              <a:t>STOCK LAMIERE</a:t>
            </a:r>
          </a:p>
        </p:txBody>
      </p:sp>
      <p:sp>
        <p:nvSpPr>
          <p:cNvPr id="11" name="Rettangolo con angoli arrotondati 10">
            <a:extLst>
              <a:ext uri="{FF2B5EF4-FFF2-40B4-BE49-F238E27FC236}">
                <a16:creationId xmlns:a16="http://schemas.microsoft.com/office/drawing/2014/main" id="{AC76D540-CD34-4332-A363-CB81534A9041}"/>
              </a:ext>
            </a:extLst>
          </p:cNvPr>
          <p:cNvSpPr/>
          <p:nvPr/>
        </p:nvSpPr>
        <p:spPr>
          <a:xfrm>
            <a:off x="6266654" y="6076960"/>
            <a:ext cx="2190750" cy="477742"/>
          </a:xfrm>
          <a:prstGeom prst="round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600" dirty="0"/>
              <a:t>LAMIERE SINGOLE</a:t>
            </a:r>
          </a:p>
        </p:txBody>
      </p:sp>
      <p:sp>
        <p:nvSpPr>
          <p:cNvPr id="12" name="Rettangolo con angoli arrotondati 11">
            <a:extLst>
              <a:ext uri="{FF2B5EF4-FFF2-40B4-BE49-F238E27FC236}">
                <a16:creationId xmlns:a16="http://schemas.microsoft.com/office/drawing/2014/main" id="{DAFB9698-D133-4236-90B0-7E5B57C9426F}"/>
              </a:ext>
            </a:extLst>
          </p:cNvPr>
          <p:cNvSpPr/>
          <p:nvPr/>
        </p:nvSpPr>
        <p:spPr>
          <a:xfrm>
            <a:off x="9902644" y="2019300"/>
            <a:ext cx="2044700" cy="1028700"/>
          </a:xfrm>
          <a:prstGeom prst="roundRect">
            <a:avLst>
              <a:gd name="adj" fmla="val 6740"/>
            </a:avLst>
          </a:prstGeom>
          <a:solidFill>
            <a:schemeClr val="accent1">
              <a:alpha val="49000"/>
            </a:schemeClr>
          </a:solidFill>
          <a:ln>
            <a:solidFill>
              <a:srgbClr val="FF0000"/>
            </a:solidFill>
          </a:ln>
          <a:effectLst>
            <a:softEdge rad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dirty="0"/>
          </a:p>
        </p:txBody>
      </p:sp>
      <p:sp>
        <p:nvSpPr>
          <p:cNvPr id="13" name="Rettangolo 12">
            <a:extLst>
              <a:ext uri="{FF2B5EF4-FFF2-40B4-BE49-F238E27FC236}">
                <a16:creationId xmlns:a16="http://schemas.microsoft.com/office/drawing/2014/main" id="{EDE63EF5-0957-42F1-966F-BDED242893CD}"/>
              </a:ext>
            </a:extLst>
          </p:cNvPr>
          <p:cNvSpPr/>
          <p:nvPr/>
        </p:nvSpPr>
        <p:spPr>
          <a:xfrm>
            <a:off x="4963886" y="3251032"/>
            <a:ext cx="3493518" cy="2091678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it-IT" sz="1600" b="1" dirty="0"/>
              <a:t>EASYCUT</a:t>
            </a:r>
            <a:r>
              <a:rPr lang="it-IT" sz="1600" dirty="0"/>
              <a:t> mette a disposizione il modulo «SHEET» con il quale vengono definite le lamiere da utilizzare in fase di </a:t>
            </a:r>
            <a:r>
              <a:rPr lang="it-IT" sz="1600" dirty="0" err="1"/>
              <a:t>Nesting</a:t>
            </a:r>
            <a:r>
              <a:rPr lang="it-IT" sz="1600" dirty="0"/>
              <a:t>.</a:t>
            </a:r>
          </a:p>
          <a:p>
            <a:r>
              <a:rPr lang="it-IT" sz="1600" dirty="0"/>
              <a:t>Le lamiere possono essere rettangolari o con contorno irregolare, inserite singolarmente o gestendo lo stock di magazzino</a:t>
            </a:r>
          </a:p>
        </p:txBody>
      </p:sp>
    </p:spTree>
    <p:extLst>
      <p:ext uri="{BB962C8B-B14F-4D97-AF65-F5344CB8AC3E}">
        <p14:creationId xmlns:p14="http://schemas.microsoft.com/office/powerpoint/2010/main" val="31077392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magine 3">
            <a:extLst>
              <a:ext uri="{FF2B5EF4-FFF2-40B4-BE49-F238E27FC236}">
                <a16:creationId xmlns:a16="http://schemas.microsoft.com/office/drawing/2014/main" id="{7A606B97-CA9D-4ACC-8A9A-AF6A304316E6}"/>
              </a:ext>
            </a:extLst>
          </p:cNvPr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5" name="Immagine 4">
            <a:extLst>
              <a:ext uri="{FF2B5EF4-FFF2-40B4-BE49-F238E27FC236}">
                <a16:creationId xmlns:a16="http://schemas.microsoft.com/office/drawing/2014/main" id="{59F2A77B-A811-49C5-AB25-B02E3FAEFF05}"/>
              </a:ext>
            </a:extLst>
          </p:cNvPr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9845346" y="0"/>
            <a:ext cx="2190750" cy="676275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6" name="Rettangolo con angoli arrotondati 5">
            <a:extLst>
              <a:ext uri="{FF2B5EF4-FFF2-40B4-BE49-F238E27FC236}">
                <a16:creationId xmlns:a16="http://schemas.microsoft.com/office/drawing/2014/main" id="{AFC67AC8-4DCD-4C08-A0B6-F4B49FE24106}"/>
              </a:ext>
            </a:extLst>
          </p:cNvPr>
          <p:cNvSpPr/>
          <p:nvPr/>
        </p:nvSpPr>
        <p:spPr>
          <a:xfrm>
            <a:off x="9918371" y="3029209"/>
            <a:ext cx="2044700" cy="863523"/>
          </a:xfrm>
          <a:prstGeom prst="roundRect">
            <a:avLst>
              <a:gd name="adj" fmla="val 6740"/>
            </a:avLst>
          </a:prstGeom>
          <a:solidFill>
            <a:schemeClr val="accent1">
              <a:alpha val="49000"/>
            </a:schemeClr>
          </a:solidFill>
          <a:ln>
            <a:solidFill>
              <a:srgbClr val="FF0000"/>
            </a:solidFill>
          </a:ln>
          <a:effectLst>
            <a:softEdge rad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dirty="0"/>
          </a:p>
        </p:txBody>
      </p:sp>
      <p:sp>
        <p:nvSpPr>
          <p:cNvPr id="7" name="Rettangolo con angoli arrotondati 6">
            <a:extLst>
              <a:ext uri="{FF2B5EF4-FFF2-40B4-BE49-F238E27FC236}">
                <a16:creationId xmlns:a16="http://schemas.microsoft.com/office/drawing/2014/main" id="{BC376420-6E99-4829-A70E-39BF982B0230}"/>
              </a:ext>
            </a:extLst>
          </p:cNvPr>
          <p:cNvSpPr/>
          <p:nvPr/>
        </p:nvSpPr>
        <p:spPr>
          <a:xfrm>
            <a:off x="448636" y="504852"/>
            <a:ext cx="2821577" cy="680642"/>
          </a:xfrm>
          <a:prstGeom prst="round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600" dirty="0"/>
              <a:t>DEFINIZIONE ATTACCHI</a:t>
            </a:r>
          </a:p>
        </p:txBody>
      </p:sp>
      <p:sp>
        <p:nvSpPr>
          <p:cNvPr id="9" name="Fumetto: rettangolo 8">
            <a:extLst>
              <a:ext uri="{FF2B5EF4-FFF2-40B4-BE49-F238E27FC236}">
                <a16:creationId xmlns:a16="http://schemas.microsoft.com/office/drawing/2014/main" id="{A5F4DF3E-C930-420C-B25B-EAF8CD743B0F}"/>
              </a:ext>
            </a:extLst>
          </p:cNvPr>
          <p:cNvSpPr/>
          <p:nvPr/>
        </p:nvSpPr>
        <p:spPr>
          <a:xfrm>
            <a:off x="3286604" y="1393150"/>
            <a:ext cx="1964666" cy="680642"/>
          </a:xfrm>
          <a:prstGeom prst="wedgeRectCallout">
            <a:avLst>
              <a:gd name="adj1" fmla="val -62797"/>
              <a:gd name="adj2" fmla="val 142956"/>
            </a:avLst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dirty="0"/>
              <a:t>Attacco tangente</a:t>
            </a:r>
          </a:p>
        </p:txBody>
      </p:sp>
      <p:sp>
        <p:nvSpPr>
          <p:cNvPr id="10" name="Fumetto: rettangolo 9">
            <a:extLst>
              <a:ext uri="{FF2B5EF4-FFF2-40B4-BE49-F238E27FC236}">
                <a16:creationId xmlns:a16="http://schemas.microsoft.com/office/drawing/2014/main" id="{AF823331-590B-40E9-97F7-858680DE340F}"/>
              </a:ext>
            </a:extLst>
          </p:cNvPr>
          <p:cNvSpPr/>
          <p:nvPr/>
        </p:nvSpPr>
        <p:spPr>
          <a:xfrm>
            <a:off x="1448460" y="4004079"/>
            <a:ext cx="1964666" cy="680642"/>
          </a:xfrm>
          <a:prstGeom prst="wedgeRectCallout">
            <a:avLst>
              <a:gd name="adj1" fmla="val -77205"/>
              <a:gd name="adj2" fmla="val 200975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dirty="0"/>
              <a:t>Attacco rettilineo</a:t>
            </a:r>
          </a:p>
        </p:txBody>
      </p:sp>
      <p:pic>
        <p:nvPicPr>
          <p:cNvPr id="11" name="Immagine 10">
            <a:extLst>
              <a:ext uri="{FF2B5EF4-FFF2-40B4-BE49-F238E27FC236}">
                <a16:creationId xmlns:a16="http://schemas.microsoft.com/office/drawing/2014/main" id="{12BD45C6-FE45-47DA-802B-65BCB101B16E}"/>
              </a:ext>
            </a:extLst>
          </p:cNvPr>
          <p:cNvPicPr>
            <a:picLocks noChangeAspect="1"/>
          </p:cNvPicPr>
          <p:nvPr/>
        </p:nvPicPr>
        <p:blipFill>
          <a:blip r:embed="rId4" cstate="print"/>
          <a:stretch>
            <a:fillRect/>
          </a:stretch>
        </p:blipFill>
        <p:spPr>
          <a:xfrm>
            <a:off x="4421705" y="2248900"/>
            <a:ext cx="4457700" cy="419100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12" name="Rettangolo con angoli arrotondati 11">
            <a:extLst>
              <a:ext uri="{FF2B5EF4-FFF2-40B4-BE49-F238E27FC236}">
                <a16:creationId xmlns:a16="http://schemas.microsoft.com/office/drawing/2014/main" id="{D3E99E10-212E-48D8-A43A-5AD6281170F1}"/>
              </a:ext>
            </a:extLst>
          </p:cNvPr>
          <p:cNvSpPr/>
          <p:nvPr/>
        </p:nvSpPr>
        <p:spPr>
          <a:xfrm>
            <a:off x="4467085" y="4191000"/>
            <a:ext cx="4314965" cy="1928446"/>
          </a:xfrm>
          <a:prstGeom prst="roundRect">
            <a:avLst>
              <a:gd name="adj" fmla="val 3587"/>
            </a:avLst>
          </a:prstGeom>
          <a:solidFill>
            <a:schemeClr val="accent1">
              <a:alpha val="49000"/>
            </a:schemeClr>
          </a:solidFill>
          <a:ln>
            <a:solidFill>
              <a:srgbClr val="FF0000"/>
            </a:solidFill>
          </a:ln>
          <a:effectLst>
            <a:softEdge rad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dirty="0"/>
          </a:p>
        </p:txBody>
      </p:sp>
      <p:sp>
        <p:nvSpPr>
          <p:cNvPr id="13" name="Rettangolo con angoli arrotondati 12">
            <a:extLst>
              <a:ext uri="{FF2B5EF4-FFF2-40B4-BE49-F238E27FC236}">
                <a16:creationId xmlns:a16="http://schemas.microsoft.com/office/drawing/2014/main" id="{20BA46BA-9A52-48D2-845D-6063CBC80758}"/>
              </a:ext>
            </a:extLst>
          </p:cNvPr>
          <p:cNvSpPr/>
          <p:nvPr/>
        </p:nvSpPr>
        <p:spPr>
          <a:xfrm>
            <a:off x="6556818" y="302749"/>
            <a:ext cx="3145276" cy="1771043"/>
          </a:xfrm>
          <a:prstGeom prst="roundRect">
            <a:avLst>
              <a:gd name="adj" fmla="val 1852"/>
            </a:avLst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600" b="1" dirty="0"/>
              <a:t>EASYCUT</a:t>
            </a:r>
            <a:r>
              <a:rPr lang="it-IT" sz="1600" dirty="0"/>
              <a:t> definisce in modo manuale o automatico i punti di attacco e sfondamento in entrata e uscita della torcia con geometrie rettilinee o tangenziali secondo la forma del contorno</a:t>
            </a:r>
          </a:p>
        </p:txBody>
      </p:sp>
    </p:spTree>
    <p:extLst>
      <p:ext uri="{BB962C8B-B14F-4D97-AF65-F5344CB8AC3E}">
        <p14:creationId xmlns:p14="http://schemas.microsoft.com/office/powerpoint/2010/main" val="422889499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magine 3">
            <a:extLst>
              <a:ext uri="{FF2B5EF4-FFF2-40B4-BE49-F238E27FC236}">
                <a16:creationId xmlns:a16="http://schemas.microsoft.com/office/drawing/2014/main" id="{97B63716-A224-462E-A9DB-23D01A2BBBD3}"/>
              </a:ext>
            </a:extLst>
          </p:cNvPr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2192000" cy="7061982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5" name="Immagine 4">
            <a:extLst>
              <a:ext uri="{FF2B5EF4-FFF2-40B4-BE49-F238E27FC236}">
                <a16:creationId xmlns:a16="http://schemas.microsoft.com/office/drawing/2014/main" id="{703E0CC9-B00F-4CE7-B973-DCA7EB36B496}"/>
              </a:ext>
            </a:extLst>
          </p:cNvPr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9845346" y="0"/>
            <a:ext cx="2190750" cy="676275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7" name="Rettangolo con angoli arrotondati 6">
            <a:extLst>
              <a:ext uri="{FF2B5EF4-FFF2-40B4-BE49-F238E27FC236}">
                <a16:creationId xmlns:a16="http://schemas.microsoft.com/office/drawing/2014/main" id="{CEEF0B63-3BED-4D38-A1FC-060276EA6DDA}"/>
              </a:ext>
            </a:extLst>
          </p:cNvPr>
          <p:cNvSpPr/>
          <p:nvPr/>
        </p:nvSpPr>
        <p:spPr>
          <a:xfrm>
            <a:off x="440350" y="549388"/>
            <a:ext cx="2821577" cy="1042080"/>
          </a:xfrm>
          <a:prstGeom prst="round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600" dirty="0"/>
              <a:t>MODIFICA MANUALE DELLE POSIZIONI DEI CONTORNI</a:t>
            </a:r>
          </a:p>
        </p:txBody>
      </p:sp>
      <p:pic>
        <p:nvPicPr>
          <p:cNvPr id="8" name="Immagine 7">
            <a:extLst>
              <a:ext uri="{FF2B5EF4-FFF2-40B4-BE49-F238E27FC236}">
                <a16:creationId xmlns:a16="http://schemas.microsoft.com/office/drawing/2014/main" id="{C1A39145-4A50-420B-AE79-4B9D0DE13F7B}"/>
              </a:ext>
            </a:extLst>
          </p:cNvPr>
          <p:cNvPicPr>
            <a:picLocks noChangeAspect="1"/>
          </p:cNvPicPr>
          <p:nvPr/>
        </p:nvPicPr>
        <p:blipFill>
          <a:blip r:embed="rId4" cstate="print"/>
          <a:stretch>
            <a:fillRect/>
          </a:stretch>
        </p:blipFill>
        <p:spPr>
          <a:xfrm>
            <a:off x="6054544" y="2205424"/>
            <a:ext cx="3714750" cy="4676775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9" name="Immagine 8">
            <a:extLst>
              <a:ext uri="{FF2B5EF4-FFF2-40B4-BE49-F238E27FC236}">
                <a16:creationId xmlns:a16="http://schemas.microsoft.com/office/drawing/2014/main" id="{0B7C025D-1688-46E5-BD2C-D5A035DF3E20}"/>
              </a:ext>
            </a:extLst>
          </p:cNvPr>
          <p:cNvPicPr>
            <a:picLocks noChangeAspect="1"/>
          </p:cNvPicPr>
          <p:nvPr/>
        </p:nvPicPr>
        <p:blipFill>
          <a:blip r:embed="rId5" cstate="print"/>
          <a:stretch>
            <a:fillRect/>
          </a:stretch>
        </p:blipFill>
        <p:spPr>
          <a:xfrm>
            <a:off x="1320404" y="2503709"/>
            <a:ext cx="1949809" cy="1850582"/>
          </a:xfrm>
          <a:prstGeom prst="rect">
            <a:avLst/>
          </a:prstGeom>
        </p:spPr>
      </p:pic>
      <p:sp>
        <p:nvSpPr>
          <p:cNvPr id="11" name="Rettangolo con angoli arrotondati 10">
            <a:extLst>
              <a:ext uri="{FF2B5EF4-FFF2-40B4-BE49-F238E27FC236}">
                <a16:creationId xmlns:a16="http://schemas.microsoft.com/office/drawing/2014/main" id="{5A73BE8A-8BAF-4FE4-9125-B60EE95FE239}"/>
              </a:ext>
            </a:extLst>
          </p:cNvPr>
          <p:cNvSpPr/>
          <p:nvPr/>
        </p:nvSpPr>
        <p:spPr>
          <a:xfrm>
            <a:off x="9915344" y="3835400"/>
            <a:ext cx="2044700" cy="787400"/>
          </a:xfrm>
          <a:prstGeom prst="roundRect">
            <a:avLst>
              <a:gd name="adj" fmla="val 6740"/>
            </a:avLst>
          </a:prstGeom>
          <a:solidFill>
            <a:schemeClr val="accent1">
              <a:alpha val="49000"/>
            </a:schemeClr>
          </a:solidFill>
          <a:ln>
            <a:solidFill>
              <a:srgbClr val="FF0000"/>
            </a:solidFill>
          </a:ln>
          <a:effectLst>
            <a:softEdge rad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dirty="0"/>
          </a:p>
        </p:txBody>
      </p:sp>
      <p:sp>
        <p:nvSpPr>
          <p:cNvPr id="12" name="Rettangolo con angoli arrotondati 11">
            <a:extLst>
              <a:ext uri="{FF2B5EF4-FFF2-40B4-BE49-F238E27FC236}">
                <a16:creationId xmlns:a16="http://schemas.microsoft.com/office/drawing/2014/main" id="{D7993E4F-5881-4189-8497-2BEF3B93F51A}"/>
              </a:ext>
            </a:extLst>
          </p:cNvPr>
          <p:cNvSpPr/>
          <p:nvPr/>
        </p:nvSpPr>
        <p:spPr>
          <a:xfrm>
            <a:off x="3513909" y="63114"/>
            <a:ext cx="6331437" cy="2079196"/>
          </a:xfrm>
          <a:prstGeom prst="roundRect">
            <a:avLst>
              <a:gd name="adj" fmla="val 1852"/>
            </a:avLst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600" dirty="0"/>
              <a:t>Se il </a:t>
            </a:r>
            <a:r>
              <a:rPr lang="it-IT" sz="1600" dirty="0" err="1"/>
              <a:t>Nesting</a:t>
            </a:r>
            <a:r>
              <a:rPr lang="it-IT" sz="1600" dirty="0"/>
              <a:t> automatico non soddisfa le esigenze di taglio sono possibili modifiche e integrazioni manuali con i seguenti «tools»:</a:t>
            </a:r>
          </a:p>
          <a:p>
            <a:pPr algn="ctr"/>
            <a:endParaRPr lang="it-IT" sz="16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 sz="1600" dirty="0"/>
              <a:t>Spostamento del contorno con verifica di interferenze e sovrapposizioni (metodo TETRIX ).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 sz="1600" dirty="0"/>
              <a:t>Inserimento manuale di nuovi contorni.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 sz="1600" dirty="0"/>
              <a:t>Inserimento in serie di contorni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 sz="1600" dirty="0"/>
              <a:t>Spostamento contorni (metodo LEAN-ON)</a:t>
            </a:r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368705155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magine 1">
            <a:extLst>
              <a:ext uri="{FF2B5EF4-FFF2-40B4-BE49-F238E27FC236}">
                <a16:creationId xmlns:a16="http://schemas.microsoft.com/office/drawing/2014/main" id="{0C406371-DC3A-449E-9A85-B135E78C8956}"/>
              </a:ext>
            </a:extLst>
          </p:cNvPr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8" name="Rettangolo con angoli arrotondati 7">
            <a:extLst>
              <a:ext uri="{FF2B5EF4-FFF2-40B4-BE49-F238E27FC236}">
                <a16:creationId xmlns:a16="http://schemas.microsoft.com/office/drawing/2014/main" id="{55D7F2E1-BDB4-498D-9B76-30D9B185614E}"/>
              </a:ext>
            </a:extLst>
          </p:cNvPr>
          <p:cNvSpPr/>
          <p:nvPr/>
        </p:nvSpPr>
        <p:spPr>
          <a:xfrm>
            <a:off x="448636" y="504852"/>
            <a:ext cx="2821577" cy="736119"/>
          </a:xfrm>
          <a:prstGeom prst="round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600" dirty="0"/>
              <a:t>NESTING LAMIERE</a:t>
            </a:r>
          </a:p>
        </p:txBody>
      </p:sp>
      <p:pic>
        <p:nvPicPr>
          <p:cNvPr id="9" name="Immagine 8">
            <a:extLst>
              <a:ext uri="{FF2B5EF4-FFF2-40B4-BE49-F238E27FC236}">
                <a16:creationId xmlns:a16="http://schemas.microsoft.com/office/drawing/2014/main" id="{3B2D0B6E-2F86-4C75-9D21-E7917647B18B}"/>
              </a:ext>
            </a:extLst>
          </p:cNvPr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3919354" y="447576"/>
            <a:ext cx="5815874" cy="2981423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12" name="Immagine 11">
            <a:extLst>
              <a:ext uri="{FF2B5EF4-FFF2-40B4-BE49-F238E27FC236}">
                <a16:creationId xmlns:a16="http://schemas.microsoft.com/office/drawing/2014/main" id="{A6EA2609-4376-4BA5-89B4-6024917CC2E3}"/>
              </a:ext>
            </a:extLst>
          </p:cNvPr>
          <p:cNvPicPr>
            <a:picLocks noChangeAspect="1"/>
          </p:cNvPicPr>
          <p:nvPr/>
        </p:nvPicPr>
        <p:blipFill>
          <a:blip r:embed="rId4" cstate="print"/>
          <a:stretch>
            <a:fillRect/>
          </a:stretch>
        </p:blipFill>
        <p:spPr>
          <a:xfrm>
            <a:off x="9845346" y="0"/>
            <a:ext cx="2190750" cy="676275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10" name="Rettangolo con angoli arrotondati 9">
            <a:extLst>
              <a:ext uri="{FF2B5EF4-FFF2-40B4-BE49-F238E27FC236}">
                <a16:creationId xmlns:a16="http://schemas.microsoft.com/office/drawing/2014/main" id="{AF2D8A34-D266-412B-BFFB-5AA9A48FC245}"/>
              </a:ext>
            </a:extLst>
          </p:cNvPr>
          <p:cNvSpPr/>
          <p:nvPr/>
        </p:nvSpPr>
        <p:spPr>
          <a:xfrm>
            <a:off x="9915344" y="4635500"/>
            <a:ext cx="2044700" cy="1308100"/>
          </a:xfrm>
          <a:prstGeom prst="roundRect">
            <a:avLst>
              <a:gd name="adj" fmla="val 6740"/>
            </a:avLst>
          </a:prstGeom>
          <a:solidFill>
            <a:schemeClr val="accent1">
              <a:alpha val="49000"/>
            </a:schemeClr>
          </a:solidFill>
          <a:ln>
            <a:solidFill>
              <a:srgbClr val="FF0000"/>
            </a:solidFill>
          </a:ln>
          <a:effectLst>
            <a:softEdge rad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dirty="0"/>
          </a:p>
        </p:txBody>
      </p:sp>
      <p:sp>
        <p:nvSpPr>
          <p:cNvPr id="11" name="Rettangolo con angoli arrotondati 10">
            <a:extLst>
              <a:ext uri="{FF2B5EF4-FFF2-40B4-BE49-F238E27FC236}">
                <a16:creationId xmlns:a16="http://schemas.microsoft.com/office/drawing/2014/main" id="{57CC8844-16FF-4B78-9E10-C9297B75FEAA}"/>
              </a:ext>
            </a:extLst>
          </p:cNvPr>
          <p:cNvSpPr/>
          <p:nvPr/>
        </p:nvSpPr>
        <p:spPr>
          <a:xfrm>
            <a:off x="6539411" y="3487651"/>
            <a:ext cx="3195817" cy="1801899"/>
          </a:xfrm>
          <a:prstGeom prst="roundRect">
            <a:avLst>
              <a:gd name="adj" fmla="val 1852"/>
            </a:avLst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dirty="0"/>
              <a:t> Con </a:t>
            </a:r>
            <a:r>
              <a:rPr lang="it-IT" sz="1600" b="1" dirty="0"/>
              <a:t>EASYCUT</a:t>
            </a:r>
            <a:r>
              <a:rPr lang="it-IT" sz="1600" dirty="0"/>
              <a:t> è possibile eseguire </a:t>
            </a:r>
            <a:r>
              <a:rPr lang="it-IT" sz="1600" dirty="0" err="1"/>
              <a:t>Nesting</a:t>
            </a:r>
            <a:r>
              <a:rPr lang="it-IT" sz="1600" dirty="0"/>
              <a:t> automatici con forme rettangolari per utilizzo in fase d’ordine materiale o </a:t>
            </a:r>
            <a:r>
              <a:rPr lang="it-IT" sz="1600" dirty="0" err="1"/>
              <a:t>Nesting</a:t>
            </a:r>
            <a:r>
              <a:rPr lang="it-IT" sz="1600" dirty="0"/>
              <a:t> di taglio avanzati (Part in Part) per diminuire lo sfrido della lamiera.</a:t>
            </a:r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216266748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magine 3">
            <a:extLst>
              <a:ext uri="{FF2B5EF4-FFF2-40B4-BE49-F238E27FC236}">
                <a16:creationId xmlns:a16="http://schemas.microsoft.com/office/drawing/2014/main" id="{89C55C94-EFF5-4D77-B1F8-AB5B050073C3}"/>
              </a:ext>
            </a:extLst>
          </p:cNvPr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2192000" cy="6857999"/>
          </a:xfrm>
          <a:prstGeom prst="rect">
            <a:avLst/>
          </a:prstGeom>
        </p:spPr>
      </p:pic>
      <p:sp>
        <p:nvSpPr>
          <p:cNvPr id="5" name="Rettangolo con angoli arrotondati 4">
            <a:extLst>
              <a:ext uri="{FF2B5EF4-FFF2-40B4-BE49-F238E27FC236}">
                <a16:creationId xmlns:a16="http://schemas.microsoft.com/office/drawing/2014/main" id="{4EF79E21-8F2B-4372-A135-15DAAD055A4B}"/>
              </a:ext>
            </a:extLst>
          </p:cNvPr>
          <p:cNvSpPr/>
          <p:nvPr/>
        </p:nvSpPr>
        <p:spPr>
          <a:xfrm>
            <a:off x="448636" y="504852"/>
            <a:ext cx="2821577" cy="775308"/>
          </a:xfrm>
          <a:prstGeom prst="round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600" dirty="0"/>
              <a:t>NESTING LAMIERE MULTI TORCIA</a:t>
            </a:r>
          </a:p>
        </p:txBody>
      </p:sp>
      <p:pic>
        <p:nvPicPr>
          <p:cNvPr id="7" name="Immagine 6">
            <a:extLst>
              <a:ext uri="{FF2B5EF4-FFF2-40B4-BE49-F238E27FC236}">
                <a16:creationId xmlns:a16="http://schemas.microsoft.com/office/drawing/2014/main" id="{13345579-81D6-4097-9BFF-472E8810A826}"/>
              </a:ext>
            </a:extLst>
          </p:cNvPr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9845346" y="0"/>
            <a:ext cx="2190750" cy="676275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6" name="Rettangolo con angoli arrotondati 5">
            <a:extLst>
              <a:ext uri="{FF2B5EF4-FFF2-40B4-BE49-F238E27FC236}">
                <a16:creationId xmlns:a16="http://schemas.microsoft.com/office/drawing/2014/main" id="{69031DAB-99F7-408F-9C6D-28AB8DE00F77}"/>
              </a:ext>
            </a:extLst>
          </p:cNvPr>
          <p:cNvSpPr/>
          <p:nvPr/>
        </p:nvSpPr>
        <p:spPr>
          <a:xfrm>
            <a:off x="9915344" y="4635500"/>
            <a:ext cx="2044700" cy="1308100"/>
          </a:xfrm>
          <a:prstGeom prst="roundRect">
            <a:avLst>
              <a:gd name="adj" fmla="val 6740"/>
            </a:avLst>
          </a:prstGeom>
          <a:solidFill>
            <a:schemeClr val="accent1">
              <a:alpha val="49000"/>
            </a:schemeClr>
          </a:solidFill>
          <a:ln>
            <a:solidFill>
              <a:srgbClr val="FF0000"/>
            </a:solidFill>
          </a:ln>
          <a:effectLst>
            <a:softEdge rad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dirty="0"/>
          </a:p>
        </p:txBody>
      </p:sp>
      <p:sp>
        <p:nvSpPr>
          <p:cNvPr id="9" name="Rettangolo con angoli arrotondati 8">
            <a:extLst>
              <a:ext uri="{FF2B5EF4-FFF2-40B4-BE49-F238E27FC236}">
                <a16:creationId xmlns:a16="http://schemas.microsoft.com/office/drawing/2014/main" id="{945452C6-2A8E-4FE2-A635-8AF568CD119F}"/>
              </a:ext>
            </a:extLst>
          </p:cNvPr>
          <p:cNvSpPr/>
          <p:nvPr/>
        </p:nvSpPr>
        <p:spPr>
          <a:xfrm>
            <a:off x="6493625" y="4415113"/>
            <a:ext cx="3195817" cy="992909"/>
          </a:xfrm>
          <a:prstGeom prst="roundRect">
            <a:avLst>
              <a:gd name="adj" fmla="val 1852"/>
            </a:avLst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600" b="1" dirty="0"/>
              <a:t>EASYCUT</a:t>
            </a:r>
            <a:r>
              <a:rPr lang="it-IT" sz="1600" dirty="0"/>
              <a:t> può gestire il taglio con multi torce in modalità «pantografo»</a:t>
            </a:r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286710182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magine 3">
            <a:extLst>
              <a:ext uri="{FF2B5EF4-FFF2-40B4-BE49-F238E27FC236}">
                <a16:creationId xmlns:a16="http://schemas.microsoft.com/office/drawing/2014/main" id="{9D5FA6D3-C101-4336-A1B3-DCED48F16E0B}"/>
              </a:ext>
            </a:extLst>
          </p:cNvPr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5" name="Immagine 4">
            <a:extLst>
              <a:ext uri="{FF2B5EF4-FFF2-40B4-BE49-F238E27FC236}">
                <a16:creationId xmlns:a16="http://schemas.microsoft.com/office/drawing/2014/main" id="{498CCDC8-7BBF-4160-A71D-66EF85AB3EF4}"/>
              </a:ext>
            </a:extLst>
          </p:cNvPr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9845346" y="0"/>
            <a:ext cx="2190750" cy="676275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7" name="Rettangolo con angoli arrotondati 6">
            <a:extLst>
              <a:ext uri="{FF2B5EF4-FFF2-40B4-BE49-F238E27FC236}">
                <a16:creationId xmlns:a16="http://schemas.microsoft.com/office/drawing/2014/main" id="{9D9737F9-2D13-4534-88C0-6789CAF5A9BF}"/>
              </a:ext>
            </a:extLst>
          </p:cNvPr>
          <p:cNvSpPr/>
          <p:nvPr/>
        </p:nvSpPr>
        <p:spPr>
          <a:xfrm>
            <a:off x="448636" y="504852"/>
            <a:ext cx="2821577" cy="918999"/>
          </a:xfrm>
          <a:prstGeom prst="round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600" dirty="0"/>
              <a:t>CALCOLO SFRIDO LAMIERA</a:t>
            </a:r>
          </a:p>
        </p:txBody>
      </p:sp>
      <p:pic>
        <p:nvPicPr>
          <p:cNvPr id="8" name="Immagine 7">
            <a:extLst>
              <a:ext uri="{FF2B5EF4-FFF2-40B4-BE49-F238E27FC236}">
                <a16:creationId xmlns:a16="http://schemas.microsoft.com/office/drawing/2014/main" id="{F5B1E6C7-10FB-479E-9B65-4405B9AC761F}"/>
              </a:ext>
            </a:extLst>
          </p:cNvPr>
          <p:cNvPicPr>
            <a:picLocks noChangeAspect="1"/>
          </p:cNvPicPr>
          <p:nvPr/>
        </p:nvPicPr>
        <p:blipFill>
          <a:blip r:embed="rId4" cstate="print"/>
          <a:stretch>
            <a:fillRect/>
          </a:stretch>
        </p:blipFill>
        <p:spPr>
          <a:xfrm>
            <a:off x="3270213" y="1891298"/>
            <a:ext cx="3905250" cy="1781175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9" name="Freccia circolare in su 8">
            <a:extLst>
              <a:ext uri="{FF2B5EF4-FFF2-40B4-BE49-F238E27FC236}">
                <a16:creationId xmlns:a16="http://schemas.microsoft.com/office/drawing/2014/main" id="{B07599F0-40DD-4D4B-8523-1C4F960076D1}"/>
              </a:ext>
            </a:extLst>
          </p:cNvPr>
          <p:cNvSpPr/>
          <p:nvPr/>
        </p:nvSpPr>
        <p:spPr>
          <a:xfrm>
            <a:off x="1045029" y="2455817"/>
            <a:ext cx="1426339" cy="649625"/>
          </a:xfrm>
          <a:prstGeom prst="curvedUp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>
              <a:solidFill>
                <a:schemeClr val="tx1"/>
              </a:solidFill>
            </a:endParaRPr>
          </a:p>
        </p:txBody>
      </p:sp>
      <p:sp>
        <p:nvSpPr>
          <p:cNvPr id="10" name="Rettangolo con angoli arrotondati 9">
            <a:extLst>
              <a:ext uri="{FF2B5EF4-FFF2-40B4-BE49-F238E27FC236}">
                <a16:creationId xmlns:a16="http://schemas.microsoft.com/office/drawing/2014/main" id="{88944DC7-00A5-44DF-AEEF-C995B6AE92DB}"/>
              </a:ext>
            </a:extLst>
          </p:cNvPr>
          <p:cNvSpPr/>
          <p:nvPr/>
        </p:nvSpPr>
        <p:spPr>
          <a:xfrm>
            <a:off x="9915344" y="1993900"/>
            <a:ext cx="2044700" cy="1098842"/>
          </a:xfrm>
          <a:prstGeom prst="roundRect">
            <a:avLst>
              <a:gd name="adj" fmla="val 6740"/>
            </a:avLst>
          </a:prstGeom>
          <a:solidFill>
            <a:schemeClr val="accent1">
              <a:alpha val="49000"/>
            </a:schemeClr>
          </a:solidFill>
          <a:ln>
            <a:solidFill>
              <a:srgbClr val="FF0000"/>
            </a:solidFill>
          </a:ln>
          <a:effectLst>
            <a:softEdge rad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dirty="0"/>
          </a:p>
        </p:txBody>
      </p:sp>
      <p:sp>
        <p:nvSpPr>
          <p:cNvPr id="11" name="Rettangolo con angoli arrotondati 10">
            <a:extLst>
              <a:ext uri="{FF2B5EF4-FFF2-40B4-BE49-F238E27FC236}">
                <a16:creationId xmlns:a16="http://schemas.microsoft.com/office/drawing/2014/main" id="{36E3A0A9-CC03-41C6-A4A9-E0F1198DDF9E}"/>
              </a:ext>
            </a:extLst>
          </p:cNvPr>
          <p:cNvSpPr/>
          <p:nvPr/>
        </p:nvSpPr>
        <p:spPr>
          <a:xfrm>
            <a:off x="6493625" y="4415113"/>
            <a:ext cx="3195817" cy="992909"/>
          </a:xfrm>
          <a:prstGeom prst="roundRect">
            <a:avLst>
              <a:gd name="adj" fmla="val 1852"/>
            </a:avLst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600" dirty="0"/>
              <a:t>Terminato</a:t>
            </a:r>
            <a:r>
              <a:rPr lang="it-IT" sz="1600" b="1" dirty="0"/>
              <a:t> </a:t>
            </a:r>
            <a:r>
              <a:rPr lang="it-IT" sz="1600" dirty="0"/>
              <a:t>il </a:t>
            </a:r>
            <a:r>
              <a:rPr lang="it-IT" sz="1600" dirty="0" err="1"/>
              <a:t>Nesting</a:t>
            </a:r>
            <a:r>
              <a:rPr lang="it-IT" sz="1600" dirty="0"/>
              <a:t> </a:t>
            </a:r>
            <a:r>
              <a:rPr lang="it-IT" sz="1600" b="1" dirty="0"/>
              <a:t>EASYCUT</a:t>
            </a:r>
            <a:r>
              <a:rPr lang="it-IT" sz="1600" dirty="0"/>
              <a:t> è in grado di calcolare e gestire lo sfrido della lamiera</a:t>
            </a:r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108974222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magine 3">
            <a:extLst>
              <a:ext uri="{FF2B5EF4-FFF2-40B4-BE49-F238E27FC236}">
                <a16:creationId xmlns:a16="http://schemas.microsoft.com/office/drawing/2014/main" id="{06883D07-C78D-4EFB-97A5-48127F770EA7}"/>
              </a:ext>
            </a:extLst>
          </p:cNvPr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5" name="Immagine 4">
            <a:extLst>
              <a:ext uri="{FF2B5EF4-FFF2-40B4-BE49-F238E27FC236}">
                <a16:creationId xmlns:a16="http://schemas.microsoft.com/office/drawing/2014/main" id="{AB7E3E69-B469-4C4F-9C1A-83D47A7E4E18}"/>
              </a:ext>
            </a:extLst>
          </p:cNvPr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9845346" y="0"/>
            <a:ext cx="2190750" cy="676275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2" name="Immagine 1">
            <a:extLst>
              <a:ext uri="{FF2B5EF4-FFF2-40B4-BE49-F238E27FC236}">
                <a16:creationId xmlns:a16="http://schemas.microsoft.com/office/drawing/2014/main" id="{4A421EFC-773B-4018-9B7D-68B46BDDE2C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09471" y="323707"/>
            <a:ext cx="7562850" cy="495300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7" name="Rettangolo con angoli arrotondati 6">
            <a:extLst>
              <a:ext uri="{FF2B5EF4-FFF2-40B4-BE49-F238E27FC236}">
                <a16:creationId xmlns:a16="http://schemas.microsoft.com/office/drawing/2014/main" id="{39142655-5D66-481E-87D9-EDC3C3C68E4E}"/>
              </a:ext>
            </a:extLst>
          </p:cNvPr>
          <p:cNvSpPr/>
          <p:nvPr/>
        </p:nvSpPr>
        <p:spPr>
          <a:xfrm>
            <a:off x="448636" y="504852"/>
            <a:ext cx="2821577" cy="1042080"/>
          </a:xfrm>
          <a:prstGeom prst="round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600" dirty="0"/>
              <a:t>NESTING</a:t>
            </a:r>
          </a:p>
          <a:p>
            <a:pPr algn="ctr"/>
            <a:r>
              <a:rPr lang="it-IT" sz="1600" dirty="0"/>
              <a:t>INFORMAZIONI CONTORNI SULLA LAMIERA</a:t>
            </a:r>
          </a:p>
        </p:txBody>
      </p:sp>
      <p:sp>
        <p:nvSpPr>
          <p:cNvPr id="10" name="Rettangolo con angoli arrotondati 9">
            <a:extLst>
              <a:ext uri="{FF2B5EF4-FFF2-40B4-BE49-F238E27FC236}">
                <a16:creationId xmlns:a16="http://schemas.microsoft.com/office/drawing/2014/main" id="{E55EC45F-05AE-4877-8E97-2508DBBAEF26}"/>
              </a:ext>
            </a:extLst>
          </p:cNvPr>
          <p:cNvSpPr/>
          <p:nvPr/>
        </p:nvSpPr>
        <p:spPr>
          <a:xfrm>
            <a:off x="9915344" y="4635500"/>
            <a:ext cx="2044700" cy="1308100"/>
          </a:xfrm>
          <a:prstGeom prst="roundRect">
            <a:avLst>
              <a:gd name="adj" fmla="val 6740"/>
            </a:avLst>
          </a:prstGeom>
          <a:solidFill>
            <a:schemeClr val="accent1">
              <a:alpha val="49000"/>
            </a:schemeClr>
          </a:solidFill>
          <a:ln>
            <a:solidFill>
              <a:srgbClr val="FF0000"/>
            </a:solidFill>
          </a:ln>
          <a:effectLst>
            <a:softEdge rad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dirty="0"/>
          </a:p>
        </p:txBody>
      </p:sp>
      <p:sp>
        <p:nvSpPr>
          <p:cNvPr id="11" name="Rettangolo con angoli arrotondati 10">
            <a:extLst>
              <a:ext uri="{FF2B5EF4-FFF2-40B4-BE49-F238E27FC236}">
                <a16:creationId xmlns:a16="http://schemas.microsoft.com/office/drawing/2014/main" id="{8D976BF6-E88A-4015-9629-79505CF1D113}"/>
              </a:ext>
            </a:extLst>
          </p:cNvPr>
          <p:cNvSpPr/>
          <p:nvPr/>
        </p:nvSpPr>
        <p:spPr>
          <a:xfrm>
            <a:off x="5107193" y="5447145"/>
            <a:ext cx="4635911" cy="1087148"/>
          </a:xfrm>
          <a:prstGeom prst="roundRect">
            <a:avLst>
              <a:gd name="adj" fmla="val 1852"/>
            </a:avLst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600" dirty="0"/>
              <a:t>Le informazioni riportano il peso della lamiera, dei contorni ricavati, dello sfrido, la velocità di avanzamento della torcia, il tempo di taglio di contorni e attacchi e molto altro.</a:t>
            </a:r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197918853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magine 3">
            <a:extLst>
              <a:ext uri="{FF2B5EF4-FFF2-40B4-BE49-F238E27FC236}">
                <a16:creationId xmlns:a16="http://schemas.microsoft.com/office/drawing/2014/main" id="{06883D07-C78D-4EFB-97A5-48127F770EA7}"/>
              </a:ext>
            </a:extLst>
          </p:cNvPr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5" name="Immagine 4">
            <a:extLst>
              <a:ext uri="{FF2B5EF4-FFF2-40B4-BE49-F238E27FC236}">
                <a16:creationId xmlns:a16="http://schemas.microsoft.com/office/drawing/2014/main" id="{AB7E3E69-B469-4C4F-9C1A-83D47A7E4E18}"/>
              </a:ext>
            </a:extLst>
          </p:cNvPr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9845346" y="0"/>
            <a:ext cx="2190750" cy="676275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7" name="Rettangolo con angoli arrotondati 6">
            <a:extLst>
              <a:ext uri="{FF2B5EF4-FFF2-40B4-BE49-F238E27FC236}">
                <a16:creationId xmlns:a16="http://schemas.microsoft.com/office/drawing/2014/main" id="{39142655-5D66-481E-87D9-EDC3C3C68E4E}"/>
              </a:ext>
            </a:extLst>
          </p:cNvPr>
          <p:cNvSpPr/>
          <p:nvPr/>
        </p:nvSpPr>
        <p:spPr>
          <a:xfrm>
            <a:off x="448636" y="504852"/>
            <a:ext cx="2821577" cy="1042080"/>
          </a:xfrm>
          <a:prstGeom prst="round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600" dirty="0"/>
              <a:t>NESTING</a:t>
            </a:r>
          </a:p>
          <a:p>
            <a:pPr algn="ctr"/>
            <a:r>
              <a:rPr lang="it-IT" sz="1600" dirty="0"/>
              <a:t>INFORMAZIONI CONTORNI SULLA LAMIERA</a:t>
            </a:r>
          </a:p>
        </p:txBody>
      </p:sp>
      <p:pic>
        <p:nvPicPr>
          <p:cNvPr id="11" name="Immagine 10">
            <a:extLst>
              <a:ext uri="{FF2B5EF4-FFF2-40B4-BE49-F238E27FC236}">
                <a16:creationId xmlns:a16="http://schemas.microsoft.com/office/drawing/2014/main" id="{0F0DF4E2-DE6F-4A07-B158-B3C35E43302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82496" y="1546932"/>
            <a:ext cx="7562850" cy="495300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10" name="Rettangolo con angoli arrotondati 9">
            <a:extLst>
              <a:ext uri="{FF2B5EF4-FFF2-40B4-BE49-F238E27FC236}">
                <a16:creationId xmlns:a16="http://schemas.microsoft.com/office/drawing/2014/main" id="{35D0CA49-25F0-44C3-9F02-7F1F4047325D}"/>
              </a:ext>
            </a:extLst>
          </p:cNvPr>
          <p:cNvSpPr/>
          <p:nvPr/>
        </p:nvSpPr>
        <p:spPr>
          <a:xfrm>
            <a:off x="3306022" y="5683893"/>
            <a:ext cx="2304048" cy="587829"/>
          </a:xfrm>
          <a:prstGeom prst="round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600" dirty="0"/>
              <a:t>Report utilizzo lamiera</a:t>
            </a:r>
          </a:p>
        </p:txBody>
      </p:sp>
      <p:sp>
        <p:nvSpPr>
          <p:cNvPr id="12" name="Rettangolo con angoli arrotondati 11">
            <a:extLst>
              <a:ext uri="{FF2B5EF4-FFF2-40B4-BE49-F238E27FC236}">
                <a16:creationId xmlns:a16="http://schemas.microsoft.com/office/drawing/2014/main" id="{7CA096D8-9DEC-4204-B0B4-5C88CA8B4A82}"/>
              </a:ext>
            </a:extLst>
          </p:cNvPr>
          <p:cNvSpPr/>
          <p:nvPr/>
        </p:nvSpPr>
        <p:spPr>
          <a:xfrm>
            <a:off x="9915344" y="4635500"/>
            <a:ext cx="2044700" cy="1308100"/>
          </a:xfrm>
          <a:prstGeom prst="roundRect">
            <a:avLst>
              <a:gd name="adj" fmla="val 6740"/>
            </a:avLst>
          </a:prstGeom>
          <a:solidFill>
            <a:schemeClr val="accent1">
              <a:alpha val="49000"/>
            </a:schemeClr>
          </a:solidFill>
          <a:ln>
            <a:solidFill>
              <a:srgbClr val="FF0000"/>
            </a:solidFill>
          </a:ln>
          <a:effectLst>
            <a:softEdge rad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dirty="0"/>
          </a:p>
        </p:txBody>
      </p:sp>
      <p:pic>
        <p:nvPicPr>
          <p:cNvPr id="3" name="Immagine 2">
            <a:extLst>
              <a:ext uri="{FF2B5EF4-FFF2-40B4-BE49-F238E27FC236}">
                <a16:creationId xmlns:a16="http://schemas.microsoft.com/office/drawing/2014/main" id="{D9E571C2-167C-4EFA-954A-EF97C1A608DB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b="6702"/>
          <a:stretch/>
        </p:blipFill>
        <p:spPr>
          <a:xfrm>
            <a:off x="3718849" y="0"/>
            <a:ext cx="7639050" cy="5634055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9" name="Freccia circolare in su 8">
            <a:extLst>
              <a:ext uri="{FF2B5EF4-FFF2-40B4-BE49-F238E27FC236}">
                <a16:creationId xmlns:a16="http://schemas.microsoft.com/office/drawing/2014/main" id="{77101440-1B07-42FE-8C57-04397462E946}"/>
              </a:ext>
            </a:extLst>
          </p:cNvPr>
          <p:cNvSpPr/>
          <p:nvPr/>
        </p:nvSpPr>
        <p:spPr>
          <a:xfrm rot="18666722">
            <a:off x="6632848" y="5649297"/>
            <a:ext cx="1891784" cy="757091"/>
          </a:xfrm>
          <a:prstGeom prst="curvedUpArrow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>
              <a:solidFill>
                <a:schemeClr val="tx1"/>
              </a:solidFill>
            </a:endParaRPr>
          </a:p>
        </p:txBody>
      </p:sp>
      <p:sp>
        <p:nvSpPr>
          <p:cNvPr id="13" name="Rettangolo 12">
            <a:extLst>
              <a:ext uri="{FF2B5EF4-FFF2-40B4-BE49-F238E27FC236}">
                <a16:creationId xmlns:a16="http://schemas.microsoft.com/office/drawing/2014/main" id="{F65692B1-87D5-4713-BA2F-84555DA971F9}"/>
              </a:ext>
            </a:extLst>
          </p:cNvPr>
          <p:cNvSpPr/>
          <p:nvPr/>
        </p:nvSpPr>
        <p:spPr>
          <a:xfrm>
            <a:off x="8673318" y="5720670"/>
            <a:ext cx="3005888" cy="104208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600" b="1" dirty="0"/>
              <a:t>EASYCUT</a:t>
            </a:r>
            <a:r>
              <a:rPr lang="it-IT" sz="1600" dirty="0"/>
              <a:t> offre la possibilità di esportare qualsiasi report in formato HTML</a:t>
            </a:r>
          </a:p>
        </p:txBody>
      </p:sp>
    </p:spTree>
    <p:extLst>
      <p:ext uri="{BB962C8B-B14F-4D97-AF65-F5344CB8AC3E}">
        <p14:creationId xmlns:p14="http://schemas.microsoft.com/office/powerpoint/2010/main" val="2055237648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magine 3">
            <a:extLst>
              <a:ext uri="{FF2B5EF4-FFF2-40B4-BE49-F238E27FC236}">
                <a16:creationId xmlns:a16="http://schemas.microsoft.com/office/drawing/2014/main" id="{06883D07-C78D-4EFB-97A5-48127F770EA7}"/>
              </a:ext>
            </a:extLst>
          </p:cNvPr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5" name="Immagine 4">
            <a:extLst>
              <a:ext uri="{FF2B5EF4-FFF2-40B4-BE49-F238E27FC236}">
                <a16:creationId xmlns:a16="http://schemas.microsoft.com/office/drawing/2014/main" id="{AB7E3E69-B469-4C4F-9C1A-83D47A7E4E18}"/>
              </a:ext>
            </a:extLst>
          </p:cNvPr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9845346" y="0"/>
            <a:ext cx="2190750" cy="676275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6" name="Rettangolo con angoli arrotondati 5">
            <a:extLst>
              <a:ext uri="{FF2B5EF4-FFF2-40B4-BE49-F238E27FC236}">
                <a16:creationId xmlns:a16="http://schemas.microsoft.com/office/drawing/2014/main" id="{C104BEEC-4760-4ADC-A831-CCC076A04342}"/>
              </a:ext>
            </a:extLst>
          </p:cNvPr>
          <p:cNvSpPr/>
          <p:nvPr/>
        </p:nvSpPr>
        <p:spPr>
          <a:xfrm>
            <a:off x="9918371" y="4583690"/>
            <a:ext cx="2044700" cy="1346847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dirty="0"/>
          </a:p>
        </p:txBody>
      </p:sp>
      <p:pic>
        <p:nvPicPr>
          <p:cNvPr id="2" name="Immagine 1">
            <a:extLst>
              <a:ext uri="{FF2B5EF4-FFF2-40B4-BE49-F238E27FC236}">
                <a16:creationId xmlns:a16="http://schemas.microsoft.com/office/drawing/2014/main" id="{620B8B62-41F6-4867-8B39-9E292F86E7E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99314" y="95250"/>
            <a:ext cx="9544050" cy="643890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7" name="Rettangolo con angoli arrotondati 6">
            <a:extLst>
              <a:ext uri="{FF2B5EF4-FFF2-40B4-BE49-F238E27FC236}">
                <a16:creationId xmlns:a16="http://schemas.microsoft.com/office/drawing/2014/main" id="{39142655-5D66-481E-87D9-EDC3C3C68E4E}"/>
              </a:ext>
            </a:extLst>
          </p:cNvPr>
          <p:cNvSpPr/>
          <p:nvPr/>
        </p:nvSpPr>
        <p:spPr>
          <a:xfrm>
            <a:off x="448636" y="504852"/>
            <a:ext cx="2821577" cy="1042080"/>
          </a:xfrm>
          <a:prstGeom prst="round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600" dirty="0"/>
              <a:t>WEB NESTING</a:t>
            </a:r>
          </a:p>
          <a:p>
            <a:pPr algn="ctr"/>
            <a:r>
              <a:rPr lang="it-IT" sz="1600" dirty="0"/>
              <a:t>GESTIONALE PER UTILIZZO LAMIERE E CONTORNI</a:t>
            </a:r>
          </a:p>
        </p:txBody>
      </p:sp>
      <p:sp>
        <p:nvSpPr>
          <p:cNvPr id="8" name="Rettangolo 7">
            <a:extLst>
              <a:ext uri="{FF2B5EF4-FFF2-40B4-BE49-F238E27FC236}">
                <a16:creationId xmlns:a16="http://schemas.microsoft.com/office/drawing/2014/main" id="{8FB286E5-1784-41DE-81AA-3C914AE3D527}"/>
              </a:ext>
            </a:extLst>
          </p:cNvPr>
          <p:cNvSpPr/>
          <p:nvPr/>
        </p:nvSpPr>
        <p:spPr>
          <a:xfrm>
            <a:off x="228928" y="4741817"/>
            <a:ext cx="3245791" cy="1906633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600" b="1" dirty="0"/>
              <a:t>EASYCUT</a:t>
            </a:r>
            <a:r>
              <a:rPr lang="it-IT" sz="1600" dirty="0"/>
              <a:t> mette a disposizione un gestionale in formato HTML dove vengono inserite le lavorazioni di taglio, le lamiere impiegate e relativi contorni suddivisi per commessa/fase/nome</a:t>
            </a:r>
          </a:p>
        </p:txBody>
      </p:sp>
    </p:spTree>
    <p:extLst>
      <p:ext uri="{BB962C8B-B14F-4D97-AF65-F5344CB8AC3E}">
        <p14:creationId xmlns:p14="http://schemas.microsoft.com/office/powerpoint/2010/main" val="814977676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magine 3">
            <a:extLst>
              <a:ext uri="{FF2B5EF4-FFF2-40B4-BE49-F238E27FC236}">
                <a16:creationId xmlns:a16="http://schemas.microsoft.com/office/drawing/2014/main" id="{1A14D86C-B426-498D-A9A4-8845148BB25E}"/>
              </a:ext>
            </a:extLst>
          </p:cNvPr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6" name="Immagine 5">
            <a:extLst>
              <a:ext uri="{FF2B5EF4-FFF2-40B4-BE49-F238E27FC236}">
                <a16:creationId xmlns:a16="http://schemas.microsoft.com/office/drawing/2014/main" id="{FC99ECE0-6D73-43D2-B60C-D87AE4751483}"/>
              </a:ext>
            </a:extLst>
          </p:cNvPr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2818439" y="0"/>
            <a:ext cx="8924925" cy="6534150"/>
          </a:xfrm>
          <a:prstGeom prst="rect">
            <a:avLst/>
          </a:prstGeom>
        </p:spPr>
      </p:pic>
      <p:sp>
        <p:nvSpPr>
          <p:cNvPr id="5" name="Rettangolo con angoli arrotondati 4">
            <a:extLst>
              <a:ext uri="{FF2B5EF4-FFF2-40B4-BE49-F238E27FC236}">
                <a16:creationId xmlns:a16="http://schemas.microsoft.com/office/drawing/2014/main" id="{499A2108-69AE-4B5E-B9D9-F042E1FB0ADD}"/>
              </a:ext>
            </a:extLst>
          </p:cNvPr>
          <p:cNvSpPr/>
          <p:nvPr/>
        </p:nvSpPr>
        <p:spPr>
          <a:xfrm>
            <a:off x="448636" y="504852"/>
            <a:ext cx="2821577" cy="1042080"/>
          </a:xfrm>
          <a:prstGeom prst="round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600" dirty="0"/>
              <a:t>WEB NESTING</a:t>
            </a:r>
          </a:p>
          <a:p>
            <a:pPr algn="ctr"/>
            <a:r>
              <a:rPr lang="it-IT" sz="1600" dirty="0"/>
              <a:t>VISUALIZZAZIONE NESTING E SEQUENZA TAGLIO</a:t>
            </a:r>
          </a:p>
        </p:txBody>
      </p:sp>
      <p:pic>
        <p:nvPicPr>
          <p:cNvPr id="7" name="Immagine 6">
            <a:extLst>
              <a:ext uri="{FF2B5EF4-FFF2-40B4-BE49-F238E27FC236}">
                <a16:creationId xmlns:a16="http://schemas.microsoft.com/office/drawing/2014/main" id="{23552213-ADD3-47A4-97C0-D0A2653CD55F}"/>
              </a:ext>
            </a:extLst>
          </p:cNvPr>
          <p:cNvPicPr>
            <a:picLocks noChangeAspect="1"/>
          </p:cNvPicPr>
          <p:nvPr/>
        </p:nvPicPr>
        <p:blipFill>
          <a:blip r:embed="rId4" cstate="print"/>
          <a:stretch>
            <a:fillRect/>
          </a:stretch>
        </p:blipFill>
        <p:spPr>
          <a:xfrm>
            <a:off x="9845346" y="0"/>
            <a:ext cx="2190750" cy="676275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9" name="Rettangolo con angoli arrotondati 8">
            <a:extLst>
              <a:ext uri="{FF2B5EF4-FFF2-40B4-BE49-F238E27FC236}">
                <a16:creationId xmlns:a16="http://schemas.microsoft.com/office/drawing/2014/main" id="{C3932078-E9D3-4B22-A2AA-23846EDC3989}"/>
              </a:ext>
            </a:extLst>
          </p:cNvPr>
          <p:cNvSpPr/>
          <p:nvPr/>
        </p:nvSpPr>
        <p:spPr>
          <a:xfrm>
            <a:off x="9915344" y="4635500"/>
            <a:ext cx="2044700" cy="1308100"/>
          </a:xfrm>
          <a:prstGeom prst="roundRect">
            <a:avLst>
              <a:gd name="adj" fmla="val 6740"/>
            </a:avLst>
          </a:prstGeom>
          <a:solidFill>
            <a:schemeClr val="accent1">
              <a:alpha val="49000"/>
            </a:schemeClr>
          </a:solidFill>
          <a:ln>
            <a:solidFill>
              <a:srgbClr val="FF0000"/>
            </a:solidFill>
          </a:ln>
          <a:effectLst>
            <a:softEdge rad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dirty="0"/>
          </a:p>
        </p:txBody>
      </p:sp>
      <p:sp>
        <p:nvSpPr>
          <p:cNvPr id="10" name="Rettangolo 9">
            <a:extLst>
              <a:ext uri="{FF2B5EF4-FFF2-40B4-BE49-F238E27FC236}">
                <a16:creationId xmlns:a16="http://schemas.microsoft.com/office/drawing/2014/main" id="{D42C1366-0A19-435E-B31A-A5F3F45EDADE}"/>
              </a:ext>
            </a:extLst>
          </p:cNvPr>
          <p:cNvSpPr/>
          <p:nvPr/>
        </p:nvSpPr>
        <p:spPr>
          <a:xfrm>
            <a:off x="3567440" y="4885509"/>
            <a:ext cx="3245791" cy="1318169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600" dirty="0"/>
              <a:t>Con</a:t>
            </a:r>
            <a:r>
              <a:rPr lang="it-IT" sz="1600" b="1" dirty="0"/>
              <a:t> EASYCUT</a:t>
            </a:r>
            <a:r>
              <a:rPr lang="it-IT" sz="1600" dirty="0"/>
              <a:t> è possibile visualizzazione in formato HTML il </a:t>
            </a:r>
            <a:r>
              <a:rPr lang="it-IT" sz="1600" dirty="0" err="1"/>
              <a:t>Nesting</a:t>
            </a:r>
            <a:r>
              <a:rPr lang="it-IT" sz="1600" dirty="0"/>
              <a:t> prodotto, la sequenza di taglio e il nome del contorno da tagliare</a:t>
            </a:r>
          </a:p>
        </p:txBody>
      </p:sp>
    </p:spTree>
    <p:extLst>
      <p:ext uri="{BB962C8B-B14F-4D97-AF65-F5344CB8AC3E}">
        <p14:creationId xmlns:p14="http://schemas.microsoft.com/office/powerpoint/2010/main" val="3270264815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magine 3">
            <a:extLst>
              <a:ext uri="{FF2B5EF4-FFF2-40B4-BE49-F238E27FC236}">
                <a16:creationId xmlns:a16="http://schemas.microsoft.com/office/drawing/2014/main" id="{1A14D86C-B426-498D-A9A4-8845148BB25E}"/>
              </a:ext>
            </a:extLst>
          </p:cNvPr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7" name="Immagine 6">
            <a:extLst>
              <a:ext uri="{FF2B5EF4-FFF2-40B4-BE49-F238E27FC236}">
                <a16:creationId xmlns:a16="http://schemas.microsoft.com/office/drawing/2014/main" id="{23552213-ADD3-47A4-97C0-D0A2653CD55F}"/>
              </a:ext>
            </a:extLst>
          </p:cNvPr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9845346" y="0"/>
            <a:ext cx="2190750" cy="676275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11" name="Immagine 10">
            <a:extLst>
              <a:ext uri="{FF2B5EF4-FFF2-40B4-BE49-F238E27FC236}">
                <a16:creationId xmlns:a16="http://schemas.microsoft.com/office/drawing/2014/main" id="{BAB1880D-2052-498F-AD99-607C0D72A7C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5904" y="1154153"/>
            <a:ext cx="7391400" cy="548640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5" name="Rettangolo con angoli arrotondati 4">
            <a:extLst>
              <a:ext uri="{FF2B5EF4-FFF2-40B4-BE49-F238E27FC236}">
                <a16:creationId xmlns:a16="http://schemas.microsoft.com/office/drawing/2014/main" id="{499A2108-69AE-4B5E-B9D9-F042E1FB0ADD}"/>
              </a:ext>
            </a:extLst>
          </p:cNvPr>
          <p:cNvSpPr/>
          <p:nvPr/>
        </p:nvSpPr>
        <p:spPr>
          <a:xfrm>
            <a:off x="448636" y="504852"/>
            <a:ext cx="3012016" cy="1042080"/>
          </a:xfrm>
          <a:prstGeom prst="round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600" dirty="0"/>
              <a:t>WEB NESTING</a:t>
            </a:r>
          </a:p>
          <a:p>
            <a:pPr algn="ctr"/>
            <a:r>
              <a:rPr lang="it-IT" sz="1600" dirty="0"/>
              <a:t>VISUALIZZAZIONE E INFORMAZIONI CONTORNO</a:t>
            </a:r>
          </a:p>
        </p:txBody>
      </p:sp>
      <p:pic>
        <p:nvPicPr>
          <p:cNvPr id="12" name="Immagine 11">
            <a:extLst>
              <a:ext uri="{FF2B5EF4-FFF2-40B4-BE49-F238E27FC236}">
                <a16:creationId xmlns:a16="http://schemas.microsoft.com/office/drawing/2014/main" id="{D9F4F3A3-2A41-4951-92C2-A7DE8FE3B84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92514" y="0"/>
            <a:ext cx="4705350" cy="400050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10" name="Immagine 9">
            <a:extLst>
              <a:ext uri="{FF2B5EF4-FFF2-40B4-BE49-F238E27FC236}">
                <a16:creationId xmlns:a16="http://schemas.microsoft.com/office/drawing/2014/main" id="{028AFC26-4AA4-49FB-8111-E629B646773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09971" y="1907864"/>
            <a:ext cx="3562350" cy="487680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13" name="Rettangolo con angoli arrotondati 12">
            <a:extLst>
              <a:ext uri="{FF2B5EF4-FFF2-40B4-BE49-F238E27FC236}">
                <a16:creationId xmlns:a16="http://schemas.microsoft.com/office/drawing/2014/main" id="{A945840E-4A7F-438C-A100-C682682D1FDD}"/>
              </a:ext>
            </a:extLst>
          </p:cNvPr>
          <p:cNvSpPr/>
          <p:nvPr/>
        </p:nvSpPr>
        <p:spPr>
          <a:xfrm>
            <a:off x="9915344" y="4635500"/>
            <a:ext cx="2044700" cy="1308100"/>
          </a:xfrm>
          <a:prstGeom prst="roundRect">
            <a:avLst>
              <a:gd name="adj" fmla="val 6740"/>
            </a:avLst>
          </a:prstGeom>
          <a:solidFill>
            <a:schemeClr val="accent1">
              <a:alpha val="49000"/>
            </a:schemeClr>
          </a:solidFill>
          <a:ln>
            <a:solidFill>
              <a:srgbClr val="FF0000"/>
            </a:solidFill>
          </a:ln>
          <a:effectLst>
            <a:softEdge rad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dirty="0"/>
          </a:p>
        </p:txBody>
      </p:sp>
      <p:sp>
        <p:nvSpPr>
          <p:cNvPr id="14" name="Rettangolo 13">
            <a:extLst>
              <a:ext uri="{FF2B5EF4-FFF2-40B4-BE49-F238E27FC236}">
                <a16:creationId xmlns:a16="http://schemas.microsoft.com/office/drawing/2014/main" id="{F354BD05-734B-44EE-8C23-83D4EB420350}"/>
              </a:ext>
            </a:extLst>
          </p:cNvPr>
          <p:cNvSpPr/>
          <p:nvPr/>
        </p:nvSpPr>
        <p:spPr>
          <a:xfrm>
            <a:off x="227205" y="4937760"/>
            <a:ext cx="3325892" cy="1415388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600" dirty="0"/>
              <a:t>Con il gestionale in formato HTML è possibile entrare nel dettaglio del contorno da tagliare fornendo informazioni di commessa e dati geometrici di contorno e fori</a:t>
            </a:r>
          </a:p>
        </p:txBody>
      </p:sp>
    </p:spTree>
    <p:extLst>
      <p:ext uri="{BB962C8B-B14F-4D97-AF65-F5344CB8AC3E}">
        <p14:creationId xmlns:p14="http://schemas.microsoft.com/office/powerpoint/2010/main" val="662573526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bg1">
                <a:lumMod val="50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Elemento grafico 4">
            <a:extLst>
              <a:ext uri="{FF2B5EF4-FFF2-40B4-BE49-F238E27FC236}">
                <a16:creationId xmlns:a16="http://schemas.microsoft.com/office/drawing/2014/main" id="{B6B5F39B-DF68-444E-955D-D3E41CDD9462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4502" y="103535"/>
            <a:ext cx="3962400" cy="786033"/>
          </a:xfrm>
          <a:prstGeom prst="rect">
            <a:avLst/>
          </a:prstGeom>
        </p:spPr>
      </p:pic>
      <p:sp>
        <p:nvSpPr>
          <p:cNvPr id="6" name="CasellaDiTesto 5">
            <a:extLst>
              <a:ext uri="{FF2B5EF4-FFF2-40B4-BE49-F238E27FC236}">
                <a16:creationId xmlns:a16="http://schemas.microsoft.com/office/drawing/2014/main" id="{73298F29-8084-4DA6-8CB9-C080AC3191EC}"/>
              </a:ext>
            </a:extLst>
          </p:cNvPr>
          <p:cNvSpPr txBox="1"/>
          <p:nvPr/>
        </p:nvSpPr>
        <p:spPr>
          <a:xfrm>
            <a:off x="4463144" y="5668952"/>
            <a:ext cx="711054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it-IT" dirty="0">
                <a:solidFill>
                  <a:prstClr val="black"/>
                </a:solidFill>
                <a:latin typeface="Calibri"/>
              </a:rPr>
              <a:t>… follia è fare sempre la stessa cosa ed aspettarsi risultati diversi (?A.E.?)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t-IT" sz="180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0" name="CasellaDiTesto 9">
            <a:extLst>
              <a:ext uri="{FF2B5EF4-FFF2-40B4-BE49-F238E27FC236}">
                <a16:creationId xmlns:a16="http://schemas.microsoft.com/office/drawing/2014/main" id="{24753C29-C6C8-42B2-92E2-F86A898DF688}"/>
              </a:ext>
            </a:extLst>
          </p:cNvPr>
          <p:cNvSpPr txBox="1"/>
          <p:nvPr/>
        </p:nvSpPr>
        <p:spPr>
          <a:xfrm>
            <a:off x="4066902" y="265718"/>
            <a:ext cx="659674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it-IT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Programma per l’ottimizzazione di taglio lamiere</a:t>
            </a:r>
            <a:endParaRPr kumimoji="0" lang="it-IT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7" name="CasellaDiTesto 6">
            <a:extLst>
              <a:ext uri="{FF2B5EF4-FFF2-40B4-BE49-F238E27FC236}">
                <a16:creationId xmlns:a16="http://schemas.microsoft.com/office/drawing/2014/main" id="{D3434FA5-F160-4EC1-AD9B-A5CFEDD46BBB}"/>
              </a:ext>
            </a:extLst>
          </p:cNvPr>
          <p:cNvSpPr txBox="1"/>
          <p:nvPr/>
        </p:nvSpPr>
        <p:spPr>
          <a:xfrm>
            <a:off x="1663338" y="1996893"/>
            <a:ext cx="884790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it-IT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EASYCUT </a:t>
            </a:r>
            <a:r>
              <a:rPr kumimoji="0" lang="it-IT" sz="180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è in costante evoluzione e sviluppo per una ricerca di funzioni e strategie da condivider</a:t>
            </a:r>
            <a:r>
              <a:rPr lang="it-IT" dirty="0">
                <a:solidFill>
                  <a:prstClr val="black"/>
                </a:solidFill>
                <a:latin typeface="Calibri"/>
              </a:rPr>
              <a:t>e con utenti e appassionati di programmazione. </a:t>
            </a:r>
            <a:endParaRPr kumimoji="0" lang="it-IT" sz="180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16346827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707</TotalTime>
  <Words>1079</Words>
  <Application>Microsoft Office PowerPoint</Application>
  <PresentationFormat>Widescreen</PresentationFormat>
  <Paragraphs>106</Paragraphs>
  <Slides>29</Slides>
  <Notes>0</Notes>
  <HiddenSlides>0</HiddenSlides>
  <MMClips>0</MMClips>
  <ScaleCrop>false</ScaleCrop>
  <HeadingPairs>
    <vt:vector size="6" baseType="variant">
      <vt:variant>
        <vt:lpstr>Caratteri utilizzati</vt:lpstr>
      </vt:variant>
      <vt:variant>
        <vt:i4>3</vt:i4>
      </vt:variant>
      <vt:variant>
        <vt:lpstr>Tema</vt:lpstr>
      </vt:variant>
      <vt:variant>
        <vt:i4>1</vt:i4>
      </vt:variant>
      <vt:variant>
        <vt:lpstr>Titoli diapositive</vt:lpstr>
      </vt:variant>
      <vt:variant>
        <vt:i4>29</vt:i4>
      </vt:variant>
    </vt:vector>
  </HeadingPairs>
  <TitlesOfParts>
    <vt:vector size="33" baseType="lpstr">
      <vt:lpstr>Arial</vt:lpstr>
      <vt:lpstr>Calibri</vt:lpstr>
      <vt:lpstr>Calibri Light</vt:lpstr>
      <vt:lpstr>Tema di Office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Presentazione standard di PowerPoint</dc:title>
  <dc:creator>andy 65</dc:creator>
  <cp:lastModifiedBy>andy 65</cp:lastModifiedBy>
  <cp:revision>68</cp:revision>
  <cp:lastPrinted>2020-06-09T10:17:10Z</cp:lastPrinted>
  <dcterms:created xsi:type="dcterms:W3CDTF">2020-06-08T19:27:28Z</dcterms:created>
  <dcterms:modified xsi:type="dcterms:W3CDTF">2020-06-10T17:01:56Z</dcterms:modified>
</cp:coreProperties>
</file>