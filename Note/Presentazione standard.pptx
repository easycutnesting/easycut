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0" r:id="rId4"/>
    <p:sldId id="261" r:id="rId5"/>
    <p:sldId id="264" r:id="rId6"/>
    <p:sldId id="281" r:id="rId7"/>
    <p:sldId id="265" r:id="rId8"/>
    <p:sldId id="269" r:id="rId9"/>
    <p:sldId id="266" r:id="rId10"/>
    <p:sldId id="267" r:id="rId11"/>
    <p:sldId id="270" r:id="rId12"/>
    <p:sldId id="271" r:id="rId13"/>
    <p:sldId id="272" r:id="rId14"/>
    <p:sldId id="282" r:id="rId15"/>
    <p:sldId id="273" r:id="rId16"/>
    <p:sldId id="274" r:id="rId17"/>
    <p:sldId id="275" r:id="rId18"/>
    <p:sldId id="276" r:id="rId19"/>
    <p:sldId id="283" r:id="rId20"/>
    <p:sldId id="277" r:id="rId21"/>
    <p:sldId id="278" r:id="rId22"/>
    <p:sldId id="279" r:id="rId23"/>
    <p:sldId id="284" r:id="rId24"/>
    <p:sldId id="285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F3A8BB-A157-4887-849C-962A18CD6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9E53CB-EC67-4B91-8C82-25D7968A5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A8DAB6-8F72-4DA1-B9C4-6527DBD7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D7C239-6823-4B52-A294-0D47C63F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1E44D8-5B38-4C46-A2E5-52A415D8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712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A85658-B645-4AA2-B72C-BE3E44AD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C08C31-64B0-4EF8-AEF6-1D3D355FF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C9B181-54CE-4158-9669-74B0AB6C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D59DBE-69D1-4E53-9A39-15112C87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3FD8DF-BA9C-479A-B1E1-98C3D0F9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8389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37372A-A806-4C49-A0C6-382EF2F4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A689B6-FCDE-4CDE-889E-2920CE6DD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4961DD-90D3-4153-92FE-9064B0AE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863B60-9F5E-408A-A79B-9E1B1679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127C21-1FF5-4461-9236-D74C42F4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528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3A6318-F25B-4356-B9EC-8DA1C6D0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C62A45-684F-460C-9745-4010C10F4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E47EC21-472D-498F-8203-9DAC9FC81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ADD420-D0FB-4107-A047-046666E3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A20203-C4ED-4267-AE0F-F2204FA7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C2A9E9-83D9-4811-BA47-B2177B73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504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D2FF26-9EE0-4D71-B662-82B86645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6252FAA-6A50-476E-9E0A-99BAC9566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41699A0-5753-426A-AC0C-4282E3669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4E6543D-3A97-4DB4-9B4A-777D57C8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2196ADD-465D-4599-90D2-CDCFD2FA4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4B2DE4D-FE3D-453E-B740-7C87EDC2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41395F2-6F4A-48FC-933D-2D471CF4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E676C6E-C1D7-4532-AF29-C05E048D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535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FD13BC-5986-4776-9B0C-631C7845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553BF50-24B0-44D6-8788-ED8BDF1F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29A023A-4A13-4ADF-BD37-CD7F57BA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842AD0D-942D-4A11-A637-21926D50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307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04633AE-5B5F-4E54-A842-5F1B79B8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B5518BA-C076-4982-A02F-0E2A6B19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B2D6C6-679A-4836-A106-E9F1816B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864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701A44-7CBC-475F-8BFC-CAA268BA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DC3383-E56B-40CC-94C3-82B9C793C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D48E599-F8EB-4F33-9F1D-36B0220D1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9AF9A6-FE21-4815-BDFE-4176A476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C9F1E2C-221B-4700-A2AA-ED955C17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A85F18D-7D05-4619-B4F3-145D51F4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894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25CDD8-93DE-426A-B003-4CCB3C7F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E6F7416-341F-4251-B2FB-E07015BB7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08D2C89-961F-4CA1-A927-1EC6EB67B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A83DE47-49EE-44D4-8A02-059BD56F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5AA7D-B618-42FE-A2CA-4BDB5BF96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8CDBAF-C73C-4E56-9F7D-C2074F0B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1250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431FD4-9FFC-4658-97C1-497DBDDF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0493DAE-075E-4277-9EFA-CBFF3F6A4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BCFF94-EDBB-4EAA-BF25-52CC9B9C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9C1E07-936A-49AE-AB04-954B495D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DF5030-DA4E-45E6-837F-27AD5D17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4426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A8A7CDE-FBB2-483E-8CB5-D2064A3D0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6EF7C1F-39D0-4F00-B11B-F3777ABA2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00BF9C-79EA-4773-81E4-A1267484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0D0C87-4637-4275-BA67-DB1E998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746915-88F9-4F2A-9DC6-55AC2480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217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B14DD-B33D-470E-9FAE-06CA154E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D62865-8C1B-40D3-91EE-BFF241E8B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189654-A90C-4D07-9B23-C44063DD3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6CBB6-1DBD-4CF1-8A4D-8F2C23AFAF89}" type="datetimeFigureOut">
              <a:rPr lang="it-IT" smtClean="0"/>
              <a:t>28/12/2019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4E02A4-4972-48F7-9A7E-7E33035BD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E8AC17-DDC9-4FDC-8378-A2806F507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F714D-1233-4626-8BAF-D21913818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80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51C7740A-2AF2-4411-A93D-EDACD3C07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36"/>
            <a:ext cx="12192000" cy="685800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2507F48-901E-4777-A0FB-8C9E435F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61" y="0"/>
            <a:ext cx="3061078" cy="6542515"/>
          </a:xfrm>
          <a:prstGeom prst="rect">
            <a:avLst/>
          </a:prstGeom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FB1FC94-6A3C-46E9-9554-46B93A7E738E}"/>
              </a:ext>
            </a:extLst>
          </p:cNvPr>
          <p:cNvSpPr/>
          <p:nvPr/>
        </p:nvSpPr>
        <p:spPr>
          <a:xfrm>
            <a:off x="2584750" y="292101"/>
            <a:ext cx="2869900" cy="8509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3C09483-525C-4EB2-B37B-1F3E09240818}"/>
              </a:ext>
            </a:extLst>
          </p:cNvPr>
          <p:cNvSpPr/>
          <p:nvPr/>
        </p:nvSpPr>
        <p:spPr>
          <a:xfrm>
            <a:off x="2584750" y="1181101"/>
            <a:ext cx="2869900" cy="806449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6E241F11-F588-40CC-BD62-E047A2EAD038}"/>
              </a:ext>
            </a:extLst>
          </p:cNvPr>
          <p:cNvSpPr/>
          <p:nvPr/>
        </p:nvSpPr>
        <p:spPr>
          <a:xfrm>
            <a:off x="2584750" y="2025651"/>
            <a:ext cx="2869900" cy="59055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529093E-C536-4D90-A3C0-AD67F287BDE5}"/>
              </a:ext>
            </a:extLst>
          </p:cNvPr>
          <p:cNvSpPr/>
          <p:nvPr/>
        </p:nvSpPr>
        <p:spPr>
          <a:xfrm>
            <a:off x="2584750" y="2651125"/>
            <a:ext cx="2869900" cy="825497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BF2B4E0C-9FCF-4F2E-9664-F9BEF937B63A}"/>
              </a:ext>
            </a:extLst>
          </p:cNvPr>
          <p:cNvSpPr/>
          <p:nvPr/>
        </p:nvSpPr>
        <p:spPr>
          <a:xfrm>
            <a:off x="2584750" y="3516310"/>
            <a:ext cx="2869900" cy="815973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73264B7A-C2E4-4DE2-9316-F1C748805158}"/>
              </a:ext>
            </a:extLst>
          </p:cNvPr>
          <p:cNvSpPr/>
          <p:nvPr/>
        </p:nvSpPr>
        <p:spPr>
          <a:xfrm>
            <a:off x="2584750" y="4371971"/>
            <a:ext cx="2869900" cy="1176341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27C398BA-E4B8-4946-92CC-8FCC03C90C2D}"/>
              </a:ext>
            </a:extLst>
          </p:cNvPr>
          <p:cNvSpPr/>
          <p:nvPr/>
        </p:nvSpPr>
        <p:spPr>
          <a:xfrm>
            <a:off x="2584750" y="5588000"/>
            <a:ext cx="2869900" cy="584199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CCEF9DA-44AA-43DE-B480-F1E537BEA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3061078" cy="6542515"/>
          </a:xfrm>
          <a:prstGeom prst="rect">
            <a:avLst/>
          </a:prstGeom>
        </p:spPr>
      </p:pic>
      <p:sp>
        <p:nvSpPr>
          <p:cNvPr id="3" name="Freccia in giù 2">
            <a:extLst>
              <a:ext uri="{FF2B5EF4-FFF2-40B4-BE49-F238E27FC236}">
                <a16:creationId xmlns:a16="http://schemas.microsoft.com/office/drawing/2014/main" id="{E7D914FB-4241-4663-9D26-447E42BA5A09}"/>
              </a:ext>
            </a:extLst>
          </p:cNvPr>
          <p:cNvSpPr/>
          <p:nvPr/>
        </p:nvSpPr>
        <p:spPr>
          <a:xfrm rot="5400000">
            <a:off x="9732469" y="-185865"/>
            <a:ext cx="783771" cy="16185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877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B61BCE20-7F8B-4993-8901-D054743E8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740"/>
            <a:ext cx="12192000" cy="685800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C8DBFD3C-E273-4019-AB6E-470384C6B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22" y="397950"/>
            <a:ext cx="2705100" cy="5781675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BE36137A-0104-4D4D-B000-21DCABE7849E}"/>
              </a:ext>
            </a:extLst>
          </p:cNvPr>
          <p:cNvSpPr/>
          <p:nvPr/>
        </p:nvSpPr>
        <p:spPr>
          <a:xfrm>
            <a:off x="1767379" y="1030080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355DE26-DD40-4C48-88B6-5292D65D6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544" y="1030080"/>
            <a:ext cx="2801256" cy="311625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80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B61BCE20-7F8B-4993-8901-D054743E8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" y="11952"/>
            <a:ext cx="12192000" cy="685800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C8DBFD3C-E273-4019-AB6E-470384C6B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22" y="397950"/>
            <a:ext cx="2705100" cy="5781675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BE36137A-0104-4D4D-B000-21DCABE7849E}"/>
              </a:ext>
            </a:extLst>
          </p:cNvPr>
          <p:cNvSpPr/>
          <p:nvPr/>
        </p:nvSpPr>
        <p:spPr>
          <a:xfrm>
            <a:off x="539470" y="1043143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D2854B79-5821-45FD-9EC7-B02E335F4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713" y="0"/>
            <a:ext cx="5934903" cy="40391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5295AE9C-7AC2-4E3D-8859-51EFA85FF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611" y="2895047"/>
            <a:ext cx="6211167" cy="39629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Freccia circolare in giù 5">
            <a:extLst>
              <a:ext uri="{FF2B5EF4-FFF2-40B4-BE49-F238E27FC236}">
                <a16:creationId xmlns:a16="http://schemas.microsoft.com/office/drawing/2014/main" id="{8A948A05-59C3-404F-B132-3B7CDA5DD822}"/>
              </a:ext>
            </a:extLst>
          </p:cNvPr>
          <p:cNvSpPr/>
          <p:nvPr/>
        </p:nvSpPr>
        <p:spPr>
          <a:xfrm rot="5400000">
            <a:off x="8217401" y="1905143"/>
            <a:ext cx="1111348" cy="995068"/>
          </a:xfrm>
          <a:prstGeom prst="curved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17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69496594-490E-4D2B-865A-B8C6F3F56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8"/>
            <a:ext cx="12192000" cy="6858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CA63482-C9DB-4915-AC0F-C75E34370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415" y="247604"/>
            <a:ext cx="4819650" cy="37242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1E368C9-D23A-4F28-B835-773500184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393" y="3164091"/>
            <a:ext cx="8187396" cy="366364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Freccia circolare in giù 9">
            <a:extLst>
              <a:ext uri="{FF2B5EF4-FFF2-40B4-BE49-F238E27FC236}">
                <a16:creationId xmlns:a16="http://schemas.microsoft.com/office/drawing/2014/main" id="{780FFA96-A12E-4C34-AA0F-493F0AE36996}"/>
              </a:ext>
            </a:extLst>
          </p:cNvPr>
          <p:cNvSpPr/>
          <p:nvPr/>
        </p:nvSpPr>
        <p:spPr>
          <a:xfrm rot="5400000">
            <a:off x="9818818" y="2859957"/>
            <a:ext cx="1111348" cy="987067"/>
          </a:xfrm>
          <a:prstGeom prst="curved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AA5973D7-DBEB-46F9-BC2A-8EC9CF67A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00" y="435600"/>
            <a:ext cx="2705100" cy="5781675"/>
          </a:xfrm>
          <a:prstGeom prst="rect">
            <a:avLst/>
          </a:prstGeom>
        </p:spPr>
      </p:pic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14852865-906B-4DE3-B22E-D634DD505679}"/>
              </a:ext>
            </a:extLst>
          </p:cNvPr>
          <p:cNvSpPr/>
          <p:nvPr/>
        </p:nvSpPr>
        <p:spPr>
          <a:xfrm>
            <a:off x="467346" y="1597469"/>
            <a:ext cx="2464986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7387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9A3F0BB-4AFF-4BB8-ABF5-8200E79F9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8"/>
            <a:ext cx="12192000" cy="6858000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7606A77C-ACBE-473A-824C-BFBCC0160C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49" t="5879" r="35958" b="781"/>
          <a:stretch/>
        </p:blipFill>
        <p:spPr>
          <a:xfrm>
            <a:off x="3829207" y="943430"/>
            <a:ext cx="6306915" cy="496092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3122926-4051-4887-A327-EC9AFCC18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0" y="421532"/>
            <a:ext cx="2705100" cy="5781675"/>
          </a:xfrm>
          <a:prstGeom prst="rect">
            <a:avLst/>
          </a:prstGeom>
        </p:spPr>
      </p:pic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4E3B0514-5383-4B86-9B6C-6631D992C6FB}"/>
              </a:ext>
            </a:extLst>
          </p:cNvPr>
          <p:cNvSpPr/>
          <p:nvPr/>
        </p:nvSpPr>
        <p:spPr>
          <a:xfrm>
            <a:off x="513027" y="1621807"/>
            <a:ext cx="2476916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9826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A92415E-BFF9-435F-ABC3-2D366244C1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45" b="457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3122926-4051-4887-A327-EC9AFCC18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42" y="433658"/>
            <a:ext cx="2705100" cy="5781675"/>
          </a:xfrm>
          <a:prstGeom prst="rect">
            <a:avLst/>
          </a:prstGeom>
        </p:spPr>
      </p:pic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4E3B0514-5383-4B86-9B6C-6631D992C6FB}"/>
              </a:ext>
            </a:extLst>
          </p:cNvPr>
          <p:cNvSpPr/>
          <p:nvPr/>
        </p:nvSpPr>
        <p:spPr>
          <a:xfrm>
            <a:off x="539334" y="1883066"/>
            <a:ext cx="2476916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196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6BD3BCE0-E2A5-4DFF-BC04-13C0524D2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"/>
            <a:ext cx="12192000" cy="6858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DF0DF47-6160-4502-A366-77F60D99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480" y="134407"/>
            <a:ext cx="3600450" cy="6477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06179AB-EDD9-4051-ABE5-9C403072AD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37" r="4744" b="100"/>
          <a:stretch/>
        </p:blipFill>
        <p:spPr>
          <a:xfrm>
            <a:off x="7228114" y="870857"/>
            <a:ext cx="3464016" cy="519611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EEE626B7-7A0A-4796-9C3E-109E40E5B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00" y="385096"/>
            <a:ext cx="2705100" cy="5781675"/>
          </a:xfrm>
          <a:prstGeom prst="rect">
            <a:avLst/>
          </a:prstGeom>
        </p:spPr>
      </p:pic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01992A81-0472-4F45-9244-E5EFD55A581F}"/>
              </a:ext>
            </a:extLst>
          </p:cNvPr>
          <p:cNvSpPr/>
          <p:nvPr/>
        </p:nvSpPr>
        <p:spPr>
          <a:xfrm>
            <a:off x="550415" y="2337249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017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C9D4636D-F8DD-4011-AB4E-F19C14FE7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2212"/>
            <a:ext cx="12192000" cy="685800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F73B02BE-7C23-4C1C-848F-C3D415D11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0" y="211715"/>
            <a:ext cx="2705100" cy="5781675"/>
          </a:xfrm>
          <a:prstGeom prst="rect">
            <a:avLst/>
          </a:prstGeom>
        </p:spPr>
      </p:pic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7CA06900-C71C-4F5C-AF11-4998141C2DD8}"/>
              </a:ext>
            </a:extLst>
          </p:cNvPr>
          <p:cNvSpPr/>
          <p:nvPr/>
        </p:nvSpPr>
        <p:spPr>
          <a:xfrm>
            <a:off x="1742817" y="2169778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C646B61-9794-476F-A030-BF6B413C9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266" y="422735"/>
            <a:ext cx="5159601" cy="415113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50A159D-FC5B-44EE-893B-DEAB6BE46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620" y="535279"/>
            <a:ext cx="4285711" cy="35414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15776FF8-8876-4EE9-A995-4209941F36A0}"/>
              </a:ext>
            </a:extLst>
          </p:cNvPr>
          <p:cNvSpPr/>
          <p:nvPr/>
        </p:nvSpPr>
        <p:spPr>
          <a:xfrm>
            <a:off x="7040259" y="4145663"/>
            <a:ext cx="1170065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82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8840267E-93F9-4C5D-A575-136432873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8"/>
            <a:ext cx="12192000" cy="68580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E59A8A3-DB11-457F-9915-C62590343F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45"/>
          <a:stretch/>
        </p:blipFill>
        <p:spPr>
          <a:xfrm>
            <a:off x="3709566" y="942043"/>
            <a:ext cx="6293340" cy="497391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83838EE-B2A7-4AA5-B514-09DA11D06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0" y="394646"/>
            <a:ext cx="2705100" cy="5781675"/>
          </a:xfrm>
          <a:prstGeom prst="rect">
            <a:avLst/>
          </a:prstGeom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B18655BE-C7AA-49E0-95CE-E4C95F6226D3}"/>
              </a:ext>
            </a:extLst>
          </p:cNvPr>
          <p:cNvSpPr/>
          <p:nvPr/>
        </p:nvSpPr>
        <p:spPr>
          <a:xfrm>
            <a:off x="1701952" y="2861162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309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A3A98E07-0507-480F-BB5F-8F2581AD9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8"/>
            <a:ext cx="12192000" cy="6858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9301622-5928-4BE2-A608-442EB54D5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62" t="29342" r="30308" b="35993"/>
          <a:stretch/>
        </p:blipFill>
        <p:spPr>
          <a:xfrm>
            <a:off x="4255319" y="885371"/>
            <a:ext cx="5697415" cy="23761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Freccia circolare in giù 8">
            <a:extLst>
              <a:ext uri="{FF2B5EF4-FFF2-40B4-BE49-F238E27FC236}">
                <a16:creationId xmlns:a16="http://schemas.microsoft.com/office/drawing/2014/main" id="{24F66FAD-9927-4420-B388-B2D207A0818E}"/>
              </a:ext>
            </a:extLst>
          </p:cNvPr>
          <p:cNvSpPr/>
          <p:nvPr/>
        </p:nvSpPr>
        <p:spPr>
          <a:xfrm rot="16200000">
            <a:off x="3563867" y="2879394"/>
            <a:ext cx="1227051" cy="987067"/>
          </a:xfrm>
          <a:prstGeom prst="curvedDownArrow">
            <a:avLst>
              <a:gd name="adj1" fmla="val 25000"/>
              <a:gd name="adj2" fmla="val 42817"/>
              <a:gd name="adj3" fmla="val 25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34B3964-4C5D-4CFC-B29F-E4A3FE29F4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692" t="28551" r="32851" b="34944"/>
          <a:stretch/>
        </p:blipFill>
        <p:spPr>
          <a:xfrm>
            <a:off x="4264317" y="3456824"/>
            <a:ext cx="5697415" cy="257247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88D8199-F1AC-44A6-97B3-46381CE7B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00" y="393704"/>
            <a:ext cx="2705100" cy="5781675"/>
          </a:xfrm>
          <a:prstGeom prst="rect">
            <a:avLst/>
          </a:prstGeom>
        </p:spPr>
      </p:pic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27941452-667A-487D-9C65-8B5B1C376E84}"/>
              </a:ext>
            </a:extLst>
          </p:cNvPr>
          <p:cNvSpPr/>
          <p:nvPr/>
        </p:nvSpPr>
        <p:spPr>
          <a:xfrm>
            <a:off x="510441" y="3629475"/>
            <a:ext cx="2494015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494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05E02634-9DE3-4688-8E90-3BB5FA1A7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807"/>
            <a:ext cx="12192000" cy="685800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514E4052-D005-4183-BA3A-1682548BC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0" y="348374"/>
            <a:ext cx="2705100" cy="5781675"/>
          </a:xfrm>
          <a:prstGeom prst="rect">
            <a:avLst/>
          </a:prstGeom>
        </p:spPr>
      </p:pic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A8488722-877B-4EC7-BDFF-38E4DF6BE401}"/>
              </a:ext>
            </a:extLst>
          </p:cNvPr>
          <p:cNvSpPr/>
          <p:nvPr/>
        </p:nvSpPr>
        <p:spPr>
          <a:xfrm>
            <a:off x="510442" y="5427460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8AC8685-21C4-488E-AA84-BACB403F2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542" y="723715"/>
            <a:ext cx="7814609" cy="32560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7AE3D2B-FFBC-4E69-AFCB-66BF9F589240}"/>
              </a:ext>
            </a:extLst>
          </p:cNvPr>
          <p:cNvSpPr/>
          <p:nvPr/>
        </p:nvSpPr>
        <p:spPr>
          <a:xfrm>
            <a:off x="6982119" y="3522307"/>
            <a:ext cx="1351056" cy="4574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4750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04C963BC-64ED-4BBD-AA6B-18C5683A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73"/>
            <a:ext cx="12192000" cy="6858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9AD3B4B-6C6E-41F8-95D8-022C243C5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826" y="696936"/>
            <a:ext cx="7085534" cy="33918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468AF58-0AC6-4E2B-A773-A2D95E48EF30}"/>
              </a:ext>
            </a:extLst>
          </p:cNvPr>
          <p:cNvSpPr/>
          <p:nvPr/>
        </p:nvSpPr>
        <p:spPr>
          <a:xfrm>
            <a:off x="4394368" y="2272022"/>
            <a:ext cx="1469402" cy="4574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94BF06BE-0946-4261-A6E6-3C1BB98A1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22" y="379638"/>
            <a:ext cx="2705100" cy="5781675"/>
          </a:xfrm>
          <a:prstGeom prst="rect">
            <a:avLst/>
          </a:prstGeom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52E856B6-98B2-4F87-880A-717C056D3487}"/>
              </a:ext>
            </a:extLst>
          </p:cNvPr>
          <p:cNvSpPr/>
          <p:nvPr/>
        </p:nvSpPr>
        <p:spPr>
          <a:xfrm>
            <a:off x="1757568" y="5462519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5806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392CB5EA-1618-4D8C-81BD-12870ED42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CE243A23-48BF-4BE5-9214-0E700BFE8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139" y="538162"/>
            <a:ext cx="27051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4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7228BB0-D991-452B-9E57-DE3B042B96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06" b="4353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CE243A23-48BF-4BE5-9214-0E700BFE8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657" y="538161"/>
            <a:ext cx="2705100" cy="5781675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E3AFA88-9EE1-4433-9780-D9DA7051499F}"/>
              </a:ext>
            </a:extLst>
          </p:cNvPr>
          <p:cNvSpPr/>
          <p:nvPr/>
        </p:nvSpPr>
        <p:spPr>
          <a:xfrm>
            <a:off x="9405257" y="4797507"/>
            <a:ext cx="2496456" cy="4574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27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456B4FA7-273D-4672-BF91-1E676ED03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5" y="-301545"/>
            <a:ext cx="12192000" cy="68580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DBAE784-800A-424A-9281-BF9E83BA3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11" y="3470402"/>
            <a:ext cx="8277651" cy="29724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3252A25-1D30-424A-BCF8-18259E414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597" y="415133"/>
            <a:ext cx="2705100" cy="5781675"/>
          </a:xfrm>
          <a:prstGeom prst="rect">
            <a:avLst/>
          </a:prstGeom>
        </p:spPr>
      </p:pic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B661AD9-C483-44B9-82ED-B1871FA3DF71}"/>
              </a:ext>
            </a:extLst>
          </p:cNvPr>
          <p:cNvSpPr/>
          <p:nvPr/>
        </p:nvSpPr>
        <p:spPr>
          <a:xfrm>
            <a:off x="8945817" y="4989737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0499E34-E5CF-4959-B622-3FBA5A769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011" y="806477"/>
            <a:ext cx="8634125" cy="24994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1067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F3F96C0-A189-4487-BE9F-FA88F787A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1C8179A-D8A8-4A8E-8CD1-2CC2B987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765" y="716678"/>
            <a:ext cx="2705100" cy="5781675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BE63CC88-60D3-4AFB-A6A4-B393862F1A11}"/>
              </a:ext>
            </a:extLst>
          </p:cNvPr>
          <p:cNvSpPr/>
          <p:nvPr/>
        </p:nvSpPr>
        <p:spPr>
          <a:xfrm>
            <a:off x="10682874" y="5291282"/>
            <a:ext cx="1289330" cy="3906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5EE1AE5-60CB-426F-BA0A-D0B2F5D77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802" y="320400"/>
            <a:ext cx="3352800" cy="54959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70F4A99-828D-47B0-8A1A-B9695FF0855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6555"/>
          <a:stretch/>
        </p:blipFill>
        <p:spPr>
          <a:xfrm>
            <a:off x="1991242" y="4893971"/>
            <a:ext cx="5911948" cy="192431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42F0B5-E15E-45F7-B0D7-ECCAF77B4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00" y="81841"/>
            <a:ext cx="7378312" cy="52586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7890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4C852F2-796B-4C87-BFEE-8E74E681E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61" y="98470"/>
            <a:ext cx="5058904" cy="130292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BF41528-16A3-4AC0-B5B3-A9512C7ED6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399361" y="1378627"/>
            <a:ext cx="11495768" cy="1111346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19776D8C-D34B-4F33-B8ED-BC4B86B2EB50}"/>
              </a:ext>
            </a:extLst>
          </p:cNvPr>
          <p:cNvSpPr/>
          <p:nvPr/>
        </p:nvSpPr>
        <p:spPr>
          <a:xfrm>
            <a:off x="582455" y="2681556"/>
            <a:ext cx="1101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36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36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3600" b="0" i="0" dirty="0">
                <a:solidFill>
                  <a:srgbClr val="00B0F0"/>
                </a:solidFill>
                <a:effectLst/>
                <a:latin typeface="Titillium Web"/>
              </a:rPr>
              <a:t> programma per l’ottimizzazione di taglio lamiere  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A8AFAEC-71C4-4550-B3FF-96F8E27A5DB9}"/>
              </a:ext>
            </a:extLst>
          </p:cNvPr>
          <p:cNvSpPr/>
          <p:nvPr/>
        </p:nvSpPr>
        <p:spPr>
          <a:xfrm>
            <a:off x="597545" y="3418553"/>
            <a:ext cx="7885837" cy="2769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lang="it-IT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it-IT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t-IT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Facilità d’utilizzo</a:t>
            </a:r>
            <a:endParaRPr lang="it-IT" u="sng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lang="it-IT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it-IT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t-IT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Libertà operativa</a:t>
            </a: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lang="it-IT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it-IT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Utilizzo smart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lang="it-IT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it-IT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Grafica</a:t>
            </a:r>
            <a:endParaRPr lang="it-IT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EASY </a:t>
            </a:r>
            <a:r>
              <a:rPr lang="it-IT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Cut</a:t>
            </a:r>
            <a:r>
              <a:rPr lang="it-IT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it-IT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E’ un programma totalmente gratuito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EASY </a:t>
            </a:r>
            <a:r>
              <a:rPr lang="it-IT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Cut</a:t>
            </a:r>
            <a:r>
              <a:rPr lang="it-IT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it-IT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Funzionalità</a:t>
            </a:r>
            <a:endParaRPr lang="it-IT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80682D5-6ABA-46ED-A2B6-6796BAE7C0B3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139240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F02131DC-573B-4911-9657-B510A7E72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27239CC-6DB2-44B1-966F-0A3C379D8C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455E93C3-0E06-481A-858B-9815879E8030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CDFDED3-4CBD-4DB4-8005-27660D380A69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08B1AF0-4938-4C94-BB81-3A8E897B8317}"/>
              </a:ext>
            </a:extLst>
          </p:cNvPr>
          <p:cNvSpPr/>
          <p:nvPr/>
        </p:nvSpPr>
        <p:spPr>
          <a:xfrm>
            <a:off x="2384333" y="2711077"/>
            <a:ext cx="9273181" cy="3571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Facilità d’utilizzo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Il software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EASYCut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 fornisce in maniera automatica e veloce l’uso ottimale del taglio di sagome su lamiera di grande o piccolo formato.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Il software, grazie al suo particolare algoritmo, è rivolto ad aziende di produzione di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prelavorati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 per il taglio di forme rettangolari (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cesoiatura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 di lamiere, taglio di pannelli in legno o di lastre di vetro)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nonche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’ di annidamento avanzato ad elevato contenuto tecnologico per l’ottimizzazione dello sfrido permettendo di ottenere un buon risultato in pochi secondi, ma anche di aumentare i tempi di calcolo per incrementare ulteriormente l’efficacia delle operazioni di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nesting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Il suo algoritmi è un risparmio significativo del materiale usato.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La configurazione è ridotta al minimo bastano pochi click per definire una sessione di lavoro</a:t>
            </a:r>
            <a:endParaRPr lang="it-IT" sz="2000" u="sng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167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F02131DC-573B-4911-9657-B510A7E72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27239CC-6DB2-44B1-966F-0A3C379D8C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455E93C3-0E06-481A-858B-9815879E8030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CDFDED3-4CBD-4DB4-8005-27660D380A69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08B1AF0-4938-4C94-BB81-3A8E897B8317}"/>
              </a:ext>
            </a:extLst>
          </p:cNvPr>
          <p:cNvSpPr/>
          <p:nvPr/>
        </p:nvSpPr>
        <p:spPr>
          <a:xfrm>
            <a:off x="2384333" y="2711077"/>
            <a:ext cx="9273181" cy="2491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Facilità d’utilizzo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Dopo aver definito lo stock delle lamiere, il sagome da ottimizzare, la direzione del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nesting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, la distanza tra le sagome e l’angolo di rotazione ammesso, la funzione di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Nesting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 ritorna il posizionamento ottimizzato delle sagome sulle lamiere scelte.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La procedura al termine dell’esecuzione evidenzierà eventuali incongruenze o superamenti di limiti riscontrati durante il calcolo del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nesting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Il formato del file di disegno può essere di tipo DWG, DXF.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sz="2000" u="sng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90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783E4BA-1F03-4E1F-A98D-C4A16D9C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04D4908-F2C3-4D4D-874F-9B8CA54F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19C2442-5837-4C22-88E3-DD8A5B71BAB7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03017-15FF-4601-ABDF-7D4DE34DE80C}"/>
              </a:ext>
            </a:extLst>
          </p:cNvPr>
          <p:cNvSpPr/>
          <p:nvPr/>
        </p:nvSpPr>
        <p:spPr>
          <a:xfrm>
            <a:off x="2429691" y="2764060"/>
            <a:ext cx="9273181" cy="2186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Libertà operativa</a:t>
            </a:r>
            <a:endParaRPr lang="it-IT" sz="20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Al termine dell’elaborazione automatica è possibile comunque eseguire interventi manuali di modifica al risultato del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nesting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 spostando, ruotando, ecc. una o più sagome con i comandi modificati di Autocad.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Il software dispone di un modulo di importazione automatico e di visualizzazione dei principali formati di controllo numerico (DSTV / CAM) e sagome in formato DXF con controllo di sovrapposizioni spigoli e intersezioni.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547D60-860F-4130-8ADF-D48A2D11AD37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1553713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783E4BA-1F03-4E1F-A98D-C4A16D9C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04D4908-F2C3-4D4D-874F-9B8CA54F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19C2442-5837-4C22-88E3-DD8A5B71BAB7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03017-15FF-4601-ABDF-7D4DE34DE80C}"/>
              </a:ext>
            </a:extLst>
          </p:cNvPr>
          <p:cNvSpPr/>
          <p:nvPr/>
        </p:nvSpPr>
        <p:spPr>
          <a:xfrm>
            <a:off x="2384331" y="2696563"/>
            <a:ext cx="9273181" cy="357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Utilizzo smart</a:t>
            </a:r>
            <a:endParaRPr lang="it-IT" sz="20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Per mezzo della procedura di riconoscimento del contorno, viene definito lo spessore, il senso del cambiamento e la compensazione del taglio, oltre alla commessa, fase e nome della sagoma.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Il software dispone di un potente editing dinamico della sagoma, in qualsiasi momento possono essere modificati gli attributi e le caratteristiche del contorno.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Altra importante caratteristica è la verifica della sovrapposizione degli spigoli della sagoma.</a:t>
            </a: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Il software dispone di un modulo di reportistica e pianificazione dei tempi di taglio con codice a barre sviluppato in HTML adatto all’uso a bordo macchina per il carico e scarico lavoro.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547D60-860F-4130-8ADF-D48A2D11AD37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622630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783E4BA-1F03-4E1F-A98D-C4A16D9C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04D4908-F2C3-4D4D-874F-9B8CA54F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19C2442-5837-4C22-88E3-DD8A5B71BAB7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03017-15FF-4601-ABDF-7D4DE34DE80C}"/>
              </a:ext>
            </a:extLst>
          </p:cNvPr>
          <p:cNvSpPr/>
          <p:nvPr/>
        </p:nvSpPr>
        <p:spPr>
          <a:xfrm>
            <a:off x="2384331" y="2696563"/>
            <a:ext cx="9273181" cy="3323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Grafica</a:t>
            </a:r>
            <a:endParaRPr lang="it-IT" sz="20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Sviluppata sul motore grafico Autocad e produce </a:t>
            </a:r>
            <a:r>
              <a:rPr lang="it-IT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Dwg</a:t>
            </a:r>
            <a: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nativi.</a:t>
            </a:r>
            <a:b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software è stato testato su Autocad 2007 e 2019 e sviluppato con linguaggio </a:t>
            </a:r>
            <a:r>
              <a:rPr lang="it-IT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Autolisp</a:t>
            </a:r>
            <a:r>
              <a:rPr lang="it-IT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completamente sorgente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E’ un programma totalmente gratuito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Il programma nasce dalla passione e dall’esperienza di lavoro ed completamente gratuito e a zero canoni annuali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547D60-860F-4130-8ADF-D48A2D11AD37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720973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783E4BA-1F03-4E1F-A98D-C4A16D9C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04D4908-F2C3-4D4D-874F-9B8CA54F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19C2442-5837-4C22-88E3-DD8A5B71BAB7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03017-15FF-4601-ABDF-7D4DE34DE80C}"/>
              </a:ext>
            </a:extLst>
          </p:cNvPr>
          <p:cNvSpPr/>
          <p:nvPr/>
        </p:nvSpPr>
        <p:spPr>
          <a:xfrm>
            <a:off x="2384331" y="2696563"/>
            <a:ext cx="9273181" cy="4131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Funzionalità</a:t>
            </a:r>
            <a:endParaRPr lang="it-IT" sz="20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Importazione dati e ottimizzazione</a:t>
            </a:r>
          </a:p>
          <a:p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Arial" panose="020B0604020202020204" pitchFamily="34" charset="0"/>
                <a:cs typeface="Times New Roman" panose="02020603050405020304" pitchFamily="18" charset="0"/>
              </a:rPr>
              <a:t>Setup configurazione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Caricamento dati di default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Visualizzazione dati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Menu personalizzati dati di taglio, spessori, velocità di taglio, tipo attacchi, lunghezza attacchi, personalizzazione codice a barre,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ecc</a:t>
            </a:r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/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Arial" panose="020B0604020202020204" pitchFamily="34" charset="0"/>
                <a:cs typeface="Times New Roman" panose="02020603050405020304" pitchFamily="18" charset="0"/>
              </a:rPr>
              <a:t>Import</a:t>
            </a:r>
          </a:p>
          <a:p>
            <a:pPr lvl="1"/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Dstv</a:t>
            </a:r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Cam</a:t>
            </a:r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Dxf</a:t>
            </a:r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547D60-860F-4130-8ADF-D48A2D11AD37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1502752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783E4BA-1F03-4E1F-A98D-C4A16D9C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04D4908-F2C3-4D4D-874F-9B8CA54F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19C2442-5837-4C22-88E3-DD8A5B71BAB7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03017-15FF-4601-ABDF-7D4DE34DE80C}"/>
              </a:ext>
            </a:extLst>
          </p:cNvPr>
          <p:cNvSpPr/>
          <p:nvPr/>
        </p:nvSpPr>
        <p:spPr>
          <a:xfrm>
            <a:off x="2384331" y="2696563"/>
            <a:ext cx="9273181" cy="357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Funzionalità</a:t>
            </a:r>
            <a:endParaRPr lang="it-IT" sz="20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Importazione dati e ottimizzazione</a:t>
            </a:r>
          </a:p>
          <a:p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Arial" panose="020B0604020202020204" pitchFamily="34" charset="0"/>
                <a:cs typeface="Times New Roman" panose="02020603050405020304" pitchFamily="18" charset="0"/>
              </a:rPr>
              <a:t>Tecnologia contorno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Dati forma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Info dinamico contorno</a:t>
            </a:r>
          </a:p>
          <a:p>
            <a:pPr lvl="1"/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Arial" panose="020B0604020202020204" pitchFamily="34" charset="0"/>
                <a:cs typeface="Times New Roman" panose="02020603050405020304" pitchFamily="18" charset="0"/>
              </a:rPr>
              <a:t>Tecnologia lamiera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Inserimento lamiera singola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Inserimento stock lamiere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Inserimento lamiere sagomate o sfridi di recupero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547D60-860F-4130-8ADF-D48A2D11AD37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4227839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783E4BA-1F03-4E1F-A98D-C4A16D9C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04D4908-F2C3-4D4D-874F-9B8CA54F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19C2442-5837-4C22-88E3-DD8A5B71BAB7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03017-15FF-4601-ABDF-7D4DE34DE80C}"/>
              </a:ext>
            </a:extLst>
          </p:cNvPr>
          <p:cNvSpPr/>
          <p:nvPr/>
        </p:nvSpPr>
        <p:spPr>
          <a:xfrm>
            <a:off x="2384331" y="2696563"/>
            <a:ext cx="9273181" cy="4125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Funzionalità</a:t>
            </a:r>
            <a:endParaRPr lang="it-IT" sz="20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Importazione dati e ottimizzazione</a:t>
            </a:r>
          </a:p>
          <a:p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Arial" panose="020B0604020202020204" pitchFamily="34" charset="0"/>
                <a:cs typeface="Times New Roman" panose="02020603050405020304" pitchFamily="18" charset="0"/>
              </a:rPr>
              <a:t>Attacchi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Inserimento attacco singolo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Inserimento attacco automatico su contorno di taglio riconoscendo la convenienza di un attacco radiale tangenziale piuttosto che lineare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Inserimento attacchi su lamiera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ottimizata</a:t>
            </a:r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Cancellazione attacchi</a:t>
            </a:r>
          </a:p>
          <a:p>
            <a:r>
              <a:rPr lang="it-IT" b="1" dirty="0">
                <a:latin typeface="Arial" panose="020B0604020202020204" pitchFamily="34" charset="0"/>
                <a:cs typeface="Times New Roman" panose="02020603050405020304" pitchFamily="18" charset="0"/>
              </a:rPr>
              <a:t>Contorno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Spostamento manuale del contorno riconoscendo lo spazio di manovra e collisioni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Inserimento manuale nuove sagome su lamiere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Inserimento a matrice nuove sagome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Spostamento sagoma con metodo ”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LieDown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547D60-860F-4130-8ADF-D48A2D11AD37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87876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783E4BA-1F03-4E1F-A98D-C4A16D9C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04D4908-F2C3-4D4D-874F-9B8CA54F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19C2442-5837-4C22-88E3-DD8A5B71BAB7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03017-15FF-4601-ABDF-7D4DE34DE80C}"/>
              </a:ext>
            </a:extLst>
          </p:cNvPr>
          <p:cNvSpPr/>
          <p:nvPr/>
        </p:nvSpPr>
        <p:spPr>
          <a:xfrm>
            <a:off x="2384331" y="2696563"/>
            <a:ext cx="9273181" cy="357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Funzionalità</a:t>
            </a:r>
            <a:endParaRPr lang="it-IT" sz="20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Importazione dati e ottimizzazione</a:t>
            </a:r>
          </a:p>
          <a:p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Arial" panose="020B0604020202020204" pitchFamily="34" charset="0"/>
                <a:cs typeface="Times New Roman" panose="02020603050405020304" pitchFamily="18" charset="0"/>
              </a:rPr>
              <a:t>Taglio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Info pezzi su lamiera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Sequenza automatica e manuale taglio sagome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Simulazione di taglio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Report taglio lamiere e sequenza taglio con identificazione a codice a barre contorni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Rintracciabilità contorni tagliati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Tempi e costi del taglio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Gestione lamiere impegnate nella fase di taglio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547D60-860F-4130-8ADF-D48A2D11AD37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542572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783E4BA-1F03-4E1F-A98D-C4A16D9C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4" y="15037"/>
            <a:ext cx="5058904" cy="13029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04D4908-F2C3-4D4D-874F-9B8CA54F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03" b="32943"/>
          <a:stretch/>
        </p:blipFill>
        <p:spPr>
          <a:xfrm>
            <a:off x="207104" y="1295194"/>
            <a:ext cx="11495768" cy="1111346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19C2442-5837-4C22-88E3-DD8A5B71BAB7}"/>
              </a:ext>
            </a:extLst>
          </p:cNvPr>
          <p:cNvSpPr/>
          <p:nvPr/>
        </p:nvSpPr>
        <p:spPr>
          <a:xfrm>
            <a:off x="207104" y="2536909"/>
            <a:ext cx="23530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EASY </a:t>
            </a:r>
            <a:r>
              <a:rPr lang="it-IT" sz="4000" b="0" i="0" dirty="0" err="1">
                <a:solidFill>
                  <a:srgbClr val="00B0F0"/>
                </a:solidFill>
                <a:effectLst/>
                <a:latin typeface="Titillium Web"/>
              </a:rPr>
              <a:t>Cut</a:t>
            </a:r>
            <a:r>
              <a:rPr lang="it-IT" sz="4000" b="0" i="0" dirty="0">
                <a:solidFill>
                  <a:srgbClr val="00B0F0"/>
                </a:solidFill>
                <a:effectLst/>
                <a:latin typeface="Titillium Web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03017-15FF-4601-ABDF-7D4DE34DE80C}"/>
              </a:ext>
            </a:extLst>
          </p:cNvPr>
          <p:cNvSpPr/>
          <p:nvPr/>
        </p:nvSpPr>
        <p:spPr>
          <a:xfrm>
            <a:off x="2384331" y="2696563"/>
            <a:ext cx="9273181" cy="2469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it-IT" sz="20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Funzionalità</a:t>
            </a:r>
            <a:endParaRPr lang="it-IT" sz="20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Importazione dati e ottimizzazione</a:t>
            </a:r>
          </a:p>
          <a:p>
            <a:endParaRPr lang="it-IT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it-IT" b="1" dirty="0" err="1">
                <a:latin typeface="Arial" panose="020B0604020202020204" pitchFamily="34" charset="0"/>
                <a:cs typeface="Times New Roman" panose="02020603050405020304" pitchFamily="18" charset="0"/>
              </a:rPr>
              <a:t>Nesting</a:t>
            </a:r>
            <a:endParaRPr lang="it-IT" b="1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Ottimizzazione per taglio sagome rettangolari (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cesoiatura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 di lamiere, taglio di pannelli in legno o di lastre di vetro)</a:t>
            </a:r>
          </a:p>
          <a:p>
            <a:pPr lvl="1"/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Ottimizzazione modalità </a:t>
            </a:r>
            <a:r>
              <a:rPr lang="it-IT" dirty="0" err="1">
                <a:latin typeface="Arial" panose="020B0604020202020204" pitchFamily="34" charset="0"/>
                <a:cs typeface="Times New Roman" panose="02020603050405020304" pitchFamily="18" charset="0"/>
              </a:rPr>
              <a:t>nesting</a:t>
            </a:r>
            <a:r>
              <a:rPr lang="it-IT" dirty="0">
                <a:latin typeface="Arial" panose="020B0604020202020204" pitchFamily="34" charset="0"/>
                <a:cs typeface="Times New Roman" panose="02020603050405020304" pitchFamily="18" charset="0"/>
              </a:rPr>
              <a:t> avanzato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547D60-860F-4130-8ADF-D48A2D11AD37}"/>
              </a:ext>
            </a:extLst>
          </p:cNvPr>
          <p:cNvSpPr/>
          <p:nvPr/>
        </p:nvSpPr>
        <p:spPr>
          <a:xfrm>
            <a:off x="6222612" y="441550"/>
            <a:ext cx="5258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>
                <a:solidFill>
                  <a:srgbClr val="00B0F0"/>
                </a:solidFill>
                <a:highlight>
                  <a:srgbClr val="000080"/>
                </a:highlight>
                <a:latin typeface="Titillium Web"/>
              </a:rPr>
              <a:t>PRODOTTO    CONTATTI   DOWNLOAD	SCREENSHOTS</a:t>
            </a:r>
            <a:endParaRPr lang="it-IT" b="0" i="0" dirty="0">
              <a:solidFill>
                <a:srgbClr val="00B0F0"/>
              </a:solidFill>
              <a:effectLst/>
              <a:highlight>
                <a:srgbClr val="000080"/>
              </a:highlight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13908361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623</Words>
  <Application>Microsoft Office PowerPoint</Application>
  <PresentationFormat>Widescreen</PresentationFormat>
  <Paragraphs>103</Paragraphs>
  <Slides>27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Titillium Web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andy 65</cp:lastModifiedBy>
  <cp:revision>46</cp:revision>
  <dcterms:created xsi:type="dcterms:W3CDTF">2019-07-28T07:31:13Z</dcterms:created>
  <dcterms:modified xsi:type="dcterms:W3CDTF">2019-12-28T17:54:03Z</dcterms:modified>
</cp:coreProperties>
</file>