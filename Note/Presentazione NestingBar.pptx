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7" r:id="rId4"/>
    <p:sldId id="260" r:id="rId5"/>
    <p:sldId id="261" r:id="rId6"/>
    <p:sldId id="258" r:id="rId7"/>
    <p:sldId id="259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  <p:sldId id="275" r:id="rId2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12" autoAdjust="0"/>
    <p:restoredTop sz="94660"/>
  </p:normalViewPr>
  <p:slideViewPr>
    <p:cSldViewPr snapToGrid="0">
      <p:cViewPr varScale="1">
        <p:scale>
          <a:sx n="69" d="100"/>
          <a:sy n="69" d="100"/>
        </p:scale>
        <p:origin x="7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7DC0E84-9965-496A-9699-B0E8E8EC35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01133755-93CA-450A-B445-A7624BA6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76ABF23-CEEE-417C-998C-F8CA97F17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97C9F5-4096-46E8-B963-8BFB2A724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88D9C91-BB44-4892-B7F1-F605C5C09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67200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DD04F2-4644-4508-A0ED-8F238C945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452B515-7B48-45DC-92E1-B925FDE66F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A5ABAFC-8147-48BB-AC5B-C4655A4C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4162C86-8744-43F5-B0F3-0C807D603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28F7427-FA77-4C32-B97E-62D31E888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28145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8DEEDD-3B19-4576-8DA2-6CEBEEFB0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B0152FE-330A-44E3-9AE3-AAE82C06A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E68921-0412-498C-AA13-62274ADC0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585F563-BDA9-45FA-A021-8FD067A8C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798D45C-645A-4169-AB8F-AA72BB41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46001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1F1BC44-C8B5-458A-99CA-F25CE9A6F2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220C286-D0DC-4D60-9DC3-55D6247E7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8F6D0FDD-53AE-41D0-8533-3E900EDF31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6E34CC69-1B2B-4344-A24E-DB546AFDD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61CF784-2E5E-4148-863E-2357CD9CA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DEEAC0A-EF0B-4796-A091-9D81FF53DC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9003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0C9885D-8CCF-4AC2-8873-14043944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CE2654E-CC9F-4AC3-9C98-1DE2C1392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1D34530-BC80-4463-B392-1D7E9167F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138E18F5-9043-495A-A188-5CFDC9B56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767C4D7-5537-43EC-BEE5-4731CD28F5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84E7BF5-45ED-48F6-BD6C-C0311C677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43A3F5E-815A-441E-80C8-6768E4F0AF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9B6B040-E1BA-4D95-A3F8-BD8443624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516612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A372CC-3BFE-448C-80BE-38E3F5A6A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6ECFD309-62A2-4108-B014-AC6928963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7A3094E-B4D4-47A1-B55E-D425D1BA2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F07F4B76-1E17-43BF-9FC2-FBAE890E3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66614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93DC7BF0-D8D4-49FA-83BA-611D01FF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5D2315B-B1CC-4099-8ACB-6D313E2DF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CAC754-D4DA-4584-828B-1CAAC5B9A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82005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3E7CA0C-96C6-4BDC-B9B7-1A8CF98C7C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9579943-2B1F-48A2-A58D-3103318E8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07E038F-AB37-449C-963A-B15AFA4C4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53726E-E985-4300-BB1F-053C15106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62BB812-86E9-451D-8566-2BFD6F614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89E2AE5-B2F8-4F3D-B1BC-27CC99494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93202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FA4E5AA-6032-4B78-AEE6-EF0766CBE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9AFE9E4-AC68-4A13-85C3-EB17E9C570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BA35FA18-625A-44C8-843C-C2566A563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7FFA29-2EE8-42C4-BF1A-2B5991F84C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20A9A48-30E0-4D74-BF1E-9220F4579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E442C42-46D1-4662-9F67-66D148F22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796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50024C-2C6C-43B5-8D31-5F1B1D60E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21A0110-2A41-4562-B275-4538966DEF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027F8C-014E-492A-86EB-7024B4DB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E56F79F-345C-4F75-9DA6-0FE22FE767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57F420E-9B88-45F0-9365-F8542F7D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5984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AEA374B-3B92-48C8-B405-15BE688208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0E719EFA-A47A-4B93-A213-EA4FE5A075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99C17D4-8D90-4697-AED8-AC2E3A870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2E1576-2BC7-4735-BBF0-22E68FD09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0FA198A-329E-4C63-B0CB-53CB98B6E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1798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BB2F9E9-4BD3-4F28-AF51-570DF9CB7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27308C7-A68F-4C1B-8022-226293D285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E5C413-2A9A-442E-928D-CFA6E0EA3F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A5E9FE-E25B-437D-9C4E-42BE37902567}" type="datetimeFigureOut">
              <a:rPr lang="it-IT" smtClean="0"/>
              <a:t>09/12/2022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7B87561-31E7-4108-9533-D5739BCADC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92B0D2-D03E-4EC4-B2EA-F6C3D7583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271E4D-2473-4B53-B95B-4C0FBCEC0956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830518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easycutnesting.it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www.easycutnesting.it/Video/NestingBars.mp4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2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16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1892E9D3-55E4-43B8-9EEB-69B6B51F9B5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219718"/>
            <a:ext cx="12192000" cy="2418563"/>
          </a:xfrm>
          <a:prstGeom prst="rect">
            <a:avLst/>
          </a:prstGeom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3B4DE089-A911-4407-8A85-E1276AB6C82A}"/>
              </a:ext>
            </a:extLst>
          </p:cNvPr>
          <p:cNvSpPr txBox="1"/>
          <p:nvPr/>
        </p:nvSpPr>
        <p:spPr>
          <a:xfrm>
            <a:off x="4110445" y="4885509"/>
            <a:ext cx="372726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/>
              <a:t>SOFTWARE PER IL NESTING LAMIERE e</a:t>
            </a:r>
          </a:p>
          <a:p>
            <a:pPr algn="ctr"/>
            <a:r>
              <a:rPr lang="it-IT" dirty="0"/>
              <a:t> NESTING BARRE</a:t>
            </a:r>
          </a:p>
          <a:p>
            <a:pPr algn="ctr"/>
            <a:r>
              <a:rPr lang="it-IT" dirty="0">
                <a:hlinkClick r:id="rId4"/>
              </a:rPr>
              <a:t>www.easycutnesting.it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560186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5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4582F44-B06F-4537-899F-D93F6768461E}"/>
              </a:ext>
            </a:extLst>
          </p:cNvPr>
          <p:cNvSpPr txBox="1"/>
          <p:nvPr/>
        </p:nvSpPr>
        <p:spPr>
          <a:xfrm>
            <a:off x="154106" y="2318885"/>
            <a:ext cx="919867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In questa guida viene descritta la modalità di utilizzo delle parti e il conseguente output di ottimizzazione delle barre.</a:t>
            </a:r>
          </a:p>
          <a:p>
            <a:r>
              <a:rPr lang="it-IT" dirty="0"/>
              <a:t>Per chiarezza chiameremo «parti» i pezzi da ottimizzare e «barre» dove verranno disposi i pezzi </a:t>
            </a:r>
          </a:p>
          <a:p>
            <a:endParaRPr lang="it-IT" dirty="0"/>
          </a:p>
          <a:p>
            <a:r>
              <a:rPr lang="it-IT" dirty="0"/>
              <a:t>La logica di ottimizzazione si basa sul concetto di inserire automaticamente, con il minimo sfrido, una serie di parti all’interno di una barra di lunghezza nota.</a:t>
            </a:r>
          </a:p>
          <a:p>
            <a:r>
              <a:rPr lang="it-IT" dirty="0"/>
              <a:t>Il programma sfrutta quattro algoritmi differenti per ottenere una «performance» in termine di tempo e sfrido ottimale.</a:t>
            </a:r>
          </a:p>
          <a:p>
            <a:r>
              <a:rPr lang="it-IT" dirty="0"/>
              <a:t>E’ possibile agire sull’ «accuratezza del risultato» in modo di avere un risultato in tempi brevi.  </a:t>
            </a:r>
          </a:p>
          <a:p>
            <a:endParaRPr lang="it-IT" dirty="0"/>
          </a:p>
          <a:p>
            <a:r>
              <a:rPr lang="it-IT" dirty="0">
                <a:hlinkClick r:id="rId2"/>
              </a:rPr>
              <a:t>Qui potete trovare un video dell'utilizzo del programma</a:t>
            </a:r>
            <a:endParaRPr lang="it-IT" dirty="0"/>
          </a:p>
        </p:txBody>
      </p:sp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F18D619-BBD1-41D6-B726-F16AA8C224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4106" y="309126"/>
            <a:ext cx="3653669" cy="724789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8689278F-5882-4990-8F8B-1AB5939FBD4B}"/>
              </a:ext>
            </a:extLst>
          </p:cNvPr>
          <p:cNvSpPr txBox="1"/>
          <p:nvPr/>
        </p:nvSpPr>
        <p:spPr>
          <a:xfrm>
            <a:off x="154106" y="1307068"/>
            <a:ext cx="688412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/>
              <a:t>NESTING BARS</a:t>
            </a:r>
          </a:p>
          <a:p>
            <a:r>
              <a:rPr lang="it-IT" dirty="0"/>
              <a:t>Descrizione e utilizzo del programma per l’ottimizzazione delle barre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218BDC0-E180-4834-8B9D-8AFE3477524A}"/>
              </a:ext>
            </a:extLst>
          </p:cNvPr>
          <p:cNvSpPr txBox="1"/>
          <p:nvPr/>
        </p:nvSpPr>
        <p:spPr>
          <a:xfrm>
            <a:off x="154106" y="5625544"/>
            <a:ext cx="62692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/>
              <a:t>Completamente Gratuito</a:t>
            </a:r>
          </a:p>
          <a:p>
            <a:r>
              <a:rPr lang="it-IT" dirty="0"/>
              <a:t>Il programma nasce dalla passione e dall’esperienza di lavoro.</a:t>
            </a:r>
          </a:p>
          <a:p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6142DCD-22C1-4A6F-BE5C-675312609CED}"/>
              </a:ext>
            </a:extLst>
          </p:cNvPr>
          <p:cNvSpPr txBox="1"/>
          <p:nvPr/>
        </p:nvSpPr>
        <p:spPr>
          <a:xfrm>
            <a:off x="4052387" y="440687"/>
            <a:ext cx="65967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b="1" dirty="0"/>
              <a:t>Programma per l’ottimizzazione barre</a:t>
            </a:r>
            <a:endParaRPr lang="it-IT" sz="2400" dirty="0"/>
          </a:p>
        </p:txBody>
      </p:sp>
      <p:pic>
        <p:nvPicPr>
          <p:cNvPr id="8" name="Elemento grafico 7" descr="Videocamera">
            <a:extLst>
              <a:ext uri="{FF2B5EF4-FFF2-40B4-BE49-F238E27FC236}">
                <a16:creationId xmlns:a16="http://schemas.microsoft.com/office/drawing/2014/main" id="{0EB88030-A0DA-46BE-A76F-1546A21B264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34330" y="4875205"/>
            <a:ext cx="714859" cy="714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5056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7D20AA95-A699-439C-B02E-70A11C9BB2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E9F7AF77-C12F-44DA-B3A0-92F2A5EB64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1809" y="309126"/>
            <a:ext cx="2648320" cy="623974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B8AEE1F-B0CE-4813-9B67-CF1227F5F52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280" b="16395"/>
          <a:stretch/>
        </p:blipFill>
        <p:spPr>
          <a:xfrm>
            <a:off x="5323237" y="4401252"/>
            <a:ext cx="3483111" cy="125769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Freccia circolare a sinistra 4">
            <a:extLst>
              <a:ext uri="{FF2B5EF4-FFF2-40B4-BE49-F238E27FC236}">
                <a16:creationId xmlns:a16="http://schemas.microsoft.com/office/drawing/2014/main" id="{DE88B1DF-CBAE-4201-A5F4-56333D9E1B91}"/>
              </a:ext>
            </a:extLst>
          </p:cNvPr>
          <p:cNvSpPr/>
          <p:nvPr/>
        </p:nvSpPr>
        <p:spPr>
          <a:xfrm rot="5400000">
            <a:off x="7543997" y="3857613"/>
            <a:ext cx="855121" cy="348311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0" name="Elemento grafico 9">
            <a:extLst>
              <a:ext uri="{FF2B5EF4-FFF2-40B4-BE49-F238E27FC236}">
                <a16:creationId xmlns:a16="http://schemas.microsoft.com/office/drawing/2014/main" id="{9B39C349-0663-4570-9DD2-0EBB8EEBFB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6007" y="18077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82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A19D0BE9-6294-4FC1-BC0C-FA2EE9A810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461F7FED-BE8C-44E4-8EA3-8E80C13007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956916"/>
            <a:ext cx="12060333" cy="4944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502BA71D-589A-49E2-9738-705DF0D2DB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5490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magine 24">
            <a:extLst>
              <a:ext uri="{FF2B5EF4-FFF2-40B4-BE49-F238E27FC236}">
                <a16:creationId xmlns:a16="http://schemas.microsoft.com/office/drawing/2014/main" id="{57C66957-A376-4C8E-A072-E5A569898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701F42BD-3454-48EA-A34B-89DFADADE2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" y="956917"/>
            <a:ext cx="12060333" cy="494416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1FB9B966-8D96-471C-8E42-715795F25DA5}"/>
              </a:ext>
            </a:extLst>
          </p:cNvPr>
          <p:cNvSpPr/>
          <p:nvPr/>
        </p:nvSpPr>
        <p:spPr>
          <a:xfrm>
            <a:off x="163087" y="1261700"/>
            <a:ext cx="1520123" cy="2167300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EB6339D6-B80D-4E99-80C7-FF97B8A3137D}"/>
              </a:ext>
            </a:extLst>
          </p:cNvPr>
          <p:cNvSpPr/>
          <p:nvPr/>
        </p:nvSpPr>
        <p:spPr>
          <a:xfrm>
            <a:off x="6605126" y="1260387"/>
            <a:ext cx="1520123" cy="2222745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3A901FB-058D-4BCD-B9B5-7F28844A791F}"/>
              </a:ext>
            </a:extLst>
          </p:cNvPr>
          <p:cNvSpPr/>
          <p:nvPr/>
        </p:nvSpPr>
        <p:spPr>
          <a:xfrm>
            <a:off x="1720757" y="1261054"/>
            <a:ext cx="4842192" cy="3116415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39F8CBD-9474-40AB-8B0D-5DFD70DEB356}"/>
              </a:ext>
            </a:extLst>
          </p:cNvPr>
          <p:cNvSpPr/>
          <p:nvPr/>
        </p:nvSpPr>
        <p:spPr>
          <a:xfrm>
            <a:off x="8158166" y="1260387"/>
            <a:ext cx="3905247" cy="3128193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42CF63F8-55B0-42FC-B0A8-1F0735C870FA}"/>
              </a:ext>
            </a:extLst>
          </p:cNvPr>
          <p:cNvSpPr/>
          <p:nvPr/>
        </p:nvSpPr>
        <p:spPr>
          <a:xfrm>
            <a:off x="172113" y="3839151"/>
            <a:ext cx="1482811" cy="255142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F7C3D3A5-C0DA-4970-A076-F0188D2F1EFA}"/>
              </a:ext>
            </a:extLst>
          </p:cNvPr>
          <p:cNvSpPr/>
          <p:nvPr/>
        </p:nvSpPr>
        <p:spPr>
          <a:xfrm>
            <a:off x="172114" y="4127802"/>
            <a:ext cx="1482811" cy="255142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A135FAA5-DD90-4631-9BA0-AC57715D41A9}"/>
              </a:ext>
            </a:extLst>
          </p:cNvPr>
          <p:cNvSpPr/>
          <p:nvPr/>
        </p:nvSpPr>
        <p:spPr>
          <a:xfrm>
            <a:off x="6628783" y="3841029"/>
            <a:ext cx="1482811" cy="255142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5AEECBA0-562C-47CD-8C2B-9CD7D6EF84C5}"/>
              </a:ext>
            </a:extLst>
          </p:cNvPr>
          <p:cNvSpPr/>
          <p:nvPr/>
        </p:nvSpPr>
        <p:spPr>
          <a:xfrm>
            <a:off x="6628783" y="4121699"/>
            <a:ext cx="1482811" cy="255142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9E0DB5D4-47FD-4533-A56B-B2D14E478C33}"/>
              </a:ext>
            </a:extLst>
          </p:cNvPr>
          <p:cNvSpPr/>
          <p:nvPr/>
        </p:nvSpPr>
        <p:spPr>
          <a:xfrm>
            <a:off x="133350" y="4596490"/>
            <a:ext cx="2147273" cy="951694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390AC203-95B9-498D-B23D-DAA9E6764C5B}"/>
              </a:ext>
            </a:extLst>
          </p:cNvPr>
          <p:cNvSpPr/>
          <p:nvPr/>
        </p:nvSpPr>
        <p:spPr>
          <a:xfrm>
            <a:off x="2346457" y="4595544"/>
            <a:ext cx="2091742" cy="964329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AC4897C-5A77-4840-94A0-34E49452276C}"/>
              </a:ext>
            </a:extLst>
          </p:cNvPr>
          <p:cNvSpPr/>
          <p:nvPr/>
        </p:nvSpPr>
        <p:spPr>
          <a:xfrm>
            <a:off x="4468747" y="4594606"/>
            <a:ext cx="1682750" cy="965267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436A0137-9FEA-4E7B-9455-583AE4E626D1}"/>
              </a:ext>
            </a:extLst>
          </p:cNvPr>
          <p:cNvSpPr/>
          <p:nvPr/>
        </p:nvSpPr>
        <p:spPr>
          <a:xfrm>
            <a:off x="6175375" y="4605717"/>
            <a:ext cx="5835392" cy="418722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89B20E8B-1297-4EBC-8190-799EACA9C83C}"/>
              </a:ext>
            </a:extLst>
          </p:cNvPr>
          <p:cNvSpPr/>
          <p:nvPr/>
        </p:nvSpPr>
        <p:spPr>
          <a:xfrm>
            <a:off x="4785360" y="5607843"/>
            <a:ext cx="861060" cy="245269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3B93E6F-0631-402E-9CA2-4755076AD8E9}"/>
              </a:ext>
            </a:extLst>
          </p:cNvPr>
          <p:cNvSpPr/>
          <p:nvPr/>
        </p:nvSpPr>
        <p:spPr>
          <a:xfrm>
            <a:off x="5875020" y="5607843"/>
            <a:ext cx="861060" cy="245269"/>
          </a:xfrm>
          <a:prstGeom prst="rect">
            <a:avLst/>
          </a:prstGeom>
          <a:solidFill>
            <a:srgbClr val="0070C0">
              <a:alpha val="24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818540F3-AFA4-4FB0-9C5B-8BC6ED5E43B3}"/>
              </a:ext>
            </a:extLst>
          </p:cNvPr>
          <p:cNvSpPr/>
          <p:nvPr/>
        </p:nvSpPr>
        <p:spPr>
          <a:xfrm>
            <a:off x="3957040" y="2119610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D4A3D7FE-15A1-4802-B626-0D176D2B90BD}"/>
              </a:ext>
            </a:extLst>
          </p:cNvPr>
          <p:cNvSpPr/>
          <p:nvPr/>
        </p:nvSpPr>
        <p:spPr>
          <a:xfrm>
            <a:off x="9566808" y="210779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60442AE4-95EC-46A6-8971-DC606EC7ABC2}"/>
              </a:ext>
            </a:extLst>
          </p:cNvPr>
          <p:cNvSpPr/>
          <p:nvPr/>
        </p:nvSpPr>
        <p:spPr>
          <a:xfrm>
            <a:off x="665222" y="205064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2A7CA446-7C4F-4C18-8736-254D4FA89351}"/>
              </a:ext>
            </a:extLst>
          </p:cNvPr>
          <p:cNvSpPr/>
          <p:nvPr/>
        </p:nvSpPr>
        <p:spPr>
          <a:xfrm>
            <a:off x="6988364" y="2107798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B589BDDC-DA27-4F84-AC75-0263E362D8AC}"/>
              </a:ext>
            </a:extLst>
          </p:cNvPr>
          <p:cNvSpPr/>
          <p:nvPr/>
        </p:nvSpPr>
        <p:spPr>
          <a:xfrm>
            <a:off x="170991" y="3727664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8D056CFA-E710-4B8B-BDE3-CD5AA6EABD7E}"/>
              </a:ext>
            </a:extLst>
          </p:cNvPr>
          <p:cNvSpPr/>
          <p:nvPr/>
        </p:nvSpPr>
        <p:spPr>
          <a:xfrm>
            <a:off x="6632984" y="373028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2BA98B56-7BCB-413F-B8BC-7CF43FA56F2E}"/>
              </a:ext>
            </a:extLst>
          </p:cNvPr>
          <p:cNvSpPr/>
          <p:nvPr/>
        </p:nvSpPr>
        <p:spPr>
          <a:xfrm>
            <a:off x="181207" y="4018887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29F24AD0-7B99-42FD-ADA1-C45389A3C59C}"/>
              </a:ext>
            </a:extLst>
          </p:cNvPr>
          <p:cNvSpPr/>
          <p:nvPr/>
        </p:nvSpPr>
        <p:spPr>
          <a:xfrm>
            <a:off x="6641999" y="4010775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732FE881-8614-43A7-B879-078128424548}"/>
              </a:ext>
            </a:extLst>
          </p:cNvPr>
          <p:cNvSpPr/>
          <p:nvPr/>
        </p:nvSpPr>
        <p:spPr>
          <a:xfrm>
            <a:off x="1064388" y="4699763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29D38933-9192-40EC-A94D-28EDCAE9BD56}"/>
              </a:ext>
            </a:extLst>
          </p:cNvPr>
          <p:cNvSpPr/>
          <p:nvPr/>
        </p:nvSpPr>
        <p:spPr>
          <a:xfrm>
            <a:off x="3144775" y="4721215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4737CD78-EEFA-4950-BCDF-0DC5A6B43E89}"/>
              </a:ext>
            </a:extLst>
          </p:cNvPr>
          <p:cNvSpPr/>
          <p:nvPr/>
        </p:nvSpPr>
        <p:spPr>
          <a:xfrm>
            <a:off x="5035046" y="4703594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204D4279-CC7A-4260-93A0-E4505D67E232}"/>
              </a:ext>
            </a:extLst>
          </p:cNvPr>
          <p:cNvSpPr/>
          <p:nvPr/>
        </p:nvSpPr>
        <p:spPr>
          <a:xfrm>
            <a:off x="8903721" y="4543424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66A1383A-2002-4655-BF81-BAF584C7190E}"/>
              </a:ext>
            </a:extLst>
          </p:cNvPr>
          <p:cNvSpPr/>
          <p:nvPr/>
        </p:nvSpPr>
        <p:spPr>
          <a:xfrm>
            <a:off x="4351786" y="5479701"/>
            <a:ext cx="495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DC9A464B-7429-41A6-8CA5-DEF8BB699D1B}"/>
              </a:ext>
            </a:extLst>
          </p:cNvPr>
          <p:cNvSpPr/>
          <p:nvPr/>
        </p:nvSpPr>
        <p:spPr>
          <a:xfrm>
            <a:off x="6056761" y="5241576"/>
            <a:ext cx="495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AE994D4F-2936-43F7-B2A0-B00AE35AD4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43678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B5685B2B-E7EC-4D58-B0C7-6BBD491A35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A7E119FB-3D24-4D9B-8B70-8646870EC64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629" b="26189"/>
          <a:stretch/>
        </p:blipFill>
        <p:spPr>
          <a:xfrm>
            <a:off x="3081836" y="1341368"/>
            <a:ext cx="7088574" cy="37386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64D34559-35A0-40D3-9810-8F0FE07C561B}"/>
              </a:ext>
            </a:extLst>
          </p:cNvPr>
          <p:cNvSpPr/>
          <p:nvPr/>
        </p:nvSpPr>
        <p:spPr>
          <a:xfrm>
            <a:off x="3183242" y="1651595"/>
            <a:ext cx="1558750" cy="222343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C1A5762E-26FF-432B-A9F5-F544538A1E98}"/>
              </a:ext>
            </a:extLst>
          </p:cNvPr>
          <p:cNvSpPr/>
          <p:nvPr/>
        </p:nvSpPr>
        <p:spPr>
          <a:xfrm>
            <a:off x="4741992" y="1651683"/>
            <a:ext cx="4940182" cy="31968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1E3B58D2-8A04-4DCF-BCE8-356A53C6BB38}"/>
              </a:ext>
            </a:extLst>
          </p:cNvPr>
          <p:cNvSpPr/>
          <p:nvPr/>
        </p:nvSpPr>
        <p:spPr>
          <a:xfrm>
            <a:off x="3238492" y="4281696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61EC9BB0-80E2-4D59-9861-F3C7D1AE3FF9}"/>
              </a:ext>
            </a:extLst>
          </p:cNvPr>
          <p:cNvSpPr/>
          <p:nvPr/>
        </p:nvSpPr>
        <p:spPr>
          <a:xfrm>
            <a:off x="3238493" y="4565132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781F86E4-36F5-4693-85C6-1309DEA02A13}"/>
              </a:ext>
            </a:extLst>
          </p:cNvPr>
          <p:cNvSpPr/>
          <p:nvPr/>
        </p:nvSpPr>
        <p:spPr>
          <a:xfrm>
            <a:off x="7010984" y="2109134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39E4099-6EEB-48D6-8899-958365B862DE}"/>
              </a:ext>
            </a:extLst>
          </p:cNvPr>
          <p:cNvSpPr/>
          <p:nvPr/>
        </p:nvSpPr>
        <p:spPr>
          <a:xfrm>
            <a:off x="4022597" y="2136627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9AA07366-2A58-47C0-8E93-338012F7055F}"/>
              </a:ext>
            </a:extLst>
          </p:cNvPr>
          <p:cNvSpPr/>
          <p:nvPr/>
        </p:nvSpPr>
        <p:spPr>
          <a:xfrm>
            <a:off x="3187693" y="4198423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32" name="Rettangolo 31">
            <a:extLst>
              <a:ext uri="{FF2B5EF4-FFF2-40B4-BE49-F238E27FC236}">
                <a16:creationId xmlns:a16="http://schemas.microsoft.com/office/drawing/2014/main" id="{E08FEE3B-A30A-4A2C-98BD-B699FD72F7A0}"/>
              </a:ext>
            </a:extLst>
          </p:cNvPr>
          <p:cNvSpPr/>
          <p:nvPr/>
        </p:nvSpPr>
        <p:spPr>
          <a:xfrm>
            <a:off x="3185209" y="4483292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D2B4D3E2-12B5-4DC3-A237-A9D9E28E0845}"/>
              </a:ext>
            </a:extLst>
          </p:cNvPr>
          <p:cNvSpPr txBox="1"/>
          <p:nvPr/>
        </p:nvSpPr>
        <p:spPr>
          <a:xfrm>
            <a:off x="4678112" y="967992"/>
            <a:ext cx="41895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1-3-5-7 sono relative ai dati delle parti</a:t>
            </a: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BE0CBB29-4C1E-4055-B943-EDDE1F13A023}"/>
              </a:ext>
            </a:extLst>
          </p:cNvPr>
          <p:cNvSpPr txBox="1"/>
          <p:nvPr/>
        </p:nvSpPr>
        <p:spPr>
          <a:xfrm>
            <a:off x="4933007" y="2559036"/>
            <a:ext cx="4558151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Lista parti  (1)</a:t>
            </a:r>
          </a:p>
          <a:p>
            <a:r>
              <a:rPr lang="it-IT" sz="1600" dirty="0"/>
              <a:t>In questo contenitore vengono catalogati i dati delle parti. Ogni parte deve avere una commessa, una fase, una marca o descrizione, una quantità, una lunghezza, un nome di profilo e un materiale</a:t>
            </a: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6958DD8F-3E6F-45D8-9BB0-9923F71F6560}"/>
              </a:ext>
            </a:extLst>
          </p:cNvPr>
          <p:cNvSpPr txBox="1"/>
          <p:nvPr/>
        </p:nvSpPr>
        <p:spPr>
          <a:xfrm>
            <a:off x="181816" y="2934641"/>
            <a:ext cx="2837344" cy="212365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Dati parte (3) </a:t>
            </a:r>
          </a:p>
          <a:p>
            <a:r>
              <a:rPr lang="it-IT" sz="1600" dirty="0"/>
              <a:t>Vengono definite le proprietà di ogni parte</a:t>
            </a:r>
          </a:p>
          <a:p>
            <a:r>
              <a:rPr lang="it-IT" sz="1600" dirty="0"/>
              <a:t>Ogni casella deve essere riempita.</a:t>
            </a:r>
          </a:p>
          <a:p>
            <a:r>
              <a:rPr lang="it-IT" sz="1600" dirty="0"/>
              <a:t>Premendo </a:t>
            </a:r>
          </a:p>
          <a:p>
            <a:r>
              <a:rPr lang="it-IT" sz="1600" dirty="0"/>
              <a:t>I dati delle celle passano nella </a:t>
            </a:r>
            <a:r>
              <a:rPr lang="it-IT" sz="1600" b="1" dirty="0"/>
              <a:t>Lista parti (1)</a:t>
            </a:r>
          </a:p>
        </p:txBody>
      </p:sp>
      <p:pic>
        <p:nvPicPr>
          <p:cNvPr id="45" name="Immagine 44">
            <a:extLst>
              <a:ext uri="{FF2B5EF4-FFF2-40B4-BE49-F238E27FC236}">
                <a16:creationId xmlns:a16="http://schemas.microsoft.com/office/drawing/2014/main" id="{13463A27-FA11-468B-8D22-60FB5BC36F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1735" y="4138454"/>
            <a:ext cx="1679118" cy="328778"/>
          </a:xfrm>
          <a:prstGeom prst="rect">
            <a:avLst/>
          </a:prstGeom>
        </p:spPr>
      </p:pic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74290B63-E209-4D6A-8AB6-636665B8AE5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089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FAFB56F0-D214-4BD9-A323-ADF6FD3728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F67311A-0350-427B-82C0-3BD8C6609D1B}"/>
              </a:ext>
            </a:extLst>
          </p:cNvPr>
          <p:cNvSpPr txBox="1"/>
          <p:nvPr/>
        </p:nvSpPr>
        <p:spPr>
          <a:xfrm>
            <a:off x="893822" y="2235718"/>
            <a:ext cx="2837344" cy="181588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Carica dati da File (5) </a:t>
            </a:r>
          </a:p>
          <a:p>
            <a:r>
              <a:rPr lang="it-IT" sz="1600" dirty="0"/>
              <a:t>Per velocizzare l’inserimento dei dati delle parti è possibile carica un file in formato XLS/XLSX/CSV (vedi istruzione «Formato file» al termine della scheda)</a:t>
            </a:r>
            <a:endParaRPr lang="it-IT" sz="1600" b="1" dirty="0"/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FEC00683-5250-40B1-A413-304FE18B4CF3}"/>
              </a:ext>
            </a:extLst>
          </p:cNvPr>
          <p:cNvSpPr txBox="1"/>
          <p:nvPr/>
        </p:nvSpPr>
        <p:spPr>
          <a:xfrm>
            <a:off x="887000" y="4104996"/>
            <a:ext cx="2837344" cy="230832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Carica Esempio (7) </a:t>
            </a:r>
          </a:p>
          <a:p>
            <a:r>
              <a:rPr lang="it-IT" sz="1600" dirty="0"/>
              <a:t>A scopo dimostrativo è possibile caricare un file dati parti di esempio.</a:t>
            </a:r>
          </a:p>
          <a:p>
            <a:r>
              <a:rPr lang="it-IT" sz="1600" dirty="0"/>
              <a:t>I </a:t>
            </a:r>
            <a:r>
              <a:rPr lang="it-IT" sz="1600" dirty="0" err="1"/>
              <a:t>files</a:t>
            </a:r>
            <a:r>
              <a:rPr lang="it-IT" sz="1600" dirty="0"/>
              <a:t> XLS/XLSX/CSV si trovano in</a:t>
            </a:r>
          </a:p>
          <a:p>
            <a:r>
              <a:rPr lang="en-US" sz="1600" dirty="0"/>
              <a:t>C:\Program Files (x86)\</a:t>
            </a:r>
            <a:r>
              <a:rPr lang="en-US" sz="1600" dirty="0" err="1"/>
              <a:t>EasyCut</a:t>
            </a:r>
            <a:r>
              <a:rPr lang="en-US" sz="1600" dirty="0"/>
              <a:t>\</a:t>
            </a:r>
            <a:r>
              <a:rPr lang="it-IT" sz="1600" dirty="0" err="1"/>
              <a:t>Example</a:t>
            </a:r>
            <a:r>
              <a:rPr lang="it-IT" sz="1600" dirty="0"/>
              <a:t>\NestingBar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830C4E85-8909-48BB-8AAA-B107DD7770D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263" r="42629" b="27607"/>
          <a:stretch/>
        </p:blipFill>
        <p:spPr>
          <a:xfrm>
            <a:off x="3749966" y="1033915"/>
            <a:ext cx="7121072" cy="36668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Rettangolo 20">
            <a:extLst>
              <a:ext uri="{FF2B5EF4-FFF2-40B4-BE49-F238E27FC236}">
                <a16:creationId xmlns:a16="http://schemas.microsoft.com/office/drawing/2014/main" id="{CE6DC790-5D08-4AFD-8636-5082FA0E2F63}"/>
              </a:ext>
            </a:extLst>
          </p:cNvPr>
          <p:cNvSpPr/>
          <p:nvPr/>
        </p:nvSpPr>
        <p:spPr>
          <a:xfrm>
            <a:off x="3883870" y="1344142"/>
            <a:ext cx="1558750" cy="22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30C8DCBE-7EC7-4300-A977-5E1BF1ED5A8B}"/>
              </a:ext>
            </a:extLst>
          </p:cNvPr>
          <p:cNvSpPr/>
          <p:nvPr/>
        </p:nvSpPr>
        <p:spPr>
          <a:xfrm>
            <a:off x="5442620" y="1344230"/>
            <a:ext cx="4940182" cy="319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41BECAA1-9903-4B99-824F-81D12478BE95}"/>
              </a:ext>
            </a:extLst>
          </p:cNvPr>
          <p:cNvSpPr/>
          <p:nvPr/>
        </p:nvSpPr>
        <p:spPr>
          <a:xfrm>
            <a:off x="3939120" y="3974243"/>
            <a:ext cx="1439620" cy="283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7445B030-AAF3-4F8B-8DA2-A70BDC34AFE1}"/>
              </a:ext>
            </a:extLst>
          </p:cNvPr>
          <p:cNvSpPr/>
          <p:nvPr/>
        </p:nvSpPr>
        <p:spPr>
          <a:xfrm>
            <a:off x="3939121" y="4257679"/>
            <a:ext cx="1439620" cy="283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FF644CAA-FC45-4D9D-BFC4-DF25D2764E59}"/>
              </a:ext>
            </a:extLst>
          </p:cNvPr>
          <p:cNvSpPr/>
          <p:nvPr/>
        </p:nvSpPr>
        <p:spPr>
          <a:xfrm>
            <a:off x="7711612" y="2652581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26" name="Rettangolo 25">
            <a:extLst>
              <a:ext uri="{FF2B5EF4-FFF2-40B4-BE49-F238E27FC236}">
                <a16:creationId xmlns:a16="http://schemas.microsoft.com/office/drawing/2014/main" id="{4CC47BE0-7AF9-4556-9095-2022C3E227F9}"/>
              </a:ext>
            </a:extLst>
          </p:cNvPr>
          <p:cNvSpPr/>
          <p:nvPr/>
        </p:nvSpPr>
        <p:spPr>
          <a:xfrm>
            <a:off x="4723225" y="1829174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8598360B-3FA0-49F6-B553-2DC748F50EE3}"/>
              </a:ext>
            </a:extLst>
          </p:cNvPr>
          <p:cNvSpPr/>
          <p:nvPr/>
        </p:nvSpPr>
        <p:spPr>
          <a:xfrm>
            <a:off x="3888321" y="389097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C5C5CCC6-01A0-4744-AA35-7547005971DE}"/>
              </a:ext>
            </a:extLst>
          </p:cNvPr>
          <p:cNvSpPr/>
          <p:nvPr/>
        </p:nvSpPr>
        <p:spPr>
          <a:xfrm>
            <a:off x="3885837" y="4175839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33144394-591A-449B-831B-5A7E018373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8116" y="4801556"/>
            <a:ext cx="1619476" cy="1571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32" name="Rettangolo 31">
            <a:extLst>
              <a:ext uri="{FF2B5EF4-FFF2-40B4-BE49-F238E27FC236}">
                <a16:creationId xmlns:a16="http://schemas.microsoft.com/office/drawing/2014/main" id="{66C174C5-3DE1-45B5-89B4-AB1029777B73}"/>
              </a:ext>
            </a:extLst>
          </p:cNvPr>
          <p:cNvSpPr/>
          <p:nvPr/>
        </p:nvSpPr>
        <p:spPr>
          <a:xfrm>
            <a:off x="3830614" y="5649576"/>
            <a:ext cx="1549400" cy="647700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34" name="Elemento grafico 33">
            <a:extLst>
              <a:ext uri="{FF2B5EF4-FFF2-40B4-BE49-F238E27FC236}">
                <a16:creationId xmlns:a16="http://schemas.microsoft.com/office/drawing/2014/main" id="{66F26CF5-93B5-4E45-8A86-BF75B9DD647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BDCDE4EB-EA80-4CC3-973D-7B89B2D13C22}"/>
              </a:ext>
            </a:extLst>
          </p:cNvPr>
          <p:cNvSpPr txBox="1"/>
          <p:nvPr/>
        </p:nvSpPr>
        <p:spPr>
          <a:xfrm>
            <a:off x="5442620" y="654044"/>
            <a:ext cx="41895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1-3-5-7 sono relative ai dati delle parti</a:t>
            </a:r>
          </a:p>
        </p:txBody>
      </p:sp>
    </p:spTree>
    <p:extLst>
      <p:ext uri="{BB962C8B-B14F-4D97-AF65-F5344CB8AC3E}">
        <p14:creationId xmlns:p14="http://schemas.microsoft.com/office/powerpoint/2010/main" val="149237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832580B1-6EFD-4432-ABAB-5ACC556D2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13367DB0-70A5-4DBA-A3F9-8610F92DFD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42581" b="26505"/>
          <a:stretch/>
        </p:blipFill>
        <p:spPr>
          <a:xfrm>
            <a:off x="3358427" y="1276356"/>
            <a:ext cx="7127754" cy="37401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A9A41E12-2F44-4EA8-9B8C-FD2E53FCAC9F}"/>
              </a:ext>
            </a:extLst>
          </p:cNvPr>
          <p:cNvSpPr/>
          <p:nvPr/>
        </p:nvSpPr>
        <p:spPr>
          <a:xfrm>
            <a:off x="3472190" y="1614683"/>
            <a:ext cx="1558750" cy="22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8EFD5E03-2B84-482D-8DC3-D1C32B32F782}"/>
              </a:ext>
            </a:extLst>
          </p:cNvPr>
          <p:cNvSpPr/>
          <p:nvPr/>
        </p:nvSpPr>
        <p:spPr>
          <a:xfrm>
            <a:off x="5030940" y="1614771"/>
            <a:ext cx="4940182" cy="319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ACC2F8AD-A2F9-4041-AACE-CA9FA86B0240}"/>
              </a:ext>
            </a:extLst>
          </p:cNvPr>
          <p:cNvSpPr/>
          <p:nvPr/>
        </p:nvSpPr>
        <p:spPr>
          <a:xfrm>
            <a:off x="3527440" y="4244784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8C8E8905-EEB5-48D5-AF97-164ECBE72E0C}"/>
              </a:ext>
            </a:extLst>
          </p:cNvPr>
          <p:cNvSpPr/>
          <p:nvPr/>
        </p:nvSpPr>
        <p:spPr>
          <a:xfrm>
            <a:off x="3527441" y="4528220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2C7E4875-EE74-4884-9CF7-AC5627F0FA98}"/>
              </a:ext>
            </a:extLst>
          </p:cNvPr>
          <p:cNvSpPr/>
          <p:nvPr/>
        </p:nvSpPr>
        <p:spPr>
          <a:xfrm>
            <a:off x="5434057" y="351933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798A11D-1A04-4EA3-8270-4FC7C5A6FD19}"/>
              </a:ext>
            </a:extLst>
          </p:cNvPr>
          <p:cNvSpPr/>
          <p:nvPr/>
        </p:nvSpPr>
        <p:spPr>
          <a:xfrm>
            <a:off x="4311545" y="2099715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C86EF6D-059F-431C-B5D7-EE0344E0BA71}"/>
              </a:ext>
            </a:extLst>
          </p:cNvPr>
          <p:cNvSpPr/>
          <p:nvPr/>
        </p:nvSpPr>
        <p:spPr>
          <a:xfrm>
            <a:off x="3476641" y="4161511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5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7A8FEAE7-F9ED-4C1A-AE4B-B3B0A2F962BF}"/>
              </a:ext>
            </a:extLst>
          </p:cNvPr>
          <p:cNvSpPr/>
          <p:nvPr/>
        </p:nvSpPr>
        <p:spPr>
          <a:xfrm>
            <a:off x="3474157" y="4446380"/>
            <a:ext cx="340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7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Freccia in giù 15">
            <a:extLst>
              <a:ext uri="{FF2B5EF4-FFF2-40B4-BE49-F238E27FC236}">
                <a16:creationId xmlns:a16="http://schemas.microsoft.com/office/drawing/2014/main" id="{3CA6F7E6-0F7A-41D6-9DB1-8AB527868B46}"/>
              </a:ext>
            </a:extLst>
          </p:cNvPr>
          <p:cNvSpPr/>
          <p:nvPr/>
        </p:nvSpPr>
        <p:spPr>
          <a:xfrm rot="18287378">
            <a:off x="6568077" y="4305744"/>
            <a:ext cx="274320" cy="283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Freccia in giù 16">
            <a:extLst>
              <a:ext uri="{FF2B5EF4-FFF2-40B4-BE49-F238E27FC236}">
                <a16:creationId xmlns:a16="http://schemas.microsoft.com/office/drawing/2014/main" id="{2155404F-63A0-4CC2-A743-71C6614B6B3D}"/>
              </a:ext>
            </a:extLst>
          </p:cNvPr>
          <p:cNvSpPr/>
          <p:nvPr/>
        </p:nvSpPr>
        <p:spPr>
          <a:xfrm rot="3204204">
            <a:off x="8199323" y="4301941"/>
            <a:ext cx="274320" cy="283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FA328B6-84F7-4BFA-A0DF-66E44C81D3D0}"/>
              </a:ext>
            </a:extLst>
          </p:cNvPr>
          <p:cNvSpPr txBox="1"/>
          <p:nvPr/>
        </p:nvSpPr>
        <p:spPr>
          <a:xfrm>
            <a:off x="357447" y="1348847"/>
            <a:ext cx="2837344" cy="30469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Per agevolare le modifiche dei dati delle parti si possono usare i seguenti pulsanti:</a:t>
            </a:r>
          </a:p>
          <a:p>
            <a:endParaRPr lang="it-IT" sz="1600" dirty="0"/>
          </a:p>
          <a:p>
            <a:r>
              <a:rPr lang="it-IT" sz="1600" b="1" dirty="0"/>
              <a:t>	</a:t>
            </a:r>
            <a:r>
              <a:rPr lang="it-IT" sz="1600" dirty="0"/>
              <a:t>Selezionare le parti all’interno del box Lista parti e premere il pulsante «Rimuovi»</a:t>
            </a:r>
          </a:p>
          <a:p>
            <a:endParaRPr lang="it-IT" sz="1600" b="1" dirty="0"/>
          </a:p>
          <a:p>
            <a:r>
              <a:rPr lang="it-IT" sz="1600" b="1" dirty="0"/>
              <a:t>	</a:t>
            </a:r>
            <a:r>
              <a:rPr lang="it-IT" sz="1600" dirty="0"/>
              <a:t>Selezionare le parti all’interno del box Lista parti e premere il pulsante «Modifica»</a:t>
            </a:r>
            <a:endParaRPr lang="it-IT" sz="1600" b="1" dirty="0"/>
          </a:p>
          <a:p>
            <a:endParaRPr lang="it-IT" sz="1600" b="1" dirty="0"/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F10F9357-838E-4558-9F52-E15F8408BF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001" y="2283582"/>
            <a:ext cx="819235" cy="358415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D74B1519-B6A1-474E-BD48-D6750B6CCB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1001" y="3219027"/>
            <a:ext cx="923448" cy="374732"/>
          </a:xfrm>
          <a:prstGeom prst="rect">
            <a:avLst/>
          </a:prstGeom>
        </p:spPr>
      </p:pic>
      <p:pic>
        <p:nvPicPr>
          <p:cNvPr id="21" name="Immagine 20">
            <a:extLst>
              <a:ext uri="{FF2B5EF4-FFF2-40B4-BE49-F238E27FC236}">
                <a16:creationId xmlns:a16="http://schemas.microsoft.com/office/drawing/2014/main" id="{33D26CAA-D650-4AA1-AD80-262D77301D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93095" y="1477270"/>
            <a:ext cx="5219939" cy="25863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" name="Rettangolo 22">
            <a:extLst>
              <a:ext uri="{FF2B5EF4-FFF2-40B4-BE49-F238E27FC236}">
                <a16:creationId xmlns:a16="http://schemas.microsoft.com/office/drawing/2014/main" id="{C90A8B87-F272-4564-B7A9-20E46B4A261A}"/>
              </a:ext>
            </a:extLst>
          </p:cNvPr>
          <p:cNvSpPr/>
          <p:nvPr/>
        </p:nvSpPr>
        <p:spPr>
          <a:xfrm>
            <a:off x="7575551" y="4528220"/>
            <a:ext cx="679450" cy="24754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A5B386E6-8449-4310-9783-82DBA66108D6}"/>
              </a:ext>
            </a:extLst>
          </p:cNvPr>
          <p:cNvSpPr/>
          <p:nvPr/>
        </p:nvSpPr>
        <p:spPr>
          <a:xfrm>
            <a:off x="6821581" y="4535001"/>
            <a:ext cx="679450" cy="24754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6" name="Elemento grafico 25">
            <a:extLst>
              <a:ext uri="{FF2B5EF4-FFF2-40B4-BE49-F238E27FC236}">
                <a16:creationId xmlns:a16="http://schemas.microsoft.com/office/drawing/2014/main" id="{C2CA2C6A-4E76-42A9-822A-A1B4CB362348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18C5D64F-BFE9-4C1F-8D25-49123EF72652}"/>
              </a:ext>
            </a:extLst>
          </p:cNvPr>
          <p:cNvSpPr txBox="1"/>
          <p:nvPr/>
        </p:nvSpPr>
        <p:spPr>
          <a:xfrm>
            <a:off x="4827527" y="876742"/>
            <a:ext cx="418955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1-3-5-7 sono relative ai dati delle parti</a:t>
            </a:r>
          </a:p>
        </p:txBody>
      </p:sp>
    </p:spTree>
    <p:extLst>
      <p:ext uri="{BB962C8B-B14F-4D97-AF65-F5344CB8AC3E}">
        <p14:creationId xmlns:p14="http://schemas.microsoft.com/office/powerpoint/2010/main" val="2838385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magine 17">
            <a:extLst>
              <a:ext uri="{FF2B5EF4-FFF2-40B4-BE49-F238E27FC236}">
                <a16:creationId xmlns:a16="http://schemas.microsoft.com/office/drawing/2014/main" id="{6F9488CA-E7BB-4EFE-BF04-EB499A682D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514DD94-884C-4873-B34D-09C45482A6E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229" r="-1179" b="27396"/>
          <a:stretch/>
        </p:blipFill>
        <p:spPr>
          <a:xfrm>
            <a:off x="4238367" y="1456466"/>
            <a:ext cx="5924807" cy="3677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1D94DD04-0BB8-429A-9EC1-2F40D8A124BD}"/>
              </a:ext>
            </a:extLst>
          </p:cNvPr>
          <p:cNvSpPr/>
          <p:nvPr/>
        </p:nvSpPr>
        <p:spPr>
          <a:xfrm>
            <a:off x="4348036" y="1766693"/>
            <a:ext cx="1558750" cy="227824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7351D377-5309-4101-AC66-186868F91DD8}"/>
              </a:ext>
            </a:extLst>
          </p:cNvPr>
          <p:cNvSpPr/>
          <p:nvPr/>
        </p:nvSpPr>
        <p:spPr>
          <a:xfrm>
            <a:off x="5932265" y="1766781"/>
            <a:ext cx="4009828" cy="3196885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78B53D9F-3A18-4068-9D7D-9D24434A5E59}"/>
              </a:ext>
            </a:extLst>
          </p:cNvPr>
          <p:cNvSpPr/>
          <p:nvPr/>
        </p:nvSpPr>
        <p:spPr>
          <a:xfrm>
            <a:off x="4441845" y="4396794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1BF530C1-57DC-49B8-B644-1B0A76DBE6B1}"/>
              </a:ext>
            </a:extLst>
          </p:cNvPr>
          <p:cNvSpPr/>
          <p:nvPr/>
        </p:nvSpPr>
        <p:spPr>
          <a:xfrm>
            <a:off x="4441846" y="4680230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3E6CE27-45C4-4ECB-A0B2-DE5FD64C0379}"/>
              </a:ext>
            </a:extLst>
          </p:cNvPr>
          <p:cNvSpPr/>
          <p:nvPr/>
        </p:nvSpPr>
        <p:spPr>
          <a:xfrm>
            <a:off x="7270903" y="2224232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52613CEB-0531-4101-B3A3-19ED080ED67A}"/>
              </a:ext>
            </a:extLst>
          </p:cNvPr>
          <p:cNvSpPr/>
          <p:nvPr/>
        </p:nvSpPr>
        <p:spPr>
          <a:xfrm>
            <a:off x="4715007" y="21528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372FFC89-B1F7-47AA-A975-B3257C773440}"/>
              </a:ext>
            </a:extLst>
          </p:cNvPr>
          <p:cNvSpPr/>
          <p:nvPr/>
        </p:nvSpPr>
        <p:spPr>
          <a:xfrm>
            <a:off x="4391045" y="4313521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D322AEEA-379C-48C6-BCF0-90EA4116FF71}"/>
              </a:ext>
            </a:extLst>
          </p:cNvPr>
          <p:cNvSpPr/>
          <p:nvPr/>
        </p:nvSpPr>
        <p:spPr>
          <a:xfrm>
            <a:off x="4388561" y="4598390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55171D9B-DC1B-4D76-82E9-CF0D13B08A08}"/>
              </a:ext>
            </a:extLst>
          </p:cNvPr>
          <p:cNvSpPr txBox="1"/>
          <p:nvPr/>
        </p:nvSpPr>
        <p:spPr>
          <a:xfrm>
            <a:off x="6113833" y="2721496"/>
            <a:ext cx="3655065" cy="132343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Lista barre  (2)</a:t>
            </a:r>
          </a:p>
          <a:p>
            <a:r>
              <a:rPr lang="it-IT" sz="1600" dirty="0"/>
              <a:t>In questo contenitore vengono catalogati i dati delle barre. Ogni barra deve avere una lunghezza, un nome di profilo e un materiale</a:t>
            </a: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A9F36D11-5CB5-4CB8-BD2F-60AE2A9F41FD}"/>
              </a:ext>
            </a:extLst>
          </p:cNvPr>
          <p:cNvSpPr txBox="1"/>
          <p:nvPr/>
        </p:nvSpPr>
        <p:spPr>
          <a:xfrm>
            <a:off x="1335348" y="3008182"/>
            <a:ext cx="2837344" cy="212365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Dati barra (4) </a:t>
            </a:r>
          </a:p>
          <a:p>
            <a:r>
              <a:rPr lang="it-IT" sz="1600" dirty="0"/>
              <a:t>Vengono definite le proprietà di ogni barra</a:t>
            </a:r>
          </a:p>
          <a:p>
            <a:r>
              <a:rPr lang="it-IT" sz="1600" dirty="0"/>
              <a:t>Ogni casella deve essere riempita.</a:t>
            </a:r>
          </a:p>
          <a:p>
            <a:r>
              <a:rPr lang="it-IT" sz="1600" dirty="0"/>
              <a:t>Premendo </a:t>
            </a:r>
          </a:p>
          <a:p>
            <a:r>
              <a:rPr lang="it-IT" sz="1600" dirty="0"/>
              <a:t>I dati delle celle passano nella </a:t>
            </a:r>
            <a:r>
              <a:rPr lang="it-IT" sz="1600" b="1" dirty="0"/>
              <a:t>Lista barre (2)</a:t>
            </a: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223F2AFC-EE92-4500-BBF5-E51F6E36C5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2756" y="4229279"/>
            <a:ext cx="1679118" cy="328778"/>
          </a:xfrm>
          <a:prstGeom prst="rect">
            <a:avLst/>
          </a:prstGeom>
        </p:spPr>
      </p:pic>
      <p:pic>
        <p:nvPicPr>
          <p:cNvPr id="21" name="Elemento grafico 20">
            <a:extLst>
              <a:ext uri="{FF2B5EF4-FFF2-40B4-BE49-F238E27FC236}">
                <a16:creationId xmlns:a16="http://schemas.microsoft.com/office/drawing/2014/main" id="{4282281F-2538-4B25-A22B-172D40B7F3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DA79A1EA-70A3-4823-8424-65199A12113B}"/>
              </a:ext>
            </a:extLst>
          </p:cNvPr>
          <p:cNvSpPr txBox="1"/>
          <p:nvPr/>
        </p:nvSpPr>
        <p:spPr>
          <a:xfrm>
            <a:off x="4982920" y="1051122"/>
            <a:ext cx="427192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2-4-6-8 sono relative ai dati delle barre</a:t>
            </a:r>
          </a:p>
        </p:txBody>
      </p:sp>
    </p:spTree>
    <p:extLst>
      <p:ext uri="{BB962C8B-B14F-4D97-AF65-F5344CB8AC3E}">
        <p14:creationId xmlns:p14="http://schemas.microsoft.com/office/powerpoint/2010/main" val="3652478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1DC7410C-6438-4410-9D0C-56732FD9B1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419"/>
            <a:ext cx="12192000" cy="6854653"/>
          </a:xfrm>
          <a:prstGeom prst="rect">
            <a:avLst/>
          </a:prstGeom>
        </p:spPr>
      </p:pic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1C627B3-6F23-4BDA-9F14-259DD082754E}"/>
              </a:ext>
            </a:extLst>
          </p:cNvPr>
          <p:cNvSpPr txBox="1"/>
          <p:nvPr/>
        </p:nvSpPr>
        <p:spPr>
          <a:xfrm>
            <a:off x="815371" y="2089106"/>
            <a:ext cx="2837344" cy="181588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Carica dati da File (6) </a:t>
            </a:r>
          </a:p>
          <a:p>
            <a:r>
              <a:rPr lang="it-IT" sz="1600" dirty="0"/>
              <a:t>Per velocizzare l’inserimento dei dati delle barre è possibile carica un file in formato XLS/XLSX/CSV (vedi istruzione «Formato file» al termine della scheda)</a:t>
            </a:r>
            <a:endParaRPr lang="it-IT" sz="1600" b="1" dirty="0"/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0B28F03-7E11-47B1-948C-5E272CD2F772}"/>
              </a:ext>
            </a:extLst>
          </p:cNvPr>
          <p:cNvSpPr txBox="1"/>
          <p:nvPr/>
        </p:nvSpPr>
        <p:spPr>
          <a:xfrm>
            <a:off x="815026" y="3988775"/>
            <a:ext cx="2837344" cy="2308324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Carica Esempio (8) </a:t>
            </a:r>
          </a:p>
          <a:p>
            <a:r>
              <a:rPr lang="it-IT" sz="1600" dirty="0"/>
              <a:t>A scopo dimostrativo è possibile caricare un file dati barre di esempio.</a:t>
            </a:r>
          </a:p>
          <a:p>
            <a:r>
              <a:rPr lang="it-IT" sz="1600" dirty="0"/>
              <a:t>I </a:t>
            </a:r>
            <a:r>
              <a:rPr lang="it-IT" sz="1600" dirty="0" err="1"/>
              <a:t>files</a:t>
            </a:r>
            <a:r>
              <a:rPr lang="it-IT" sz="1600" dirty="0"/>
              <a:t> XLS/XLSX/CSV si trovano in</a:t>
            </a:r>
          </a:p>
          <a:p>
            <a:r>
              <a:rPr lang="en-US" sz="1600" dirty="0"/>
              <a:t>C:\Program Files (x86)\</a:t>
            </a:r>
            <a:r>
              <a:rPr lang="en-US" sz="1600" dirty="0" err="1"/>
              <a:t>EasyCut</a:t>
            </a:r>
            <a:r>
              <a:rPr lang="en-US" sz="1600" dirty="0"/>
              <a:t>\</a:t>
            </a:r>
            <a:r>
              <a:rPr lang="it-IT" sz="1600" dirty="0" err="1"/>
              <a:t>Example</a:t>
            </a:r>
            <a:r>
              <a:rPr lang="it-IT" sz="1600" dirty="0"/>
              <a:t>\NestingBar</a:t>
            </a:r>
          </a:p>
        </p:txBody>
      </p:sp>
      <p:pic>
        <p:nvPicPr>
          <p:cNvPr id="21" name="Immagine 20">
            <a:extLst>
              <a:ext uri="{FF2B5EF4-FFF2-40B4-BE49-F238E27FC236}">
                <a16:creationId xmlns:a16="http://schemas.microsoft.com/office/drawing/2014/main" id="{256FE14B-7B1C-4321-BEED-9099FBDBC5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5534" y="4759383"/>
            <a:ext cx="1619476" cy="157184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2" name="Rettangolo 21">
            <a:extLst>
              <a:ext uri="{FF2B5EF4-FFF2-40B4-BE49-F238E27FC236}">
                <a16:creationId xmlns:a16="http://schemas.microsoft.com/office/drawing/2014/main" id="{C4D4EC89-A847-4E9F-994E-BE5539E6BBB9}"/>
              </a:ext>
            </a:extLst>
          </p:cNvPr>
          <p:cNvSpPr/>
          <p:nvPr/>
        </p:nvSpPr>
        <p:spPr>
          <a:xfrm>
            <a:off x="3758032" y="4972403"/>
            <a:ext cx="1549400" cy="647700"/>
          </a:xfrm>
          <a:prstGeom prst="rect">
            <a:avLst/>
          </a:prstGeom>
          <a:solidFill>
            <a:schemeClr val="accent1">
              <a:alpha val="17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4" name="Elemento grafico 23">
            <a:extLst>
              <a:ext uri="{FF2B5EF4-FFF2-40B4-BE49-F238E27FC236}">
                <a16:creationId xmlns:a16="http://schemas.microsoft.com/office/drawing/2014/main" id="{942638EE-2919-4432-B1E9-86F5EB5815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  <p:pic>
        <p:nvPicPr>
          <p:cNvPr id="23" name="Immagine 22">
            <a:extLst>
              <a:ext uri="{FF2B5EF4-FFF2-40B4-BE49-F238E27FC236}">
                <a16:creationId xmlns:a16="http://schemas.microsoft.com/office/drawing/2014/main" id="{64266A81-A97A-4EEA-A36C-8649645414CE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53229" r="-1179" b="27396"/>
          <a:stretch/>
        </p:blipFill>
        <p:spPr>
          <a:xfrm>
            <a:off x="3810844" y="1038923"/>
            <a:ext cx="5924807" cy="367750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ttangolo 11">
            <a:extLst>
              <a:ext uri="{FF2B5EF4-FFF2-40B4-BE49-F238E27FC236}">
                <a16:creationId xmlns:a16="http://schemas.microsoft.com/office/drawing/2014/main" id="{D9DDBB8A-6677-40C1-9A5B-B25D45421528}"/>
              </a:ext>
            </a:extLst>
          </p:cNvPr>
          <p:cNvSpPr/>
          <p:nvPr/>
        </p:nvSpPr>
        <p:spPr>
          <a:xfrm>
            <a:off x="4555168" y="1795872"/>
            <a:ext cx="44002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EF0CA97-47E0-42D0-BCD7-3E79F7347FCF}"/>
              </a:ext>
            </a:extLst>
          </p:cNvPr>
          <p:cNvSpPr/>
          <p:nvPr/>
        </p:nvSpPr>
        <p:spPr>
          <a:xfrm>
            <a:off x="7226978" y="246771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2ACF945B-7334-4410-97BA-80423D6126C5}"/>
              </a:ext>
            </a:extLst>
          </p:cNvPr>
          <p:cNvSpPr/>
          <p:nvPr/>
        </p:nvSpPr>
        <p:spPr>
          <a:xfrm>
            <a:off x="3995805" y="4159912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BEEB1693-839B-454E-92CD-78F604841B89}"/>
              </a:ext>
            </a:extLst>
          </p:cNvPr>
          <p:cNvSpPr/>
          <p:nvPr/>
        </p:nvSpPr>
        <p:spPr>
          <a:xfrm>
            <a:off x="3986063" y="3899909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982B6B47-74CB-4914-A232-B5BCFF12D04E}"/>
              </a:ext>
            </a:extLst>
          </p:cNvPr>
          <p:cNvSpPr/>
          <p:nvPr/>
        </p:nvSpPr>
        <p:spPr>
          <a:xfrm>
            <a:off x="3995805" y="4293834"/>
            <a:ext cx="1439620" cy="283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C0EB2C1-0318-4214-A7BD-44B72D2A41B3}"/>
              </a:ext>
            </a:extLst>
          </p:cNvPr>
          <p:cNvSpPr/>
          <p:nvPr/>
        </p:nvSpPr>
        <p:spPr>
          <a:xfrm>
            <a:off x="3995805" y="3989023"/>
            <a:ext cx="1439620" cy="283436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CB576706-B1AB-4E90-8B9B-BCD54A0A4A55}"/>
              </a:ext>
            </a:extLst>
          </p:cNvPr>
          <p:cNvSpPr/>
          <p:nvPr/>
        </p:nvSpPr>
        <p:spPr>
          <a:xfrm>
            <a:off x="3936240" y="1356000"/>
            <a:ext cx="1558750" cy="222343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52FE0AF-4DC8-4011-AB00-90A3F3D94018}"/>
              </a:ext>
            </a:extLst>
          </p:cNvPr>
          <p:cNvSpPr/>
          <p:nvPr/>
        </p:nvSpPr>
        <p:spPr>
          <a:xfrm>
            <a:off x="5542832" y="1355924"/>
            <a:ext cx="4009828" cy="319688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DFE855F1-C6E1-45D8-841A-9DE8D49EB5BF}"/>
              </a:ext>
            </a:extLst>
          </p:cNvPr>
          <p:cNvSpPr txBox="1"/>
          <p:nvPr/>
        </p:nvSpPr>
        <p:spPr>
          <a:xfrm>
            <a:off x="4553435" y="663190"/>
            <a:ext cx="427192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2-4-6-8 sono relative ai dati delle barre</a:t>
            </a:r>
          </a:p>
        </p:txBody>
      </p:sp>
    </p:spTree>
    <p:extLst>
      <p:ext uri="{BB962C8B-B14F-4D97-AF65-F5344CB8AC3E}">
        <p14:creationId xmlns:p14="http://schemas.microsoft.com/office/powerpoint/2010/main" val="2255918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175035B6-AC03-48C3-9F79-FEBDAE637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3847BB8A-99A8-4285-A92D-EB039EE015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3979" r="-1" b="27653"/>
          <a:stretch/>
        </p:blipFill>
        <p:spPr>
          <a:xfrm>
            <a:off x="4215874" y="1472927"/>
            <a:ext cx="5681410" cy="366129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94ECBAF1-5F14-42AC-AC35-0F659D1109BF}"/>
              </a:ext>
            </a:extLst>
          </p:cNvPr>
          <p:cNvSpPr/>
          <p:nvPr/>
        </p:nvSpPr>
        <p:spPr>
          <a:xfrm>
            <a:off x="4249965" y="1766362"/>
            <a:ext cx="1629608" cy="22800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EAF751F-F147-462F-BBE5-CB4E219AE275}"/>
              </a:ext>
            </a:extLst>
          </p:cNvPr>
          <p:cNvSpPr/>
          <p:nvPr/>
        </p:nvSpPr>
        <p:spPr>
          <a:xfrm>
            <a:off x="5913664" y="1766781"/>
            <a:ext cx="3912315" cy="324971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BC0E75CB-0874-4581-8CA5-BB99D7F835B9}"/>
              </a:ext>
            </a:extLst>
          </p:cNvPr>
          <p:cNvSpPr/>
          <p:nvPr/>
        </p:nvSpPr>
        <p:spPr>
          <a:xfrm>
            <a:off x="4328114" y="4689278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03C49290-87DC-41D0-9D42-ABF894F7ABAA}"/>
              </a:ext>
            </a:extLst>
          </p:cNvPr>
          <p:cNvSpPr/>
          <p:nvPr/>
        </p:nvSpPr>
        <p:spPr>
          <a:xfrm>
            <a:off x="6363314" y="263867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4A9AD08A-176C-4B1E-B0BF-B940325E1BBE}"/>
              </a:ext>
            </a:extLst>
          </p:cNvPr>
          <p:cNvSpPr/>
          <p:nvPr/>
        </p:nvSpPr>
        <p:spPr>
          <a:xfrm>
            <a:off x="4598894" y="2152869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</a:t>
            </a:r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F6E2E6E9-51AC-42F3-910B-2C01F509B581}"/>
              </a:ext>
            </a:extLst>
          </p:cNvPr>
          <p:cNvSpPr/>
          <p:nvPr/>
        </p:nvSpPr>
        <p:spPr>
          <a:xfrm>
            <a:off x="4286050" y="4317489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6</a:t>
            </a:r>
            <a:endParaRPr lang="it-IT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F24007CE-1F80-45A8-B575-2A1E97F06A68}"/>
              </a:ext>
            </a:extLst>
          </p:cNvPr>
          <p:cNvSpPr/>
          <p:nvPr/>
        </p:nvSpPr>
        <p:spPr>
          <a:xfrm>
            <a:off x="4289911" y="4602358"/>
            <a:ext cx="34015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8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DC96CF74-F6AF-4954-85D9-03B47C1FA3AA}"/>
              </a:ext>
            </a:extLst>
          </p:cNvPr>
          <p:cNvSpPr/>
          <p:nvPr/>
        </p:nvSpPr>
        <p:spPr>
          <a:xfrm>
            <a:off x="4328106" y="4403512"/>
            <a:ext cx="1439620" cy="2834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FD4175F8-764D-4C88-BFD6-2825BC1A4C55}"/>
              </a:ext>
            </a:extLst>
          </p:cNvPr>
          <p:cNvSpPr txBox="1"/>
          <p:nvPr/>
        </p:nvSpPr>
        <p:spPr>
          <a:xfrm>
            <a:off x="1301044" y="2070061"/>
            <a:ext cx="2837344" cy="304698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Per agevolare le modifiche dei dati delle barre si possono usare i seguenti pulsanti:</a:t>
            </a:r>
          </a:p>
          <a:p>
            <a:endParaRPr lang="it-IT" sz="1600" dirty="0"/>
          </a:p>
          <a:p>
            <a:r>
              <a:rPr lang="it-IT" sz="1600" b="1" dirty="0"/>
              <a:t>	</a:t>
            </a:r>
            <a:r>
              <a:rPr lang="it-IT" sz="1600" dirty="0"/>
              <a:t>Selezionare le barre all’interno del box Lista barre e premere il pulsante «Rimuovi»</a:t>
            </a:r>
          </a:p>
          <a:p>
            <a:endParaRPr lang="it-IT" sz="1600" b="1" dirty="0"/>
          </a:p>
          <a:p>
            <a:r>
              <a:rPr lang="it-IT" sz="1600" b="1" dirty="0"/>
              <a:t>	</a:t>
            </a:r>
            <a:r>
              <a:rPr lang="it-IT" sz="1600" dirty="0"/>
              <a:t>Selezionare le barre all’interno del box Lista bare e premere il pulsante «Modifica»</a:t>
            </a:r>
            <a:endParaRPr lang="it-IT" sz="1600" b="1" dirty="0"/>
          </a:p>
          <a:p>
            <a:endParaRPr lang="it-IT" sz="1600" b="1" dirty="0"/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DB696E58-207A-4C9B-B427-40E7233972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4598" y="3017496"/>
            <a:ext cx="819235" cy="358415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C0DDB2A2-1CF6-4DA4-BD89-855985F293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64598" y="3952941"/>
            <a:ext cx="923448" cy="374732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BB0376A8-0D39-496D-A49B-3254EFCA8AC8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32537" t="7994" b="-488"/>
          <a:stretch/>
        </p:blipFill>
        <p:spPr>
          <a:xfrm>
            <a:off x="6796459" y="1453317"/>
            <a:ext cx="3550474" cy="291290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F64E740A-8547-45A1-AE70-3BDDF1F54561}"/>
              </a:ext>
            </a:extLst>
          </p:cNvPr>
          <p:cNvSpPr/>
          <p:nvPr/>
        </p:nvSpPr>
        <p:spPr>
          <a:xfrm rot="18287378">
            <a:off x="6937285" y="4457754"/>
            <a:ext cx="274320" cy="283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2" name="Freccia in giù 21">
            <a:extLst>
              <a:ext uri="{FF2B5EF4-FFF2-40B4-BE49-F238E27FC236}">
                <a16:creationId xmlns:a16="http://schemas.microsoft.com/office/drawing/2014/main" id="{A66460B7-7650-4D6D-88BD-7936D32839E5}"/>
              </a:ext>
            </a:extLst>
          </p:cNvPr>
          <p:cNvSpPr/>
          <p:nvPr/>
        </p:nvSpPr>
        <p:spPr>
          <a:xfrm rot="3204204">
            <a:off x="8568531" y="4453951"/>
            <a:ext cx="274320" cy="28343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5389EB59-6D8A-4E23-AB43-8B3A5DED8226}"/>
              </a:ext>
            </a:extLst>
          </p:cNvPr>
          <p:cNvSpPr/>
          <p:nvPr/>
        </p:nvSpPr>
        <p:spPr>
          <a:xfrm>
            <a:off x="7154190" y="4707221"/>
            <a:ext cx="679450" cy="24754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8BF8D134-A0D3-43FE-9A19-55177388C926}"/>
              </a:ext>
            </a:extLst>
          </p:cNvPr>
          <p:cNvSpPr/>
          <p:nvPr/>
        </p:nvSpPr>
        <p:spPr>
          <a:xfrm>
            <a:off x="7895501" y="4709415"/>
            <a:ext cx="679450" cy="24754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27" name="Elemento grafico 26">
            <a:extLst>
              <a:ext uri="{FF2B5EF4-FFF2-40B4-BE49-F238E27FC236}">
                <a16:creationId xmlns:a16="http://schemas.microsoft.com/office/drawing/2014/main" id="{FC5A53BD-B64D-4947-921B-C52867E5F9C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8805CE32-52D4-4C41-A018-C9CAB85ABE8A}"/>
              </a:ext>
            </a:extLst>
          </p:cNvPr>
          <p:cNvSpPr txBox="1"/>
          <p:nvPr/>
        </p:nvSpPr>
        <p:spPr>
          <a:xfrm>
            <a:off x="4982920" y="1051122"/>
            <a:ext cx="4271924" cy="33855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dirty="0"/>
              <a:t>Le sezioni 2-4-6-8 sono relative ai dati delle barre</a:t>
            </a:r>
          </a:p>
        </p:txBody>
      </p:sp>
    </p:spTree>
    <p:extLst>
      <p:ext uri="{BB962C8B-B14F-4D97-AF65-F5344CB8AC3E}">
        <p14:creationId xmlns:p14="http://schemas.microsoft.com/office/powerpoint/2010/main" val="27838319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magine 19">
            <a:extLst>
              <a:ext uri="{FF2B5EF4-FFF2-40B4-BE49-F238E27FC236}">
                <a16:creationId xmlns:a16="http://schemas.microsoft.com/office/drawing/2014/main" id="{1AB1CC64-E055-497D-BD2B-BC39DE34F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EB758F5F-1D2E-49D5-B80F-112C7C40BD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8656" b="1"/>
          <a:stretch/>
        </p:blipFill>
        <p:spPr>
          <a:xfrm>
            <a:off x="84674" y="378643"/>
            <a:ext cx="12060333" cy="1549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3625789-89B6-4DEF-BA86-F793D34C9C95}"/>
              </a:ext>
            </a:extLst>
          </p:cNvPr>
          <p:cNvSpPr/>
          <p:nvPr/>
        </p:nvSpPr>
        <p:spPr>
          <a:xfrm>
            <a:off x="182779" y="629950"/>
            <a:ext cx="2118462" cy="1000730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4A99C372-848E-44A8-9EB7-99D572C6A261}"/>
              </a:ext>
            </a:extLst>
          </p:cNvPr>
          <p:cNvSpPr/>
          <p:nvPr/>
        </p:nvSpPr>
        <p:spPr>
          <a:xfrm>
            <a:off x="1113816" y="733223"/>
            <a:ext cx="367408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9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E1F8EBB0-4399-4422-8074-97CA96C8A0D1}"/>
              </a:ext>
            </a:extLst>
          </p:cNvPr>
          <p:cNvSpPr txBox="1"/>
          <p:nvPr/>
        </p:nvSpPr>
        <p:spPr>
          <a:xfrm>
            <a:off x="93480" y="2037829"/>
            <a:ext cx="2526152" cy="4524315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it-IT" sz="1600" b="1" dirty="0"/>
              <a:t>Dati taglio (9) </a:t>
            </a:r>
          </a:p>
          <a:p>
            <a:r>
              <a:rPr lang="it-IT" sz="1600" dirty="0"/>
              <a:t>Definiscono i parametri per il calcolo delle quantità di barre in fase di </a:t>
            </a:r>
            <a:r>
              <a:rPr lang="it-IT" sz="1600" dirty="0" err="1"/>
              <a:t>nesting</a:t>
            </a:r>
            <a:r>
              <a:rPr lang="it-IT" sz="1600" dirty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/>
              <a:t>Spessore taglio</a:t>
            </a:r>
            <a:r>
              <a:rPr lang="it-IT" sz="1600" dirty="0"/>
              <a:t>. Viene definito lo spessore di taglio tra i pezzi nella barra.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/>
              <a:t>Sfrido iniziale barra</a:t>
            </a:r>
            <a:r>
              <a:rPr lang="it-IT" sz="1600" dirty="0"/>
              <a:t>. Viene definita la distanza di partenza della prima parte nella barra.</a:t>
            </a:r>
          </a:p>
          <a:p>
            <a:pPr marL="342900" indent="-342900">
              <a:buFont typeface="+mj-lt"/>
              <a:buAutoNum type="arabicPeriod"/>
            </a:pPr>
            <a:r>
              <a:rPr lang="it-IT" sz="1600" b="1" dirty="0"/>
              <a:t>Sfrido finale barra.</a:t>
            </a:r>
            <a:r>
              <a:rPr lang="it-IT" sz="1600" dirty="0"/>
              <a:t> Viene definita la distanza minima dell’ultima parte nella barra.</a:t>
            </a:r>
            <a:endParaRPr lang="it-IT" sz="1600" b="1" dirty="0"/>
          </a:p>
        </p:txBody>
      </p:sp>
      <p:sp>
        <p:nvSpPr>
          <p:cNvPr id="64" name="Rettangolo 63">
            <a:extLst>
              <a:ext uri="{FF2B5EF4-FFF2-40B4-BE49-F238E27FC236}">
                <a16:creationId xmlns:a16="http://schemas.microsoft.com/office/drawing/2014/main" id="{7A8291EB-76F1-42E0-B936-E18041889575}"/>
              </a:ext>
            </a:extLst>
          </p:cNvPr>
          <p:cNvSpPr/>
          <p:nvPr/>
        </p:nvSpPr>
        <p:spPr>
          <a:xfrm>
            <a:off x="6681766" y="2906087"/>
            <a:ext cx="1306768" cy="2616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05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SPESORE DI TAGLIO</a:t>
            </a:r>
            <a:endParaRPr lang="it-IT" sz="105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ttangolo 65">
            <a:extLst>
              <a:ext uri="{FF2B5EF4-FFF2-40B4-BE49-F238E27FC236}">
                <a16:creationId xmlns:a16="http://schemas.microsoft.com/office/drawing/2014/main" id="{BF9E94DB-442E-416D-9F08-56F0EA5159C1}"/>
              </a:ext>
            </a:extLst>
          </p:cNvPr>
          <p:cNvSpPr/>
          <p:nvPr/>
        </p:nvSpPr>
        <p:spPr>
          <a:xfrm>
            <a:off x="2875975" y="2878350"/>
            <a:ext cx="1479892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05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SFRIDO INIZIALE BARRA</a:t>
            </a:r>
            <a:endParaRPr lang="it-IT" sz="105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ttangolo 66">
            <a:extLst>
              <a:ext uri="{FF2B5EF4-FFF2-40B4-BE49-F238E27FC236}">
                <a16:creationId xmlns:a16="http://schemas.microsoft.com/office/drawing/2014/main" id="{D343A488-429F-4891-BD6A-E173B786DE45}"/>
              </a:ext>
            </a:extLst>
          </p:cNvPr>
          <p:cNvSpPr/>
          <p:nvPr/>
        </p:nvSpPr>
        <p:spPr>
          <a:xfrm>
            <a:off x="10199201" y="2887316"/>
            <a:ext cx="1412566" cy="25391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05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SFRIDO FINALE BARRA</a:t>
            </a:r>
            <a:endParaRPr lang="it-IT" sz="1050" b="0" cap="none" spc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Freccia circolare in su 1">
            <a:extLst>
              <a:ext uri="{FF2B5EF4-FFF2-40B4-BE49-F238E27FC236}">
                <a16:creationId xmlns:a16="http://schemas.microsoft.com/office/drawing/2014/main" id="{C8F8F167-0BE5-4CF6-8808-C691B5C3DF78}"/>
              </a:ext>
            </a:extLst>
          </p:cNvPr>
          <p:cNvSpPr/>
          <p:nvPr/>
        </p:nvSpPr>
        <p:spPr>
          <a:xfrm rot="16200000">
            <a:off x="2134194" y="1380244"/>
            <a:ext cx="1056786" cy="49650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9" name="Immagine 18">
            <a:extLst>
              <a:ext uri="{FF2B5EF4-FFF2-40B4-BE49-F238E27FC236}">
                <a16:creationId xmlns:a16="http://schemas.microsoft.com/office/drawing/2014/main" id="{14FE519C-0A5A-4C27-8228-EB64BD4ECF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63619" y="3659291"/>
            <a:ext cx="8735792" cy="1256180"/>
          </a:xfrm>
          <a:prstGeom prst="rect">
            <a:avLst/>
          </a:prstGeom>
        </p:spPr>
      </p:pic>
      <p:sp>
        <p:nvSpPr>
          <p:cNvPr id="60" name="Freccia in giù 59">
            <a:extLst>
              <a:ext uri="{FF2B5EF4-FFF2-40B4-BE49-F238E27FC236}">
                <a16:creationId xmlns:a16="http://schemas.microsoft.com/office/drawing/2014/main" id="{F93C65EB-7DDD-4F6F-A350-16A2F9FB68C4}"/>
              </a:ext>
            </a:extLst>
          </p:cNvPr>
          <p:cNvSpPr/>
          <p:nvPr/>
        </p:nvSpPr>
        <p:spPr>
          <a:xfrm>
            <a:off x="2917160" y="3170972"/>
            <a:ext cx="197708" cy="55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1" name="Freccia in giù 60">
            <a:extLst>
              <a:ext uri="{FF2B5EF4-FFF2-40B4-BE49-F238E27FC236}">
                <a16:creationId xmlns:a16="http://schemas.microsoft.com/office/drawing/2014/main" id="{FEC620F6-BCA4-49AB-BC49-76A911101AFF}"/>
              </a:ext>
            </a:extLst>
          </p:cNvPr>
          <p:cNvSpPr/>
          <p:nvPr/>
        </p:nvSpPr>
        <p:spPr>
          <a:xfrm>
            <a:off x="7230993" y="3164496"/>
            <a:ext cx="197708" cy="55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3" name="Freccia in giù 62">
            <a:extLst>
              <a:ext uri="{FF2B5EF4-FFF2-40B4-BE49-F238E27FC236}">
                <a16:creationId xmlns:a16="http://schemas.microsoft.com/office/drawing/2014/main" id="{C9FE2C18-0EB8-47CE-B127-B6134A604B3C}"/>
              </a:ext>
            </a:extLst>
          </p:cNvPr>
          <p:cNvSpPr/>
          <p:nvPr/>
        </p:nvSpPr>
        <p:spPr>
          <a:xfrm>
            <a:off x="11298769" y="3170972"/>
            <a:ext cx="197708" cy="5560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276A6D20-4F4C-4302-BA3C-6C2014C69B4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032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magine 16">
            <a:extLst>
              <a:ext uri="{FF2B5EF4-FFF2-40B4-BE49-F238E27FC236}">
                <a16:creationId xmlns:a16="http://schemas.microsoft.com/office/drawing/2014/main" id="{2BA5E2EA-D032-4ADA-B3D2-5CFC524E4E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EB758F5F-1D2E-49D5-B80F-112C7C40BD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9793"/>
          <a:stretch/>
        </p:blipFill>
        <p:spPr>
          <a:xfrm>
            <a:off x="84674" y="434851"/>
            <a:ext cx="12060333" cy="149348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ttangolo 6">
            <a:extLst>
              <a:ext uri="{FF2B5EF4-FFF2-40B4-BE49-F238E27FC236}">
                <a16:creationId xmlns:a16="http://schemas.microsoft.com/office/drawing/2014/main" id="{36B170C2-8382-4366-B990-82677E7C0606}"/>
              </a:ext>
            </a:extLst>
          </p:cNvPr>
          <p:cNvSpPr/>
          <p:nvPr/>
        </p:nvSpPr>
        <p:spPr>
          <a:xfrm>
            <a:off x="2395885" y="629004"/>
            <a:ext cx="2091742" cy="96432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C67E775C-9913-4A12-8D5B-28CAACBC5A14}"/>
              </a:ext>
            </a:extLst>
          </p:cNvPr>
          <p:cNvSpPr/>
          <p:nvPr/>
        </p:nvSpPr>
        <p:spPr>
          <a:xfrm>
            <a:off x="4518175" y="628066"/>
            <a:ext cx="1682750" cy="965267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BCED1C7-9D24-41AF-9237-1B94B871A3DD}"/>
              </a:ext>
            </a:extLst>
          </p:cNvPr>
          <p:cNvSpPr/>
          <p:nvPr/>
        </p:nvSpPr>
        <p:spPr>
          <a:xfrm>
            <a:off x="3194203" y="754675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10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BA8FEE6E-E389-4271-8AD1-DEA827D4556D}"/>
              </a:ext>
            </a:extLst>
          </p:cNvPr>
          <p:cNvSpPr/>
          <p:nvPr/>
        </p:nvSpPr>
        <p:spPr>
          <a:xfrm>
            <a:off x="5084474" y="1008903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11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8" name="CasellaDiTesto 67">
            <a:extLst>
              <a:ext uri="{FF2B5EF4-FFF2-40B4-BE49-F238E27FC236}">
                <a16:creationId xmlns:a16="http://schemas.microsoft.com/office/drawing/2014/main" id="{767664C2-EDB6-41FF-BAA9-74BF2AF20C75}"/>
              </a:ext>
            </a:extLst>
          </p:cNvPr>
          <p:cNvSpPr txBox="1"/>
          <p:nvPr/>
        </p:nvSpPr>
        <p:spPr>
          <a:xfrm>
            <a:off x="622428" y="1982372"/>
            <a:ext cx="2460979" cy="2062103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Accuratezza risultato </a:t>
            </a:r>
            <a:r>
              <a:rPr lang="it-IT" sz="1600" b="1" dirty="0" err="1"/>
              <a:t>nesting</a:t>
            </a:r>
            <a:r>
              <a:rPr lang="it-IT" sz="1600" b="1" dirty="0"/>
              <a:t> (10) </a:t>
            </a:r>
          </a:p>
          <a:p>
            <a:r>
              <a:rPr lang="it-IT" sz="1600" dirty="0"/>
              <a:t>Viene definito un range di accuratezza del </a:t>
            </a:r>
            <a:r>
              <a:rPr lang="it-IT" sz="1600" dirty="0" err="1"/>
              <a:t>nesting</a:t>
            </a:r>
            <a:r>
              <a:rPr lang="it-IT" sz="1600" dirty="0"/>
              <a:t> da 1 a 100</a:t>
            </a:r>
          </a:p>
          <a:p>
            <a:r>
              <a:rPr lang="it-IT" sz="1600" dirty="0"/>
              <a:t>Maggiore è l’accuratezza più lungo sarà il processo di definizione del </a:t>
            </a:r>
            <a:r>
              <a:rPr lang="it-IT" sz="1600" dirty="0" err="1"/>
              <a:t>nesting</a:t>
            </a:r>
            <a:endParaRPr lang="it-IT" sz="1600" dirty="0"/>
          </a:p>
        </p:txBody>
      </p:sp>
      <p:sp>
        <p:nvSpPr>
          <p:cNvPr id="69" name="CasellaDiTesto 68">
            <a:extLst>
              <a:ext uri="{FF2B5EF4-FFF2-40B4-BE49-F238E27FC236}">
                <a16:creationId xmlns:a16="http://schemas.microsoft.com/office/drawing/2014/main" id="{098FEC84-1856-40E4-9AD2-794B9F6B6C31}"/>
              </a:ext>
            </a:extLst>
          </p:cNvPr>
          <p:cNvSpPr txBox="1"/>
          <p:nvPr/>
        </p:nvSpPr>
        <p:spPr>
          <a:xfrm>
            <a:off x="3727819" y="1979777"/>
            <a:ext cx="4208306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Rappresentazione parte (11) </a:t>
            </a:r>
          </a:p>
          <a:p>
            <a:r>
              <a:rPr lang="it-IT" sz="1600" dirty="0"/>
              <a:t>Definisce la modalità di identificare la parte nel </a:t>
            </a:r>
            <a:r>
              <a:rPr lang="it-IT" sz="1600" dirty="0" err="1"/>
              <a:t>nesting</a:t>
            </a:r>
            <a:r>
              <a:rPr lang="it-IT" sz="1600" dirty="0"/>
              <a:t>.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43BCA17-B4DC-4CD3-BDE8-082C80ABA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4350" y="2921500"/>
            <a:ext cx="1896848" cy="1011652"/>
          </a:xfrm>
          <a:prstGeom prst="rect">
            <a:avLst/>
          </a:prstGeom>
        </p:spPr>
      </p:pic>
      <p:sp>
        <p:nvSpPr>
          <p:cNvPr id="65" name="Freccia circolare in su 64">
            <a:extLst>
              <a:ext uri="{FF2B5EF4-FFF2-40B4-BE49-F238E27FC236}">
                <a16:creationId xmlns:a16="http://schemas.microsoft.com/office/drawing/2014/main" id="{D3F22719-6BB5-4A3B-9A08-32218BEA62E3}"/>
              </a:ext>
            </a:extLst>
          </p:cNvPr>
          <p:cNvSpPr/>
          <p:nvPr/>
        </p:nvSpPr>
        <p:spPr>
          <a:xfrm rot="16200000">
            <a:off x="5989512" y="1355530"/>
            <a:ext cx="1056786" cy="49650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sp>
        <p:nvSpPr>
          <p:cNvPr id="76" name="Freccia circolare in su 75">
            <a:extLst>
              <a:ext uri="{FF2B5EF4-FFF2-40B4-BE49-F238E27FC236}">
                <a16:creationId xmlns:a16="http://schemas.microsoft.com/office/drawing/2014/main" id="{AC7455E0-6819-46DF-9842-4EC6469DB11B}"/>
              </a:ext>
            </a:extLst>
          </p:cNvPr>
          <p:cNvSpPr/>
          <p:nvPr/>
        </p:nvSpPr>
        <p:spPr>
          <a:xfrm rot="16200000">
            <a:off x="2546080" y="1359646"/>
            <a:ext cx="1056786" cy="49650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77" name="Immagine 76">
            <a:extLst>
              <a:ext uri="{FF2B5EF4-FFF2-40B4-BE49-F238E27FC236}">
                <a16:creationId xmlns:a16="http://schemas.microsoft.com/office/drawing/2014/main" id="{C8C6317D-A274-477A-B6F0-5DCE8D1290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3619" y="4573691"/>
            <a:ext cx="8735792" cy="1256180"/>
          </a:xfrm>
          <a:prstGeom prst="rect">
            <a:avLst/>
          </a:prstGeom>
        </p:spPr>
      </p:pic>
      <p:sp>
        <p:nvSpPr>
          <p:cNvPr id="19" name="Freccia circolare a destra 18">
            <a:extLst>
              <a:ext uri="{FF2B5EF4-FFF2-40B4-BE49-F238E27FC236}">
                <a16:creationId xmlns:a16="http://schemas.microsoft.com/office/drawing/2014/main" id="{AFC4461D-EE36-43C4-95DB-E87AC4B042F0}"/>
              </a:ext>
            </a:extLst>
          </p:cNvPr>
          <p:cNvSpPr/>
          <p:nvPr/>
        </p:nvSpPr>
        <p:spPr>
          <a:xfrm>
            <a:off x="5722620" y="2948940"/>
            <a:ext cx="623903" cy="189820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1"/>
              </a:solidFill>
            </a:endParaRP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B1BD8595-4CEF-4FC8-9165-2821273CE2F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691" y="538428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80647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magine 12">
            <a:extLst>
              <a:ext uri="{FF2B5EF4-FFF2-40B4-BE49-F238E27FC236}">
                <a16:creationId xmlns:a16="http://schemas.microsoft.com/office/drawing/2014/main" id="{31592423-2B80-422A-8CDF-F548345A0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9" name="Immagine 58">
            <a:extLst>
              <a:ext uri="{FF2B5EF4-FFF2-40B4-BE49-F238E27FC236}">
                <a16:creationId xmlns:a16="http://schemas.microsoft.com/office/drawing/2014/main" id="{EB758F5F-1D2E-49D5-B80F-112C7C40BD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7419" b="1"/>
          <a:stretch/>
        </p:blipFill>
        <p:spPr>
          <a:xfrm>
            <a:off x="84674" y="317501"/>
            <a:ext cx="12060333" cy="161083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" name="Rettangolo 8">
            <a:extLst>
              <a:ext uri="{FF2B5EF4-FFF2-40B4-BE49-F238E27FC236}">
                <a16:creationId xmlns:a16="http://schemas.microsoft.com/office/drawing/2014/main" id="{1A410B4D-F41C-4DC6-A961-44BC2257EA43}"/>
              </a:ext>
            </a:extLst>
          </p:cNvPr>
          <p:cNvSpPr/>
          <p:nvPr/>
        </p:nvSpPr>
        <p:spPr>
          <a:xfrm>
            <a:off x="6224803" y="629651"/>
            <a:ext cx="5835392" cy="418722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CF1AD998-9E6C-4B5C-92B3-ED1380DAFEE7}"/>
              </a:ext>
            </a:extLst>
          </p:cNvPr>
          <p:cNvSpPr/>
          <p:nvPr/>
        </p:nvSpPr>
        <p:spPr>
          <a:xfrm>
            <a:off x="4797425" y="1641303"/>
            <a:ext cx="924303" cy="24526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1" name="Rettangolo 10">
            <a:extLst>
              <a:ext uri="{FF2B5EF4-FFF2-40B4-BE49-F238E27FC236}">
                <a16:creationId xmlns:a16="http://schemas.microsoft.com/office/drawing/2014/main" id="{800B0289-59AA-4F94-8ACE-F1AB0904300B}"/>
              </a:ext>
            </a:extLst>
          </p:cNvPr>
          <p:cNvSpPr/>
          <p:nvPr/>
        </p:nvSpPr>
        <p:spPr>
          <a:xfrm>
            <a:off x="5943600" y="1641303"/>
            <a:ext cx="787400" cy="245269"/>
          </a:xfrm>
          <a:prstGeom prst="rect">
            <a:avLst/>
          </a:prstGeom>
          <a:solidFill>
            <a:srgbClr val="FFFF00">
              <a:alpha val="30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C9504D0A-2178-4A90-ACDB-EDCDEE9DF30C}"/>
              </a:ext>
            </a:extLst>
          </p:cNvPr>
          <p:cNvSpPr/>
          <p:nvPr/>
        </p:nvSpPr>
        <p:spPr>
          <a:xfrm>
            <a:off x="8953149" y="576884"/>
            <a:ext cx="550151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12</a:t>
            </a:r>
            <a:endParaRPr lang="it-IT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18A54F6B-D8BA-497C-8B49-A880D8E07512}"/>
              </a:ext>
            </a:extLst>
          </p:cNvPr>
          <p:cNvSpPr/>
          <p:nvPr/>
        </p:nvSpPr>
        <p:spPr>
          <a:xfrm>
            <a:off x="5006844" y="1256721"/>
            <a:ext cx="495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13</a:t>
            </a:r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0716C751-6244-4449-8A50-3B6DC2A5A91C}"/>
              </a:ext>
            </a:extLst>
          </p:cNvPr>
          <p:cNvSpPr/>
          <p:nvPr/>
        </p:nvSpPr>
        <p:spPr>
          <a:xfrm>
            <a:off x="6106189" y="1275036"/>
            <a:ext cx="49565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14</a:t>
            </a:r>
          </a:p>
        </p:txBody>
      </p:sp>
      <p:sp>
        <p:nvSpPr>
          <p:cNvPr id="71" name="CasellaDiTesto 70">
            <a:extLst>
              <a:ext uri="{FF2B5EF4-FFF2-40B4-BE49-F238E27FC236}">
                <a16:creationId xmlns:a16="http://schemas.microsoft.com/office/drawing/2014/main" id="{CDCE6915-C65D-4315-983A-043DA804A60F}"/>
              </a:ext>
            </a:extLst>
          </p:cNvPr>
          <p:cNvSpPr txBox="1"/>
          <p:nvPr/>
        </p:nvSpPr>
        <p:spPr>
          <a:xfrm>
            <a:off x="9059829" y="2621919"/>
            <a:ext cx="2615512" cy="83099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File lavoro (12) </a:t>
            </a:r>
          </a:p>
          <a:p>
            <a:r>
              <a:rPr lang="it-IT" sz="1600" dirty="0"/>
              <a:t>Definisce il file dove verrà salvato il lavoro di </a:t>
            </a:r>
            <a:r>
              <a:rPr lang="it-IT" sz="1600" dirty="0" err="1"/>
              <a:t>nesting</a:t>
            </a:r>
            <a:endParaRPr lang="it-IT" sz="1600" dirty="0"/>
          </a:p>
        </p:txBody>
      </p:sp>
      <p:sp>
        <p:nvSpPr>
          <p:cNvPr id="72" name="CasellaDiTesto 71">
            <a:extLst>
              <a:ext uri="{FF2B5EF4-FFF2-40B4-BE49-F238E27FC236}">
                <a16:creationId xmlns:a16="http://schemas.microsoft.com/office/drawing/2014/main" id="{243583E0-AFB7-40D4-8819-57100343FDBF}"/>
              </a:ext>
            </a:extLst>
          </p:cNvPr>
          <p:cNvSpPr txBox="1"/>
          <p:nvPr/>
        </p:nvSpPr>
        <p:spPr>
          <a:xfrm>
            <a:off x="3145325" y="2603655"/>
            <a:ext cx="2566500" cy="1077218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Importa Lavoro (13) </a:t>
            </a:r>
          </a:p>
          <a:p>
            <a:endParaRPr lang="it-IT" sz="1600" b="1" dirty="0"/>
          </a:p>
          <a:p>
            <a:endParaRPr lang="it-IT" sz="1600" b="1" dirty="0"/>
          </a:p>
          <a:p>
            <a:r>
              <a:rPr lang="it-IT" sz="1600" dirty="0"/>
              <a:t>Importa un file </a:t>
            </a:r>
            <a:r>
              <a:rPr lang="it-IT" sz="1600" dirty="0" err="1"/>
              <a:t>nesting</a:t>
            </a:r>
            <a:endParaRPr lang="it-IT" sz="1600" dirty="0"/>
          </a:p>
        </p:txBody>
      </p:sp>
      <p:sp>
        <p:nvSpPr>
          <p:cNvPr id="73" name="CasellaDiTesto 72">
            <a:extLst>
              <a:ext uri="{FF2B5EF4-FFF2-40B4-BE49-F238E27FC236}">
                <a16:creationId xmlns:a16="http://schemas.microsoft.com/office/drawing/2014/main" id="{6AEE9AF7-9977-4FC9-877D-4AA62394E2E6}"/>
              </a:ext>
            </a:extLst>
          </p:cNvPr>
          <p:cNvSpPr txBox="1"/>
          <p:nvPr/>
        </p:nvSpPr>
        <p:spPr>
          <a:xfrm>
            <a:off x="5927857" y="2591432"/>
            <a:ext cx="2884524" cy="1815882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 err="1"/>
              <a:t>Nesting</a:t>
            </a:r>
            <a:r>
              <a:rPr lang="it-IT" sz="1600" b="1" dirty="0"/>
              <a:t> Bar (14) </a:t>
            </a:r>
          </a:p>
          <a:p>
            <a:endParaRPr lang="it-IT" sz="1600" b="1" dirty="0"/>
          </a:p>
          <a:p>
            <a:endParaRPr lang="it-IT" sz="1600" b="1" dirty="0"/>
          </a:p>
          <a:p>
            <a:r>
              <a:rPr lang="it-IT" sz="1600" dirty="0"/>
              <a:t>Pulsante di avvio </a:t>
            </a:r>
            <a:r>
              <a:rPr lang="it-IT" sz="1600" dirty="0" err="1"/>
              <a:t>nesting</a:t>
            </a:r>
            <a:r>
              <a:rPr lang="it-IT" sz="1600" dirty="0"/>
              <a:t>.</a:t>
            </a:r>
          </a:p>
          <a:p>
            <a:r>
              <a:rPr lang="it-IT" sz="1600" dirty="0"/>
              <a:t>Il processo elabora quanto definito nelle liste di parti e barre</a:t>
            </a:r>
          </a:p>
        </p:txBody>
      </p:sp>
      <p:pic>
        <p:nvPicPr>
          <p:cNvPr id="74" name="Immagine 73">
            <a:extLst>
              <a:ext uri="{FF2B5EF4-FFF2-40B4-BE49-F238E27FC236}">
                <a16:creationId xmlns:a16="http://schemas.microsoft.com/office/drawing/2014/main" id="{F6362F2F-08B3-412B-B212-68C71317CB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94363" y="2934585"/>
            <a:ext cx="1408490" cy="406574"/>
          </a:xfrm>
          <a:prstGeom prst="rect">
            <a:avLst/>
          </a:prstGeom>
        </p:spPr>
      </p:pic>
      <p:pic>
        <p:nvPicPr>
          <p:cNvPr id="75" name="Immagine 74">
            <a:extLst>
              <a:ext uri="{FF2B5EF4-FFF2-40B4-BE49-F238E27FC236}">
                <a16:creationId xmlns:a16="http://schemas.microsoft.com/office/drawing/2014/main" id="{D8803FE8-B9E5-41F0-B8EA-D0E1E3367B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1128" y="2916805"/>
            <a:ext cx="1159349" cy="395875"/>
          </a:xfrm>
          <a:prstGeom prst="rect">
            <a:avLst/>
          </a:prstGeom>
        </p:spPr>
      </p:pic>
      <p:sp>
        <p:nvSpPr>
          <p:cNvPr id="24" name="Freccia in su 23">
            <a:extLst>
              <a:ext uri="{FF2B5EF4-FFF2-40B4-BE49-F238E27FC236}">
                <a16:creationId xmlns:a16="http://schemas.microsoft.com/office/drawing/2014/main" id="{C038AE87-DBE4-4CF6-8582-3672710B9510}"/>
              </a:ext>
            </a:extLst>
          </p:cNvPr>
          <p:cNvSpPr/>
          <p:nvPr/>
        </p:nvSpPr>
        <p:spPr>
          <a:xfrm>
            <a:off x="6242063" y="1925158"/>
            <a:ext cx="232109" cy="6245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in su 25">
            <a:extLst>
              <a:ext uri="{FF2B5EF4-FFF2-40B4-BE49-F238E27FC236}">
                <a16:creationId xmlns:a16="http://schemas.microsoft.com/office/drawing/2014/main" id="{2DE715C0-32AA-4DD8-8D8C-F75E77BFA531}"/>
              </a:ext>
            </a:extLst>
          </p:cNvPr>
          <p:cNvSpPr/>
          <p:nvPr/>
        </p:nvSpPr>
        <p:spPr>
          <a:xfrm>
            <a:off x="5184334" y="1937381"/>
            <a:ext cx="232109" cy="624510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Freccia in su 26">
            <a:extLst>
              <a:ext uri="{FF2B5EF4-FFF2-40B4-BE49-F238E27FC236}">
                <a16:creationId xmlns:a16="http://schemas.microsoft.com/office/drawing/2014/main" id="{E92D18ED-E02D-49B1-94F5-FF8C8F96CE25}"/>
              </a:ext>
            </a:extLst>
          </p:cNvPr>
          <p:cNvSpPr/>
          <p:nvPr/>
        </p:nvSpPr>
        <p:spPr>
          <a:xfrm>
            <a:off x="9321320" y="1100104"/>
            <a:ext cx="232109" cy="1461787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9" name="Elemento grafico 18">
            <a:extLst>
              <a:ext uri="{FF2B5EF4-FFF2-40B4-BE49-F238E27FC236}">
                <a16:creationId xmlns:a16="http://schemas.microsoft.com/office/drawing/2014/main" id="{38533079-14D3-4629-9BF3-25FB576A16A9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6871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5B57047-1536-431C-BB64-A19C9DDC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5CE6DF49-1CC4-47F9-BC19-97D84952DC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6" y="970639"/>
            <a:ext cx="12060333" cy="4944165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E15F3F8C-932B-4329-B872-B5B85726D3F4}"/>
              </a:ext>
            </a:extLst>
          </p:cNvPr>
          <p:cNvSpPr/>
          <p:nvPr/>
        </p:nvSpPr>
        <p:spPr>
          <a:xfrm>
            <a:off x="1571029" y="1318279"/>
            <a:ext cx="922528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PARTIAMO CON IL NESTING BAR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A500264D-94BE-408A-BD57-935422400E2D}"/>
              </a:ext>
            </a:extLst>
          </p:cNvPr>
          <p:cNvSpPr/>
          <p:nvPr/>
        </p:nvSpPr>
        <p:spPr>
          <a:xfrm>
            <a:off x="194959" y="2135233"/>
            <a:ext cx="11882740" cy="156966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32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PER PRATICITA’ CARICHIAMO I FILE DI ESEMPIO</a:t>
            </a:r>
          </a:p>
          <a:p>
            <a:pPr algn="ctr"/>
            <a:r>
              <a:rPr lang="it-I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IMPOSTIAMO DI DATI DI TAGLIO, ACCURATEZZA E RAPPRESENTAZIONE</a:t>
            </a:r>
          </a:p>
          <a:p>
            <a:pPr algn="ctr"/>
            <a:r>
              <a:rPr lang="it-I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Premi «</a:t>
            </a:r>
            <a:r>
              <a:rPr lang="it-IT" sz="32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Nesting</a:t>
            </a:r>
            <a:r>
              <a:rPr lang="it-IT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Bar» per partire con il processo ……..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EE5A42C3-7844-4718-848C-35C1AD898F19}"/>
              </a:ext>
            </a:extLst>
          </p:cNvPr>
          <p:cNvSpPr/>
          <p:nvPr/>
        </p:nvSpPr>
        <p:spPr>
          <a:xfrm>
            <a:off x="206375" y="4117803"/>
            <a:ext cx="1360488" cy="249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Rettangolo 27">
            <a:extLst>
              <a:ext uri="{FF2B5EF4-FFF2-40B4-BE49-F238E27FC236}">
                <a16:creationId xmlns:a16="http://schemas.microsoft.com/office/drawing/2014/main" id="{390ACD2C-3F82-48E1-AAAB-8A469159C974}"/>
              </a:ext>
            </a:extLst>
          </p:cNvPr>
          <p:cNvSpPr/>
          <p:nvPr/>
        </p:nvSpPr>
        <p:spPr>
          <a:xfrm>
            <a:off x="6683375" y="4115608"/>
            <a:ext cx="1360488" cy="24941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9" name="Rettangolo 28">
            <a:extLst>
              <a:ext uri="{FF2B5EF4-FFF2-40B4-BE49-F238E27FC236}">
                <a16:creationId xmlns:a16="http://schemas.microsoft.com/office/drawing/2014/main" id="{F2BF4B7B-A450-4991-887F-D0FA8F2837A3}"/>
              </a:ext>
            </a:extLst>
          </p:cNvPr>
          <p:cNvSpPr/>
          <p:nvPr/>
        </p:nvSpPr>
        <p:spPr>
          <a:xfrm>
            <a:off x="5926269" y="5605503"/>
            <a:ext cx="793619" cy="249410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Rettangolo 29">
            <a:extLst>
              <a:ext uri="{FF2B5EF4-FFF2-40B4-BE49-F238E27FC236}">
                <a16:creationId xmlns:a16="http://schemas.microsoft.com/office/drawing/2014/main" id="{3FC4F742-6286-4A56-B46A-A89A78EE40AC}"/>
              </a:ext>
            </a:extLst>
          </p:cNvPr>
          <p:cNvSpPr/>
          <p:nvPr/>
        </p:nvSpPr>
        <p:spPr>
          <a:xfrm>
            <a:off x="114301" y="4595424"/>
            <a:ext cx="2165350" cy="1010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Rettangolo 30">
            <a:extLst>
              <a:ext uri="{FF2B5EF4-FFF2-40B4-BE49-F238E27FC236}">
                <a16:creationId xmlns:a16="http://schemas.microsoft.com/office/drawing/2014/main" id="{A0E98F2C-E2D0-4644-B711-1790EC7348DA}"/>
              </a:ext>
            </a:extLst>
          </p:cNvPr>
          <p:cNvSpPr/>
          <p:nvPr/>
        </p:nvSpPr>
        <p:spPr>
          <a:xfrm>
            <a:off x="2320085" y="4595424"/>
            <a:ext cx="2165350" cy="1010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3FC430E4-B023-48F2-B01A-C4FC26BCA7BE}"/>
              </a:ext>
            </a:extLst>
          </p:cNvPr>
          <p:cNvSpPr/>
          <p:nvPr/>
        </p:nvSpPr>
        <p:spPr>
          <a:xfrm>
            <a:off x="4518025" y="4595424"/>
            <a:ext cx="1628775" cy="101007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Freccia in giù 7">
            <a:extLst>
              <a:ext uri="{FF2B5EF4-FFF2-40B4-BE49-F238E27FC236}">
                <a16:creationId xmlns:a16="http://schemas.microsoft.com/office/drawing/2014/main" id="{3A0CFF3E-3B6B-4A23-A837-4B4180375EFB}"/>
              </a:ext>
            </a:extLst>
          </p:cNvPr>
          <p:cNvSpPr/>
          <p:nvPr/>
        </p:nvSpPr>
        <p:spPr>
          <a:xfrm>
            <a:off x="6278884" y="3704893"/>
            <a:ext cx="404491" cy="181449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AE7E434C-0F28-465B-B458-5FC82D73ABA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35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5B57047-1536-431C-BB64-A19C9DDC03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7A72A863-A687-472E-B6C1-20014B52C9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661" y="434273"/>
            <a:ext cx="9678751" cy="5887272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4F4AD6C9-0D19-4419-A045-078049416CC3}"/>
              </a:ext>
            </a:extLst>
          </p:cNvPr>
          <p:cNvSpPr/>
          <p:nvPr/>
        </p:nvSpPr>
        <p:spPr>
          <a:xfrm>
            <a:off x="1196761" y="2090171"/>
            <a:ext cx="9531777" cy="267765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TERMINATO IL PROCESSO VERRA’ CHIESTO DOVE</a:t>
            </a:r>
          </a:p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SALVARE IL LAVORO</a:t>
            </a:r>
          </a:p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IL PROGRAMMA PROPONE IL SEGUENTE NOME FILE:</a:t>
            </a:r>
          </a:p>
          <a:p>
            <a:pPr algn="ctr"/>
            <a:r>
              <a:rPr lang="it-IT" sz="2800" dirty="0" err="1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Bar_»data»-»ora».bar</a:t>
            </a:r>
            <a:endParaRPr lang="it-IT" sz="28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IL NOME DEL FILE SI PUO MODIFICARE MA SI DEVE MANTENERE</a:t>
            </a:r>
          </a:p>
          <a:p>
            <a:pPr algn="ctr"/>
            <a:r>
              <a:rPr lang="it-IT" sz="28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L’ESTENSIONE «.bar»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191C16D-077D-454C-9B1D-5EFA118CE08E}"/>
              </a:ext>
            </a:extLst>
          </p:cNvPr>
          <p:cNvSpPr/>
          <p:nvPr/>
        </p:nvSpPr>
        <p:spPr>
          <a:xfrm>
            <a:off x="1703300" y="5778164"/>
            <a:ext cx="1473517" cy="249410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6" name="Rettangolo 15">
            <a:extLst>
              <a:ext uri="{FF2B5EF4-FFF2-40B4-BE49-F238E27FC236}">
                <a16:creationId xmlns:a16="http://schemas.microsoft.com/office/drawing/2014/main" id="{241C9178-2928-45DA-A4C6-DD148599AD59}"/>
              </a:ext>
            </a:extLst>
          </p:cNvPr>
          <p:cNvSpPr/>
          <p:nvPr/>
        </p:nvSpPr>
        <p:spPr>
          <a:xfrm>
            <a:off x="5331143" y="6026415"/>
            <a:ext cx="509587" cy="249410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8" name="Elemento grafico 7">
            <a:extLst>
              <a:ext uri="{FF2B5EF4-FFF2-40B4-BE49-F238E27FC236}">
                <a16:creationId xmlns:a16="http://schemas.microsoft.com/office/drawing/2014/main" id="{C8983EB8-88B4-4FA0-BE2D-23468BB98EB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28307" y="5249427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71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5614421C-B717-4568-A9CB-419BD2744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4" name="Rettangolo 13">
            <a:extLst>
              <a:ext uri="{FF2B5EF4-FFF2-40B4-BE49-F238E27FC236}">
                <a16:creationId xmlns:a16="http://schemas.microsoft.com/office/drawing/2014/main" id="{4F4AD6C9-0D19-4419-A045-078049416CC3}"/>
              </a:ext>
            </a:extLst>
          </p:cNvPr>
          <p:cNvSpPr/>
          <p:nvPr/>
        </p:nvSpPr>
        <p:spPr>
          <a:xfrm>
            <a:off x="2749896" y="6147040"/>
            <a:ext cx="3855478" cy="3385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600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VIENE CHIESTO UN PUNTO DI INSERIMENTO</a:t>
            </a:r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7191C16D-077D-454C-9B1D-5EFA118CE08E}"/>
              </a:ext>
            </a:extLst>
          </p:cNvPr>
          <p:cNvSpPr/>
          <p:nvPr/>
        </p:nvSpPr>
        <p:spPr>
          <a:xfrm>
            <a:off x="199073" y="6196840"/>
            <a:ext cx="1820227" cy="249410"/>
          </a:xfrm>
          <a:prstGeom prst="rect">
            <a:avLst/>
          </a:prstGeom>
          <a:solidFill>
            <a:srgbClr val="FFFF00">
              <a:alpha val="28000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3DF03FBC-6363-413A-98BE-9C0A992583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61" y="1310513"/>
            <a:ext cx="12002995" cy="4485279"/>
          </a:xfrm>
          <a:prstGeom prst="rect">
            <a:avLst/>
          </a:prstGeom>
        </p:spPr>
      </p:pic>
      <p:sp>
        <p:nvSpPr>
          <p:cNvPr id="13" name="Rettangolo 12">
            <a:extLst>
              <a:ext uri="{FF2B5EF4-FFF2-40B4-BE49-F238E27FC236}">
                <a16:creationId xmlns:a16="http://schemas.microsoft.com/office/drawing/2014/main" id="{E454955A-81F3-4AD9-8092-26DB669C2782}"/>
              </a:ext>
            </a:extLst>
          </p:cNvPr>
          <p:cNvSpPr/>
          <p:nvPr/>
        </p:nvSpPr>
        <p:spPr>
          <a:xfrm>
            <a:off x="2953477" y="640500"/>
            <a:ext cx="6050054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DEL CALCOLO NESTING BAR</a:t>
            </a:r>
          </a:p>
        </p:txBody>
      </p:sp>
      <p:sp>
        <p:nvSpPr>
          <p:cNvPr id="6" name="Freccia a sinistra 5">
            <a:extLst>
              <a:ext uri="{FF2B5EF4-FFF2-40B4-BE49-F238E27FC236}">
                <a16:creationId xmlns:a16="http://schemas.microsoft.com/office/drawing/2014/main" id="{9A17416C-D45E-403C-AE33-9A7982C5011B}"/>
              </a:ext>
            </a:extLst>
          </p:cNvPr>
          <p:cNvSpPr/>
          <p:nvPr/>
        </p:nvSpPr>
        <p:spPr>
          <a:xfrm>
            <a:off x="2085976" y="6196840"/>
            <a:ext cx="663920" cy="249410"/>
          </a:xfrm>
          <a:prstGeom prst="leftArrow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EBB0ED2C-3609-455C-B1A2-8FC15EE5C7AB}"/>
              </a:ext>
            </a:extLst>
          </p:cNvPr>
          <p:cNvSpPr/>
          <p:nvPr/>
        </p:nvSpPr>
        <p:spPr>
          <a:xfrm>
            <a:off x="81522" y="1310513"/>
            <a:ext cx="3789438" cy="4477924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7BB8D001-05FC-49C0-885B-D18C1D3C22BA}"/>
              </a:ext>
            </a:extLst>
          </p:cNvPr>
          <p:cNvSpPr/>
          <p:nvPr/>
        </p:nvSpPr>
        <p:spPr>
          <a:xfrm>
            <a:off x="4150639" y="1317868"/>
            <a:ext cx="3789438" cy="4477924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6279AD47-41D6-4B61-B6CF-44299989949C}"/>
              </a:ext>
            </a:extLst>
          </p:cNvPr>
          <p:cNvSpPr/>
          <p:nvPr/>
        </p:nvSpPr>
        <p:spPr>
          <a:xfrm>
            <a:off x="8257417" y="1317868"/>
            <a:ext cx="3789438" cy="4477924"/>
          </a:xfrm>
          <a:prstGeom prst="rect">
            <a:avLst/>
          </a:prstGeom>
          <a:solidFill>
            <a:schemeClr val="bg2">
              <a:lumMod val="75000"/>
              <a:alpha val="20000"/>
            </a:scheme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E7B2A1E0-68F7-4626-83CB-93EA613F0169}"/>
              </a:ext>
            </a:extLst>
          </p:cNvPr>
          <p:cNvSpPr/>
          <p:nvPr/>
        </p:nvSpPr>
        <p:spPr>
          <a:xfrm>
            <a:off x="701085" y="468272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6000 mm</a:t>
            </a:r>
          </a:p>
        </p:txBody>
      </p:sp>
      <p:sp>
        <p:nvSpPr>
          <p:cNvPr id="21" name="Rettangolo 20">
            <a:extLst>
              <a:ext uri="{FF2B5EF4-FFF2-40B4-BE49-F238E27FC236}">
                <a16:creationId xmlns:a16="http://schemas.microsoft.com/office/drawing/2014/main" id="{50F6ED1B-4A05-421D-B847-A6B831F14D58}"/>
              </a:ext>
            </a:extLst>
          </p:cNvPr>
          <p:cNvSpPr/>
          <p:nvPr/>
        </p:nvSpPr>
        <p:spPr>
          <a:xfrm>
            <a:off x="4803907" y="468810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7000 mm</a:t>
            </a:r>
          </a:p>
        </p:txBody>
      </p:sp>
      <p:sp>
        <p:nvSpPr>
          <p:cNvPr id="25" name="Rettangolo 24">
            <a:extLst>
              <a:ext uri="{FF2B5EF4-FFF2-40B4-BE49-F238E27FC236}">
                <a16:creationId xmlns:a16="http://schemas.microsoft.com/office/drawing/2014/main" id="{1D37CE1D-F054-4F37-9AEF-760D1F913497}"/>
              </a:ext>
            </a:extLst>
          </p:cNvPr>
          <p:cNvSpPr/>
          <p:nvPr/>
        </p:nvSpPr>
        <p:spPr>
          <a:xfrm>
            <a:off x="8891855" y="468272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8000 mm</a:t>
            </a:r>
          </a:p>
        </p:txBody>
      </p:sp>
      <p:pic>
        <p:nvPicPr>
          <p:cNvPr id="16" name="Elemento grafico 15">
            <a:extLst>
              <a:ext uri="{FF2B5EF4-FFF2-40B4-BE49-F238E27FC236}">
                <a16:creationId xmlns:a16="http://schemas.microsoft.com/office/drawing/2014/main" id="{C46C4A72-5A2F-41B5-B76F-DF8AA5E4AC8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00661" y="5357563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552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27291AB3-2F3B-421C-AFC2-9C9F683B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C276B2D5-496C-48AC-AFEC-C34B6B77F6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848" y="1850776"/>
            <a:ext cx="3326852" cy="2304153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F5DBC134-04E0-441E-92E6-15DEDC174C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8000" y="1866588"/>
            <a:ext cx="3345333" cy="2304152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7CDB366E-0F90-4C8B-830A-C7642696B4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2852" y="1866588"/>
            <a:ext cx="3345333" cy="2310313"/>
          </a:xfrm>
          <a:prstGeom prst="rect">
            <a:avLst/>
          </a:prstGeom>
        </p:spPr>
      </p:pic>
      <p:sp>
        <p:nvSpPr>
          <p:cNvPr id="20" name="Rettangolo 19">
            <a:extLst>
              <a:ext uri="{FF2B5EF4-FFF2-40B4-BE49-F238E27FC236}">
                <a16:creationId xmlns:a16="http://schemas.microsoft.com/office/drawing/2014/main" id="{D8935646-B884-48AB-8C72-46F8D26E3E37}"/>
              </a:ext>
            </a:extLst>
          </p:cNvPr>
          <p:cNvSpPr/>
          <p:nvPr/>
        </p:nvSpPr>
        <p:spPr>
          <a:xfrm>
            <a:off x="701085" y="468272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6000 mm</a:t>
            </a:r>
          </a:p>
        </p:txBody>
      </p:sp>
      <p:sp>
        <p:nvSpPr>
          <p:cNvPr id="22" name="Rettangolo 21">
            <a:extLst>
              <a:ext uri="{FF2B5EF4-FFF2-40B4-BE49-F238E27FC236}">
                <a16:creationId xmlns:a16="http://schemas.microsoft.com/office/drawing/2014/main" id="{C83CD3D3-7365-4DC6-A955-15606532EFC2}"/>
              </a:ext>
            </a:extLst>
          </p:cNvPr>
          <p:cNvSpPr/>
          <p:nvPr/>
        </p:nvSpPr>
        <p:spPr>
          <a:xfrm>
            <a:off x="4803907" y="468810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7000 mm</a:t>
            </a:r>
          </a:p>
        </p:txBody>
      </p:sp>
      <p:sp>
        <p:nvSpPr>
          <p:cNvPr id="23" name="Rettangolo 22">
            <a:extLst>
              <a:ext uri="{FF2B5EF4-FFF2-40B4-BE49-F238E27FC236}">
                <a16:creationId xmlns:a16="http://schemas.microsoft.com/office/drawing/2014/main" id="{EC8985C7-82ED-4079-9099-4B4D64558DFD}"/>
              </a:ext>
            </a:extLst>
          </p:cNvPr>
          <p:cNvSpPr/>
          <p:nvPr/>
        </p:nvSpPr>
        <p:spPr>
          <a:xfrm>
            <a:off x="8891855" y="4682727"/>
            <a:ext cx="2520562" cy="646331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RISULTATO PER UTILIZZO </a:t>
            </a:r>
          </a:p>
          <a:p>
            <a:pPr algn="ctr"/>
            <a:r>
              <a:rPr lang="it-IT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BARRE DA 8000 mm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912CFDD9-3192-4846-80CA-4AAB8F43E72F}"/>
              </a:ext>
            </a:extLst>
          </p:cNvPr>
          <p:cNvSpPr/>
          <p:nvPr/>
        </p:nvSpPr>
        <p:spPr>
          <a:xfrm>
            <a:off x="2133600" y="3733800"/>
            <a:ext cx="640080" cy="16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0" name="Freccia a sinistra 9">
            <a:extLst>
              <a:ext uri="{FF2B5EF4-FFF2-40B4-BE49-F238E27FC236}">
                <a16:creationId xmlns:a16="http://schemas.microsoft.com/office/drawing/2014/main" id="{15415757-CF21-4629-97B2-B6AFACDFE9F1}"/>
              </a:ext>
            </a:extLst>
          </p:cNvPr>
          <p:cNvSpPr/>
          <p:nvPr/>
        </p:nvSpPr>
        <p:spPr>
          <a:xfrm>
            <a:off x="2854326" y="3702049"/>
            <a:ext cx="541654" cy="2381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Rettangolo 23">
            <a:extLst>
              <a:ext uri="{FF2B5EF4-FFF2-40B4-BE49-F238E27FC236}">
                <a16:creationId xmlns:a16="http://schemas.microsoft.com/office/drawing/2014/main" id="{3E4FA373-1B0C-4481-B1C3-BD87CBE99C0F}"/>
              </a:ext>
            </a:extLst>
          </p:cNvPr>
          <p:cNvSpPr/>
          <p:nvPr/>
        </p:nvSpPr>
        <p:spPr>
          <a:xfrm>
            <a:off x="6062346" y="3733800"/>
            <a:ext cx="640080" cy="16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6" name="Freccia a sinistra 25">
            <a:extLst>
              <a:ext uri="{FF2B5EF4-FFF2-40B4-BE49-F238E27FC236}">
                <a16:creationId xmlns:a16="http://schemas.microsoft.com/office/drawing/2014/main" id="{9FCC5E35-3004-420C-880B-6F365011B183}"/>
              </a:ext>
            </a:extLst>
          </p:cNvPr>
          <p:cNvSpPr/>
          <p:nvPr/>
        </p:nvSpPr>
        <p:spPr>
          <a:xfrm>
            <a:off x="6755766" y="3688260"/>
            <a:ext cx="541654" cy="2381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7" name="Rettangolo 26">
            <a:extLst>
              <a:ext uri="{FF2B5EF4-FFF2-40B4-BE49-F238E27FC236}">
                <a16:creationId xmlns:a16="http://schemas.microsoft.com/office/drawing/2014/main" id="{D2A7FFB2-E548-41E4-B331-1ABF4229E7F9}"/>
              </a:ext>
            </a:extLst>
          </p:cNvPr>
          <p:cNvSpPr/>
          <p:nvPr/>
        </p:nvSpPr>
        <p:spPr>
          <a:xfrm>
            <a:off x="9925521" y="3737291"/>
            <a:ext cx="640080" cy="1676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8" name="Freccia a sinistra 27">
            <a:extLst>
              <a:ext uri="{FF2B5EF4-FFF2-40B4-BE49-F238E27FC236}">
                <a16:creationId xmlns:a16="http://schemas.microsoft.com/office/drawing/2014/main" id="{4AF14F24-DAC4-422F-A4E9-EA66168103DF}"/>
              </a:ext>
            </a:extLst>
          </p:cNvPr>
          <p:cNvSpPr/>
          <p:nvPr/>
        </p:nvSpPr>
        <p:spPr>
          <a:xfrm>
            <a:off x="10655705" y="3695155"/>
            <a:ext cx="541654" cy="23812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Elemento grafico 16">
            <a:extLst>
              <a:ext uri="{FF2B5EF4-FFF2-40B4-BE49-F238E27FC236}">
                <a16:creationId xmlns:a16="http://schemas.microsoft.com/office/drawing/2014/main" id="{CB372A28-AF21-4DF1-B45B-AEBBBC9A25F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03435" y="5423479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8431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27291AB3-2F3B-421C-AFC2-9C9F683B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98" y="28589"/>
            <a:ext cx="12192000" cy="6854653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D373438-BF01-4644-BA95-7B28E5F18733}"/>
              </a:ext>
            </a:extLst>
          </p:cNvPr>
          <p:cNvSpPr txBox="1"/>
          <p:nvPr/>
        </p:nvSpPr>
        <p:spPr>
          <a:xfrm>
            <a:off x="110704" y="1640640"/>
            <a:ext cx="3503353" cy="2800767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1"/>
                </a:solidFill>
              </a:rPr>
              <a:t>Formato file lista parti</a:t>
            </a:r>
          </a:p>
          <a:p>
            <a:r>
              <a:rPr lang="it-IT" sz="1600" dirty="0">
                <a:solidFill>
                  <a:schemeClr val="bg1"/>
                </a:solidFill>
              </a:rPr>
              <a:t>Descrizione del «Formato file» di import per la lista parti</a:t>
            </a:r>
          </a:p>
          <a:p>
            <a:endParaRPr lang="it-IT" sz="1600" b="1" dirty="0">
              <a:solidFill>
                <a:schemeClr val="bg1"/>
              </a:solidFill>
            </a:endParaRPr>
          </a:p>
          <a:p>
            <a:r>
              <a:rPr lang="it-IT" sz="1600" dirty="0">
                <a:solidFill>
                  <a:schemeClr val="bg1"/>
                </a:solidFill>
              </a:rPr>
              <a:t>Per inserire in maniera veloce ed ottimale le parti all’interno della «lista parti» possiamo creare un file in formato Excel descrivendo gli attributi delle singole parti.</a:t>
            </a:r>
          </a:p>
          <a:p>
            <a:r>
              <a:rPr lang="it-IT" sz="1600" dirty="0">
                <a:solidFill>
                  <a:schemeClr val="bg1"/>
                </a:solidFill>
              </a:rPr>
              <a:t>Il file può essere salvato con estensione XLS/XLSX/CSV.</a:t>
            </a:r>
          </a:p>
        </p:txBody>
      </p:sp>
      <p:sp>
        <p:nvSpPr>
          <p:cNvPr id="33" name="Rettangolo 32">
            <a:extLst>
              <a:ext uri="{FF2B5EF4-FFF2-40B4-BE49-F238E27FC236}">
                <a16:creationId xmlns:a16="http://schemas.microsoft.com/office/drawing/2014/main" id="{8208214B-73BB-4C3E-8D35-236970E8F920}"/>
              </a:ext>
            </a:extLst>
          </p:cNvPr>
          <p:cNvSpPr/>
          <p:nvPr/>
        </p:nvSpPr>
        <p:spPr>
          <a:xfrm>
            <a:off x="4007660" y="5256000"/>
            <a:ext cx="105843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COMMESSA</a:t>
            </a:r>
          </a:p>
        </p:txBody>
      </p:sp>
      <p:sp>
        <p:nvSpPr>
          <p:cNvPr id="34" name="Rettangolo 33">
            <a:extLst>
              <a:ext uri="{FF2B5EF4-FFF2-40B4-BE49-F238E27FC236}">
                <a16:creationId xmlns:a16="http://schemas.microsoft.com/office/drawing/2014/main" id="{84A5166E-F0BA-4950-AE3D-50D9774A9326}"/>
              </a:ext>
            </a:extLst>
          </p:cNvPr>
          <p:cNvSpPr/>
          <p:nvPr/>
        </p:nvSpPr>
        <p:spPr>
          <a:xfrm>
            <a:off x="5145046" y="5256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FASE</a:t>
            </a:r>
          </a:p>
        </p:txBody>
      </p:sp>
      <p:sp>
        <p:nvSpPr>
          <p:cNvPr id="36" name="Rettangolo 35">
            <a:extLst>
              <a:ext uri="{FF2B5EF4-FFF2-40B4-BE49-F238E27FC236}">
                <a16:creationId xmlns:a16="http://schemas.microsoft.com/office/drawing/2014/main" id="{87AE0D60-3A6A-428D-A0DA-3A432896A661}"/>
              </a:ext>
            </a:extLst>
          </p:cNvPr>
          <p:cNvSpPr/>
          <p:nvPr/>
        </p:nvSpPr>
        <p:spPr>
          <a:xfrm>
            <a:off x="6230021" y="5256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MARCA</a:t>
            </a:r>
          </a:p>
        </p:txBody>
      </p:sp>
      <p:sp>
        <p:nvSpPr>
          <p:cNvPr id="37" name="Rettangolo 36">
            <a:extLst>
              <a:ext uri="{FF2B5EF4-FFF2-40B4-BE49-F238E27FC236}">
                <a16:creationId xmlns:a16="http://schemas.microsoft.com/office/drawing/2014/main" id="{112754AB-A028-4710-9CB6-943FA5A2250B}"/>
              </a:ext>
            </a:extLst>
          </p:cNvPr>
          <p:cNvSpPr/>
          <p:nvPr/>
        </p:nvSpPr>
        <p:spPr>
          <a:xfrm>
            <a:off x="7335573" y="5256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QUANTITA’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841B0001-2B2B-4CEB-B4B7-AF9E1CF9FA3E}"/>
              </a:ext>
            </a:extLst>
          </p:cNvPr>
          <p:cNvSpPr/>
          <p:nvPr/>
        </p:nvSpPr>
        <p:spPr>
          <a:xfrm>
            <a:off x="8456659" y="5256000"/>
            <a:ext cx="1070229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LUNGHEZZA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A1122A3E-5943-4776-B38E-D3D1F967CCEA}"/>
              </a:ext>
            </a:extLst>
          </p:cNvPr>
          <p:cNvSpPr/>
          <p:nvPr/>
        </p:nvSpPr>
        <p:spPr>
          <a:xfrm>
            <a:off x="9664015" y="5256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PROFILO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4B64646A-4975-475F-BA2F-CE2683C79D77}"/>
              </a:ext>
            </a:extLst>
          </p:cNvPr>
          <p:cNvSpPr/>
          <p:nvPr/>
        </p:nvSpPr>
        <p:spPr>
          <a:xfrm>
            <a:off x="10803116" y="5256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MATERIALE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3043BA2D-EA6F-4787-94CC-07842773B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206" y="1640639"/>
            <a:ext cx="8161316" cy="3216593"/>
          </a:xfrm>
          <a:prstGeom prst="rect">
            <a:avLst/>
          </a:prstGeom>
        </p:spPr>
      </p:pic>
      <p:sp>
        <p:nvSpPr>
          <p:cNvPr id="5" name="Freccia in giù 4">
            <a:extLst>
              <a:ext uri="{FF2B5EF4-FFF2-40B4-BE49-F238E27FC236}">
                <a16:creationId xmlns:a16="http://schemas.microsoft.com/office/drawing/2014/main" id="{E7151FF6-E6C3-417D-B88B-8998A972C1A3}"/>
              </a:ext>
            </a:extLst>
          </p:cNvPr>
          <p:cNvSpPr/>
          <p:nvPr/>
        </p:nvSpPr>
        <p:spPr>
          <a:xfrm rot="10800000">
            <a:off x="4426857" y="463986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9" name="Freccia in giù 18">
            <a:extLst>
              <a:ext uri="{FF2B5EF4-FFF2-40B4-BE49-F238E27FC236}">
                <a16:creationId xmlns:a16="http://schemas.microsoft.com/office/drawing/2014/main" id="{EF0DCC9A-6909-4A62-813E-D0F5090F495D}"/>
              </a:ext>
            </a:extLst>
          </p:cNvPr>
          <p:cNvSpPr/>
          <p:nvPr/>
        </p:nvSpPr>
        <p:spPr>
          <a:xfrm rot="10800000">
            <a:off x="5430704" y="4634807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1" name="Freccia in giù 20">
            <a:extLst>
              <a:ext uri="{FF2B5EF4-FFF2-40B4-BE49-F238E27FC236}">
                <a16:creationId xmlns:a16="http://schemas.microsoft.com/office/drawing/2014/main" id="{0CCECEAD-7145-47D9-9A82-49597E216447}"/>
              </a:ext>
            </a:extLst>
          </p:cNvPr>
          <p:cNvSpPr/>
          <p:nvPr/>
        </p:nvSpPr>
        <p:spPr>
          <a:xfrm rot="10800000">
            <a:off x="6598708" y="460184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5" name="Freccia in giù 24">
            <a:extLst>
              <a:ext uri="{FF2B5EF4-FFF2-40B4-BE49-F238E27FC236}">
                <a16:creationId xmlns:a16="http://schemas.microsoft.com/office/drawing/2014/main" id="{86892C87-04AF-4182-BC92-FE70C4EC589B}"/>
              </a:ext>
            </a:extLst>
          </p:cNvPr>
          <p:cNvSpPr/>
          <p:nvPr/>
        </p:nvSpPr>
        <p:spPr>
          <a:xfrm rot="10800000">
            <a:off x="7687223" y="463705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94A5FA9B-EA58-4C94-AE34-FAA5059D542E}"/>
              </a:ext>
            </a:extLst>
          </p:cNvPr>
          <p:cNvSpPr/>
          <p:nvPr/>
        </p:nvSpPr>
        <p:spPr>
          <a:xfrm rot="10800000">
            <a:off x="8830882" y="4619703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1" name="Freccia in giù 30">
            <a:extLst>
              <a:ext uri="{FF2B5EF4-FFF2-40B4-BE49-F238E27FC236}">
                <a16:creationId xmlns:a16="http://schemas.microsoft.com/office/drawing/2014/main" id="{761AFE92-4BA8-42EA-ABDF-A3CA88CD45CD}"/>
              </a:ext>
            </a:extLst>
          </p:cNvPr>
          <p:cNvSpPr/>
          <p:nvPr/>
        </p:nvSpPr>
        <p:spPr>
          <a:xfrm rot="10800000">
            <a:off x="9924068" y="4623477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2" name="Freccia in giù 31">
            <a:extLst>
              <a:ext uri="{FF2B5EF4-FFF2-40B4-BE49-F238E27FC236}">
                <a16:creationId xmlns:a16="http://schemas.microsoft.com/office/drawing/2014/main" id="{9E390EA5-F478-47E8-A4A5-82EF75E04706}"/>
              </a:ext>
            </a:extLst>
          </p:cNvPr>
          <p:cNvSpPr/>
          <p:nvPr/>
        </p:nvSpPr>
        <p:spPr>
          <a:xfrm rot="10800000">
            <a:off x="11067727" y="4634806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8592BB6-52C8-465B-AACC-24F9A3CBE686}"/>
              </a:ext>
            </a:extLst>
          </p:cNvPr>
          <p:cNvSpPr/>
          <p:nvPr/>
        </p:nvSpPr>
        <p:spPr>
          <a:xfrm>
            <a:off x="4114352" y="656425"/>
            <a:ext cx="4077399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FORMATO FILE LISTA PARTI</a:t>
            </a:r>
          </a:p>
        </p:txBody>
      </p:sp>
      <p:pic>
        <p:nvPicPr>
          <p:cNvPr id="20" name="Elemento grafico 19">
            <a:extLst>
              <a:ext uri="{FF2B5EF4-FFF2-40B4-BE49-F238E27FC236}">
                <a16:creationId xmlns:a16="http://schemas.microsoft.com/office/drawing/2014/main" id="{E4E9F60C-79F8-40DE-BF42-89B120202CD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545" y="5409888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4153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Immagine 15">
            <a:extLst>
              <a:ext uri="{FF2B5EF4-FFF2-40B4-BE49-F238E27FC236}">
                <a16:creationId xmlns:a16="http://schemas.microsoft.com/office/drawing/2014/main" id="{27291AB3-2F3B-421C-AFC2-9C9F683B9A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198" y="28589"/>
            <a:ext cx="12192000" cy="6854653"/>
          </a:xfrm>
          <a:prstGeom prst="rect">
            <a:avLst/>
          </a:prstGeom>
        </p:spPr>
      </p:pic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D373438-BF01-4644-BA95-7B28E5F18733}"/>
              </a:ext>
            </a:extLst>
          </p:cNvPr>
          <p:cNvSpPr txBox="1"/>
          <p:nvPr/>
        </p:nvSpPr>
        <p:spPr>
          <a:xfrm>
            <a:off x="110704" y="1640640"/>
            <a:ext cx="3503353" cy="280076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it-IT" sz="1600" b="1" dirty="0"/>
              <a:t>Formato file lista barre</a:t>
            </a:r>
          </a:p>
          <a:p>
            <a:r>
              <a:rPr lang="it-IT" sz="1600" dirty="0"/>
              <a:t>Descrizione del «Formato file» di import per la lista barre</a:t>
            </a:r>
          </a:p>
          <a:p>
            <a:endParaRPr lang="it-IT" sz="1600" b="1" dirty="0"/>
          </a:p>
          <a:p>
            <a:r>
              <a:rPr lang="it-IT" sz="1600" dirty="0"/>
              <a:t>Per inserire in maniera veloce ed ottimale le barre all’interno della «lista barre» possiamo creare un file in formato Excel descrivendo gli attributi delle singole parti.</a:t>
            </a:r>
          </a:p>
          <a:p>
            <a:r>
              <a:rPr lang="it-IT" sz="1600" dirty="0"/>
              <a:t>Il file può essere salvato con estensione XLS/XLSX/CSV.</a:t>
            </a:r>
          </a:p>
        </p:txBody>
      </p:sp>
      <p:sp>
        <p:nvSpPr>
          <p:cNvPr id="38" name="Rettangolo 37">
            <a:extLst>
              <a:ext uri="{FF2B5EF4-FFF2-40B4-BE49-F238E27FC236}">
                <a16:creationId xmlns:a16="http://schemas.microsoft.com/office/drawing/2014/main" id="{841B0001-2B2B-4CEB-B4B7-AF9E1CF9FA3E}"/>
              </a:ext>
            </a:extLst>
          </p:cNvPr>
          <p:cNvSpPr/>
          <p:nvPr/>
        </p:nvSpPr>
        <p:spPr>
          <a:xfrm>
            <a:off x="4336272" y="4500000"/>
            <a:ext cx="1070229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LUNGHEZZA</a:t>
            </a:r>
          </a:p>
        </p:txBody>
      </p:sp>
      <p:sp>
        <p:nvSpPr>
          <p:cNvPr id="39" name="Rettangolo 38">
            <a:extLst>
              <a:ext uri="{FF2B5EF4-FFF2-40B4-BE49-F238E27FC236}">
                <a16:creationId xmlns:a16="http://schemas.microsoft.com/office/drawing/2014/main" id="{A1122A3E-5943-4776-B38E-D3D1F967CCEA}"/>
              </a:ext>
            </a:extLst>
          </p:cNvPr>
          <p:cNvSpPr/>
          <p:nvPr/>
        </p:nvSpPr>
        <p:spPr>
          <a:xfrm>
            <a:off x="5860865" y="4500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PROFILO</a:t>
            </a:r>
          </a:p>
        </p:txBody>
      </p:sp>
      <p:sp>
        <p:nvSpPr>
          <p:cNvPr id="40" name="Rettangolo 39">
            <a:extLst>
              <a:ext uri="{FF2B5EF4-FFF2-40B4-BE49-F238E27FC236}">
                <a16:creationId xmlns:a16="http://schemas.microsoft.com/office/drawing/2014/main" id="{4B64646A-4975-475F-BA2F-CE2683C79D77}"/>
              </a:ext>
            </a:extLst>
          </p:cNvPr>
          <p:cNvSpPr/>
          <p:nvPr/>
        </p:nvSpPr>
        <p:spPr>
          <a:xfrm>
            <a:off x="7385473" y="4500000"/>
            <a:ext cx="1008000" cy="307777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1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MATERIALE</a:t>
            </a:r>
          </a:p>
        </p:txBody>
      </p:sp>
      <p:sp>
        <p:nvSpPr>
          <p:cNvPr id="41" name="Rettangolo 40">
            <a:extLst>
              <a:ext uri="{FF2B5EF4-FFF2-40B4-BE49-F238E27FC236}">
                <a16:creationId xmlns:a16="http://schemas.microsoft.com/office/drawing/2014/main" id="{F8592BB6-52C8-465B-AACC-24F9A3CBE686}"/>
              </a:ext>
            </a:extLst>
          </p:cNvPr>
          <p:cNvSpPr/>
          <p:nvPr/>
        </p:nvSpPr>
        <p:spPr>
          <a:xfrm>
            <a:off x="4043405" y="656425"/>
            <a:ext cx="4219297" cy="523220"/>
          </a:xfrm>
          <a:prstGeom prst="rect">
            <a:avLst/>
          </a:prstGeom>
          <a:solidFill>
            <a:schemeClr val="bg2">
              <a:lumMod val="7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it-IT" sz="28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FORMATO FILE LISTA BARRE</a:t>
            </a: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43369470-485D-4E3C-9956-928DE9472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5542" y="1691586"/>
            <a:ext cx="5791345" cy="2486774"/>
          </a:xfrm>
          <a:prstGeom prst="rect">
            <a:avLst/>
          </a:prstGeom>
        </p:spPr>
      </p:pic>
      <p:sp>
        <p:nvSpPr>
          <p:cNvPr id="30" name="Freccia in giù 29">
            <a:extLst>
              <a:ext uri="{FF2B5EF4-FFF2-40B4-BE49-F238E27FC236}">
                <a16:creationId xmlns:a16="http://schemas.microsoft.com/office/drawing/2014/main" id="{94A5FA9B-EA58-4C94-AE34-FAA5059D542E}"/>
              </a:ext>
            </a:extLst>
          </p:cNvPr>
          <p:cNvSpPr/>
          <p:nvPr/>
        </p:nvSpPr>
        <p:spPr>
          <a:xfrm rot="10800000">
            <a:off x="4711731" y="388382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3" name="Freccia in giù 22">
            <a:extLst>
              <a:ext uri="{FF2B5EF4-FFF2-40B4-BE49-F238E27FC236}">
                <a16:creationId xmlns:a16="http://schemas.microsoft.com/office/drawing/2014/main" id="{F10BF611-7D1C-46A9-B575-DA91623D9AEC}"/>
              </a:ext>
            </a:extLst>
          </p:cNvPr>
          <p:cNvSpPr/>
          <p:nvPr/>
        </p:nvSpPr>
        <p:spPr>
          <a:xfrm rot="10800000">
            <a:off x="6178611" y="388382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4" name="Freccia in giù 23">
            <a:extLst>
              <a:ext uri="{FF2B5EF4-FFF2-40B4-BE49-F238E27FC236}">
                <a16:creationId xmlns:a16="http://schemas.microsoft.com/office/drawing/2014/main" id="{E789FD69-0F09-4601-9024-65015E9B4DAB}"/>
              </a:ext>
            </a:extLst>
          </p:cNvPr>
          <p:cNvSpPr/>
          <p:nvPr/>
        </p:nvSpPr>
        <p:spPr>
          <a:xfrm rot="10800000">
            <a:off x="7687223" y="3883821"/>
            <a:ext cx="319314" cy="50627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2" name="Elemento grafico 11">
            <a:extLst>
              <a:ext uri="{FF2B5EF4-FFF2-40B4-BE49-F238E27FC236}">
                <a16:creationId xmlns:a16="http://schemas.microsoft.com/office/drawing/2014/main" id="{08E94D6E-F03F-4E0A-9805-9FED7FF3A53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704" y="5439532"/>
            <a:ext cx="2246194" cy="44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5208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698</TotalTime>
  <Words>1063</Words>
  <Application>Microsoft Office PowerPoint</Application>
  <PresentationFormat>Widescreen</PresentationFormat>
  <Paragraphs>172</Paragraphs>
  <Slides>20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andrea de luca</dc:creator>
  <cp:lastModifiedBy>andrea de luca</cp:lastModifiedBy>
  <cp:revision>67</cp:revision>
  <dcterms:created xsi:type="dcterms:W3CDTF">2022-12-08T15:42:44Z</dcterms:created>
  <dcterms:modified xsi:type="dcterms:W3CDTF">2022-12-09T17:01:49Z</dcterms:modified>
</cp:coreProperties>
</file>